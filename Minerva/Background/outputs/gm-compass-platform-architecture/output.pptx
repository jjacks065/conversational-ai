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448" r:id="rId5"/>
    <p:sldId id="275" r:id="rId6"/>
    <p:sldId id="257" r:id="rId7"/>
    <p:sldId id="276" r:id="rId8"/>
    <p:sldId id="258" r:id="rId9"/>
    <p:sldId id="262" r:id="rId10"/>
    <p:sldId id="261" r:id="rId11"/>
    <p:sldId id="450" r:id="rId12"/>
    <p:sldId id="260" r:id="rId13"/>
    <p:sldId id="451" r:id="rId14"/>
    <p:sldId id="256" r:id="rId15"/>
    <p:sldId id="449" r:id="rId16"/>
    <p:sldId id="2147483647" r:id="rId17"/>
    <p:sldId id="2147483646" r:id="rId18"/>
    <p:sldId id="45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ED5B19-BB5A-1ACD-8897-6529F526E07E}" name="Dustin Woehrmann" initials="DW" userId="S::dustinw@heyboombox.com::d7d033b8-13bc-4a35-af18-83572a1ed5ff" providerId="AD"/>
  <p188:author id="{A367491D-9548-C016-BE75-875E5678C327}" name="Tom Whitman" initials="TW" userId="S::tomw@heyboombox.com::91716ecb-f031-412f-94ef-115ba8f46b4e" providerId="AD"/>
  <p188:author id="{FA91BF1D-28E6-8136-EE66-DC7B9C7DC79E}" name="Nahdya Weathers" initials="" userId="S::nahdyaw@heyboombox.com::098b27a7-868c-42bc-8278-0db21c2781e6" providerId="AD"/>
  <p188:author id="{D7A1D14C-D4C2-422F-DB8C-3565B1E51F13}" name="Bryce Jones" initials="BJ" userId="S::brycej@heyboombox.com::337a9923-28e9-46fa-8c1e-127e1f1befb2" providerId="AD"/>
  <p188:author id="{4535E053-345D-135C-85D9-457B037B7A0C}" name="Wilken, Sarah" initials="WS" userId="S::swilke02@blueshieldca.com::3d06310a-6f28-4798-baef-183d36f3d743" providerId="AD"/>
  <p188:author id="{6AF50071-901D-F284-CAA5-7F8F4353F0B2}" name="Beau Moss" initials="" userId="S::beaum@heyboombox.com::a7df118c-ebb2-41e1-b6d8-219ce0bde4ff" providerId="AD"/>
  <p188:author id="{586EE97D-9041-B186-1425-CDCFEDF7A089}" name="Thafer Abu Qamir" initials="TQ" userId="S::thafera@heyboombox.com::274dd584-e0fe-4abc-98df-aa777a3c160d" providerId="AD"/>
  <p188:author id="{E20D4EB5-5789-DCF8-4266-4C8374704278}" name="Daniel Meister" initials="DM" userId="S::danielm@heyboombox.com::17de0d6c-dfed-4b30-a970-2f85c271aa1b" providerId="AD"/>
  <p188:author id="{A87E74B9-B59E-6715-1812-8C927B713CEB}" name="Ron Reisman" initials="" userId="S::ronr@heyboombox.com::f9a682d1-bf50-4595-8664-3d083c024a75" providerId="AD"/>
  <p188:author id="{D0AA20BE-8C64-D781-6D57-CBF46623D2B7}" name="Amanda Kaay" initials="" userId="S::amandak@heyboombox.com::e5f8a2ef-052e-4f01-9a43-53e07b879beb" providerId="AD"/>
  <p188:author id="{AB5858D4-192C-167D-9E45-0B14083DF053}" name="Gomes, Richard" initials="GR" userId="S::rgomes02@blueshieldca.com::31b51c8c-1190-461b-b758-628e4c27fe99" providerId="AD"/>
  <p188:author id="{365E7CF7-1B2F-C620-036F-48AED6781132}" name="Brittany Ranson" initials="" userId="S::brittanyr@heyboombox.com::b8294864-d849-4c14-bba5-2aaa666db18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0EE"/>
    <a:srgbClr val="EDEDED"/>
    <a:srgbClr val="08285E"/>
    <a:srgbClr val="436DB3"/>
    <a:srgbClr val="F4454E"/>
    <a:srgbClr val="4071B8"/>
    <a:srgbClr val="F7F3EF"/>
    <a:srgbClr val="1D224B"/>
    <a:srgbClr val="5C1B53"/>
    <a:srgbClr val="D0A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17BD8-F891-0045-B915-D8E574739A60}" v="991" dt="2026-07-30T23:18:29.337"/>
    <p1510:client id="{71EB4A13-6BED-4713-9041-C4E41B6F3249}" v="72" dt="2026-07-30T14:59:33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72"/>
    <p:restoredTop sz="94677"/>
  </p:normalViewPr>
  <p:slideViewPr>
    <p:cSldViewPr snapToGrid="0">
      <p:cViewPr varScale="1">
        <p:scale>
          <a:sx n="210" d="100"/>
          <a:sy n="210" d="100"/>
        </p:scale>
        <p:origin x="1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C89A7A-9D44-EA32-F72B-7DAB3D329D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B36BB-ABC8-24E4-1A56-02E469784A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680DB-D2FF-F94A-B22A-4CC905DA5FE9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A75AB-5231-6C9D-00FB-6CC597FAFB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E1AC7-B814-57F2-3DE4-FFE3981F14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74431-C88C-A94A-B4E0-227363A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81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23B80-D86C-0948-B348-56884A72DEE6}" type="datetimeFigureOut">
              <a:t>7/30/26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551DB-E682-4141-8D1A-D5288F7A73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4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96B3-7445-6134-2CB5-42556309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9C7D0-DE1E-3695-314F-6431D737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16777-96FE-E920-28AE-AA1E4D4F8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37ECC-A1D0-A92B-ECFA-10E077544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551DB-E682-4141-8D1A-D5288F7A730D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81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551DB-E682-4141-8D1A-D5288F7A73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11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6B48-0C51-FA3C-C5EB-6E506DD2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FB106-4C3A-AC8D-2BA3-9B1B32D94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4ABAD-3541-6AD9-2661-644AA7B40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5373F-2791-32DC-8D58-7973329C6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551DB-E682-4141-8D1A-D5288F7A73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04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5DD8B-06A7-4F3F-ABAA-90951D0206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99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DF2874-2594-B772-CCFE-5BAE48264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4023359" cy="68753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E3BC93-9366-E973-1A26-49821E9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282" y="578299"/>
            <a:ext cx="7411286" cy="69513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C483-6E32-B841-03E9-922E5F646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282" y="1763917"/>
            <a:ext cx="7411286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>
                <a:latin typeface="+mn-lt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6B911-166A-4C17-F778-CA7E5634F2ED}"/>
              </a:ext>
            </a:extLst>
          </p:cNvPr>
          <p:cNvSpPr txBox="1"/>
          <p:nvPr userDrawn="1"/>
        </p:nvSpPr>
        <p:spPr>
          <a:xfrm>
            <a:off x="317137" y="630727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Outfit" pitchFamily="2" charset="0"/>
              </a:rPr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Outfit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B1C2CBD-9847-034C-D834-68D378DC71A1}"/>
              </a:ext>
            </a:extLst>
          </p:cNvPr>
          <p:cNvCxnSpPr>
            <a:cxnSpLocks/>
          </p:cNvCxnSpPr>
          <p:nvPr userDrawn="1"/>
        </p:nvCxnSpPr>
        <p:spPr>
          <a:xfrm>
            <a:off x="4491182" y="1319368"/>
            <a:ext cx="454290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3CF04D3D-21C8-AE81-DCBA-1E84B3BC2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40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3"/>
            <a:ext cx="10565435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177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Content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3"/>
            <a:ext cx="10565435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14291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Content No Line">
    <p:bg>
      <p:bgPr>
        <a:solidFill>
          <a:srgbClr val="EDEDED">
            <a:alpha val="5991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3"/>
            <a:ext cx="10565435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87351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asic Content No Line">
    <p:bg>
      <p:bgPr>
        <a:solidFill>
          <a:srgbClr val="BFD0EE">
            <a:alpha val="1960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3"/>
            <a:ext cx="10565435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8773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3453F8-79BF-FB00-598F-C133156CE0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" b="74"/>
          <a:stretch/>
        </p:blipFill>
        <p:spPr>
          <a:xfrm>
            <a:off x="7956645" y="0"/>
            <a:ext cx="4235355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636358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6376276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900"/>
            <a:ext cx="6376277" cy="274040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0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DB886D-42FD-0FDB-F803-5739B3912C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5419" t="14831" r="16400"/>
          <a:stretch>
            <a:fillRect/>
          </a:stretch>
        </p:blipFill>
        <p:spPr>
          <a:xfrm>
            <a:off x="7956645" y="-1"/>
            <a:ext cx="4235355" cy="68579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636358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6376276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900"/>
            <a:ext cx="6376277" cy="274040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1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566EC1-52C4-E961-E337-606F9DA842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414" t="13439" r="20193" b="13439"/>
          <a:stretch>
            <a:fillRect/>
          </a:stretch>
        </p:blipFill>
        <p:spPr>
          <a:xfrm>
            <a:off x="6082937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61CCAC6-1543-15CB-A98D-77ED80B48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4176" y="63574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1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3453F8-79BF-FB00-598F-C133156CE0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1" r="32631"/>
          <a:stretch/>
        </p:blipFill>
        <p:spPr>
          <a:xfrm>
            <a:off x="7956645" y="0"/>
            <a:ext cx="4235355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636358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6376276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900"/>
            <a:ext cx="6376277" cy="274040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3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3453F8-79BF-FB00-598F-C133156CE0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96" r="35066"/>
          <a:stretch>
            <a:fillRect/>
          </a:stretch>
        </p:blipFill>
        <p:spPr>
          <a:xfrm>
            <a:off x="7956645" y="0"/>
            <a:ext cx="4235355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636358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6376276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900"/>
            <a:ext cx="6376277" cy="274040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13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566EC1-52C4-E961-E337-606F9DA84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6" r="24946"/>
          <a:stretch/>
        </p:blipFill>
        <p:spPr>
          <a:xfrm flipH="1">
            <a:off x="6082937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88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566EC1-52C4-E961-E337-606F9DA84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6" r="24946"/>
          <a:stretch/>
        </p:blipFill>
        <p:spPr>
          <a:xfrm flipH="1">
            <a:off x="6082937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91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90D8E5-41D4-BD87-43B5-59F1639CA6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6" r="24946"/>
          <a:stretch/>
        </p:blipFill>
        <p:spPr>
          <a:xfrm>
            <a:off x="6096000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86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90D8E5-41D4-BD87-43B5-59F1639CA6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6" r="24946"/>
          <a:stretch/>
        </p:blipFill>
        <p:spPr>
          <a:xfrm>
            <a:off x="6096000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531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 Corn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6ACA2-2927-1FA3-6322-930C59346227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045535C-7FEE-CB88-593C-ADB25D6B147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5" name="Picture 4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A724FC21-DFC5-5550-BAC8-E6D904E3A2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r="38505"/>
          <a:stretch>
            <a:fillRect/>
          </a:stretch>
        </p:blipFill>
        <p:spPr>
          <a:xfrm>
            <a:off x="7974635" y="-1"/>
            <a:ext cx="4217365" cy="454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8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 Corn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F9D82-BA3F-4097-ABC6-F4FE4D623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B9FE2-903A-33C1-5A1B-68791D468D23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7FE67E28-7EE0-D002-C114-15CE751D4A8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397052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 Cor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F9D82-BA3F-4097-ABC6-F4FE4D623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87DC8A-2F94-DD6D-598A-4865734B8956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A7E04BF-2A4F-1513-5FF8-661877F3C09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014772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tworking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F9D82-BA3F-4097-ABC6-F4FE4D623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B74453-F39E-7416-37EC-9584ACFFDD4D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94E2C1B4-319F-19E3-0F0A-7B4EB946D1F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203856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tworking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F9D82-BA3F-4097-ABC6-F4FE4D623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24AE5C-BD2B-7767-F503-5CE334F1EAD9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7622AD1-504D-B164-9147-68353810E3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863496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ue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2C68E2B-2B6F-4BF1-9A5E-6CEE4D9161D8}"/>
              </a:ext>
            </a:extLst>
          </p:cNvPr>
          <p:cNvGrpSpPr/>
          <p:nvPr userDrawn="1"/>
        </p:nvGrpSpPr>
        <p:grpSpPr>
          <a:xfrm>
            <a:off x="9848461" y="0"/>
            <a:ext cx="2939822" cy="6858000"/>
            <a:chOff x="9848461" y="0"/>
            <a:chExt cx="2939822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BCAD57-609F-89DA-48B4-2B6F4EF653C8}"/>
                </a:ext>
              </a:extLst>
            </p:cNvPr>
            <p:cNvSpPr/>
            <p:nvPr userDrawn="1"/>
          </p:nvSpPr>
          <p:spPr>
            <a:xfrm>
              <a:off x="10387584" y="0"/>
              <a:ext cx="1804416" cy="6858000"/>
            </a:xfrm>
            <a:prstGeom prst="rect">
              <a:avLst/>
            </a:prstGeom>
            <a:solidFill>
              <a:srgbClr val="0828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069F28A-F3B3-C677-11AF-22AE08F6FD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48461" y="97537"/>
              <a:ext cx="2939822" cy="2475528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AA46C2D-6B3F-A07D-61DD-7FDE13A660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1776" y="6205025"/>
              <a:ext cx="1072663" cy="248099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E078D-7790-CB68-B0DD-6F5F219ED93F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7E9771B-5088-92EF-CB85-57473306219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672239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lue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2C68E2B-2B6F-4BF1-9A5E-6CEE4D9161D8}"/>
              </a:ext>
            </a:extLst>
          </p:cNvPr>
          <p:cNvGrpSpPr/>
          <p:nvPr userDrawn="1"/>
        </p:nvGrpSpPr>
        <p:grpSpPr>
          <a:xfrm>
            <a:off x="-542811" y="0"/>
            <a:ext cx="2939822" cy="6858000"/>
            <a:chOff x="9848461" y="0"/>
            <a:chExt cx="2939822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BCAD57-609F-89DA-48B4-2B6F4EF653C8}"/>
                </a:ext>
              </a:extLst>
            </p:cNvPr>
            <p:cNvSpPr/>
            <p:nvPr userDrawn="1"/>
          </p:nvSpPr>
          <p:spPr>
            <a:xfrm>
              <a:off x="10387584" y="0"/>
              <a:ext cx="1804416" cy="6858000"/>
            </a:xfrm>
            <a:prstGeom prst="rect">
              <a:avLst/>
            </a:prstGeom>
            <a:solidFill>
              <a:srgbClr val="0828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069F28A-F3B3-C677-11AF-22AE08F6FD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48461" y="97537"/>
              <a:ext cx="2939822" cy="2475528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AA46C2D-6B3F-A07D-61DD-7FDE13A660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1776" y="6205025"/>
              <a:ext cx="1072663" cy="248099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289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2744025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55126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E078D-7790-CB68-B0DD-6F5F219ED93F}"/>
              </a:ext>
            </a:extLst>
          </p:cNvPr>
          <p:cNvSpPr txBox="1"/>
          <p:nvPr userDrawn="1"/>
        </p:nvSpPr>
        <p:spPr>
          <a:xfrm>
            <a:off x="11416325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pPr algn="r"/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7E9771B-5088-92EF-CB85-57473306219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852205" y="6312899"/>
            <a:ext cx="7564120" cy="276999"/>
          </a:xfrm>
        </p:spPr>
        <p:txBody>
          <a:bodyPr>
            <a:normAutofit/>
          </a:bodyPr>
          <a:lstStyle>
            <a:lvl1pPr algn="r"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79818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89E5B64-3C15-A5A0-DABA-8F1306856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707" y="0"/>
            <a:ext cx="18288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85E57-9DCC-F4FB-F6E5-6DEB9DB2EC5F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4150536-065B-BB43-0477-C255D1BDF3C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DDB55B-5FA6-856A-90E9-B631D8CF1D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01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89E5B64-3C15-A5A0-DABA-8F1306856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FDDB55B-5FA6-856A-90E9-B631D8CF1D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261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66F2087-4235-6EAA-7415-2529DEBA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289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AA1E06-455B-853E-20A4-7F8CE5398DB8}"/>
              </a:ext>
            </a:extLst>
          </p:cNvPr>
          <p:cNvCxnSpPr>
            <a:cxnSpLocks/>
          </p:cNvCxnSpPr>
          <p:nvPr userDrawn="1"/>
        </p:nvCxnSpPr>
        <p:spPr>
          <a:xfrm>
            <a:off x="2744025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BB65B79-0739-C330-CF9F-605A0433FE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55126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852E1E-CC90-A42D-FA39-F1EB57E0F675}"/>
              </a:ext>
            </a:extLst>
          </p:cNvPr>
          <p:cNvSpPr txBox="1"/>
          <p:nvPr userDrawn="1"/>
        </p:nvSpPr>
        <p:spPr>
          <a:xfrm>
            <a:off x="11416325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pPr algn="r"/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22DBE009-B433-A1FA-187A-37B41F594A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852205" y="6312899"/>
            <a:ext cx="7564120" cy="276999"/>
          </a:xfrm>
        </p:spPr>
        <p:txBody>
          <a:bodyPr>
            <a:normAutofit/>
          </a:bodyPr>
          <a:lstStyle>
            <a:lvl1pPr algn="r"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9611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9E5B64-3C15-A5A0-DABA-8F1306856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3707" y="0"/>
            <a:ext cx="18288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85E57-9DCC-F4FB-F6E5-6DEB9DB2EC5F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4150536-065B-BB43-0477-C255D1BDF3C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27E9B4F-E552-A471-2D41-38CE94F52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17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9E5B64-3C15-A5A0-DABA-8F1306856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27E9B4F-E552-A471-2D41-38CE94F52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069" y="6205025"/>
            <a:ext cx="1072663" cy="2480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9975797-B5B4-C31C-DEA7-68B890B5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289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8DABEA-C9FD-18BE-E152-97DB37888945}"/>
              </a:ext>
            </a:extLst>
          </p:cNvPr>
          <p:cNvCxnSpPr>
            <a:cxnSpLocks/>
          </p:cNvCxnSpPr>
          <p:nvPr userDrawn="1"/>
        </p:nvCxnSpPr>
        <p:spPr>
          <a:xfrm>
            <a:off x="2744025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E798EC-95CC-E4F7-C512-27E7076682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55126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665DD0-4EEA-C117-25FA-2C661F8BCC7F}"/>
              </a:ext>
            </a:extLst>
          </p:cNvPr>
          <p:cNvSpPr txBox="1"/>
          <p:nvPr userDrawn="1"/>
        </p:nvSpPr>
        <p:spPr>
          <a:xfrm>
            <a:off x="11416325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pPr algn="r"/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30B5E8-0A4B-8047-35EC-AADB8D38970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852205" y="6312899"/>
            <a:ext cx="7564120" cy="276999"/>
          </a:xfrm>
        </p:spPr>
        <p:txBody>
          <a:bodyPr>
            <a:normAutofit/>
          </a:bodyPr>
          <a:lstStyle>
            <a:lvl1pPr algn="r"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6415912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BCAD57-609F-89DA-48B4-2B6F4EF653C8}"/>
              </a:ext>
            </a:extLst>
          </p:cNvPr>
          <p:cNvSpPr/>
          <p:nvPr userDrawn="1"/>
        </p:nvSpPr>
        <p:spPr>
          <a:xfrm>
            <a:off x="10387584" y="0"/>
            <a:ext cx="1804416" cy="6858000"/>
          </a:xfrm>
          <a:prstGeom prst="rect">
            <a:avLst/>
          </a:prstGeom>
          <a:solidFill>
            <a:srgbClr val="436D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AA46C2D-6B3F-A07D-61DD-7FDE13A660B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3" name="Picture 2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AF842121-E048-D022-79E7-B697491A78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4" t="1" r="62051" b="-5072"/>
          <a:stretch>
            <a:fillRect/>
          </a:stretch>
        </p:blipFill>
        <p:spPr>
          <a:xfrm>
            <a:off x="10387584" y="0"/>
            <a:ext cx="180441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5D5393-9955-F885-DD0C-F25D27461CC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7BF2B05-C91E-7C61-D68D-C246C4C3B7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38581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BCAD57-609F-89DA-48B4-2B6F4EF653C8}"/>
              </a:ext>
            </a:extLst>
          </p:cNvPr>
          <p:cNvSpPr/>
          <p:nvPr userDrawn="1"/>
        </p:nvSpPr>
        <p:spPr>
          <a:xfrm>
            <a:off x="0" y="0"/>
            <a:ext cx="1804416" cy="6858000"/>
          </a:xfrm>
          <a:prstGeom prst="rect">
            <a:avLst/>
          </a:prstGeom>
          <a:solidFill>
            <a:srgbClr val="436D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AA46C2D-6B3F-A07D-61DD-7FDE13A660B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92" y="6205025"/>
            <a:ext cx="1072663" cy="248099"/>
          </a:xfrm>
          <a:prstGeom prst="rect">
            <a:avLst/>
          </a:prstGeom>
        </p:spPr>
      </p:pic>
      <p:pic>
        <p:nvPicPr>
          <p:cNvPr id="3" name="Picture 2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AF842121-E048-D022-79E7-B697491A78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4" t="1" r="62051" b="-5072"/>
          <a:stretch>
            <a:fillRect/>
          </a:stretch>
        </p:blipFill>
        <p:spPr>
          <a:xfrm flipH="1">
            <a:off x="0" y="0"/>
            <a:ext cx="1804416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D1CC603-3375-FC64-4B57-CE7CF66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289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C853E2-E6E8-8EBB-DD3E-535703D613EF}"/>
              </a:ext>
            </a:extLst>
          </p:cNvPr>
          <p:cNvCxnSpPr>
            <a:cxnSpLocks/>
          </p:cNvCxnSpPr>
          <p:nvPr userDrawn="1"/>
        </p:nvCxnSpPr>
        <p:spPr>
          <a:xfrm>
            <a:off x="2744025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8226C3-C83D-0DCC-D975-A994DD7151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55126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99D7C4-0BFC-3DDE-E250-8E7B7BE5A733}"/>
              </a:ext>
            </a:extLst>
          </p:cNvPr>
          <p:cNvSpPr txBox="1"/>
          <p:nvPr userDrawn="1"/>
        </p:nvSpPr>
        <p:spPr>
          <a:xfrm>
            <a:off x="11416325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pPr algn="r"/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DC8874F6-6239-3775-65C3-5DD27E11AB9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852205" y="6312899"/>
            <a:ext cx="7564120" cy="276999"/>
          </a:xfrm>
        </p:spPr>
        <p:txBody>
          <a:bodyPr>
            <a:normAutofit/>
          </a:bodyPr>
          <a:lstStyle>
            <a:lvl1pPr algn="r"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6965486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Content 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F8AB72-7FB4-EAC4-9970-534ABFAEAD30}"/>
              </a:ext>
            </a:extLst>
          </p:cNvPr>
          <p:cNvSpPr/>
          <p:nvPr userDrawn="1"/>
        </p:nvSpPr>
        <p:spPr>
          <a:xfrm>
            <a:off x="0" y="0"/>
            <a:ext cx="3983421" cy="6858000"/>
          </a:xfrm>
          <a:prstGeom prst="rect">
            <a:avLst/>
          </a:prstGeom>
          <a:solidFill>
            <a:srgbClr val="EDEDE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3BC93-9366-E973-1A26-49821E9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615" y="558800"/>
            <a:ext cx="2743200" cy="996934"/>
          </a:xfrm>
        </p:spPr>
        <p:txBody>
          <a:bodyPr anchor="b"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C483-6E32-B841-03E9-922E5F6463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002686"/>
            <a:ext cx="2743200" cy="40323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Font typeface="Courier New" panose="02070309020205020404" pitchFamily="49" charset="0"/>
              <a:buNone/>
              <a:defRPr sz="1400"/>
            </a:lvl2pPr>
            <a:lvl3pPr marL="914400" indent="0">
              <a:buFont typeface="Wingdings" panose="05000000000000000000" pitchFamily="2" charset="2"/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0C05E-55B9-2B5D-016D-3BB89743A0AC}"/>
              </a:ext>
            </a:extLst>
          </p:cNvPr>
          <p:cNvCxnSpPr>
            <a:cxnSpLocks/>
          </p:cNvCxnSpPr>
          <p:nvPr userDrawn="1"/>
        </p:nvCxnSpPr>
        <p:spPr>
          <a:xfrm>
            <a:off x="927100" y="1677653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3AA2C94-8109-F15A-2499-F99C34898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0905" y="6203300"/>
            <a:ext cx="1072663" cy="248099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DB1A842-B6E1-4080-4BBD-37D0018180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724400" y="558800"/>
            <a:ext cx="6629400" cy="53763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Font typeface="Courier New" panose="02070309020205020404" pitchFamily="49" charset="0"/>
              <a:buNone/>
              <a:defRPr sz="1400"/>
            </a:lvl2pPr>
            <a:lvl3pPr marL="914400" indent="0">
              <a:buFont typeface="Wingdings" panose="05000000000000000000" pitchFamily="2" charset="2"/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2D3E-C993-9BA6-270F-DE56D3F19838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DA7F8B-C9BB-CDF5-5269-836E6EB5A96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7642868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4D82031-629D-DA3B-EBB0-8F9A15CEB7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168641" y="1"/>
            <a:ext cx="4023359" cy="68753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F211DDF-96D8-CC4B-2CD2-B2CC4585A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7564120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240A2E-07D5-B0DE-AC3F-B964C8682679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0934F-1FEB-4CE6-948C-DF4BD7C22F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7564120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7051F56-3734-88D7-763B-B8737958F8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0905" y="6203300"/>
            <a:ext cx="1072663" cy="2480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FD5D67-D5BD-4F36-F4C1-2148732EB80D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50AD552-333E-5856-4765-599C3EB1679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7581808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FF90159-22DB-1ED2-A0CE-590E4AF06B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0905" y="6203300"/>
            <a:ext cx="1072663" cy="2480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2A737BC-A284-2DAE-5668-74304635DF9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6604656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white dots and lines&#10;&#10;AI-generated content may be incorrect.">
            <a:extLst>
              <a:ext uri="{FF2B5EF4-FFF2-40B4-BE49-F238E27FC236}">
                <a16:creationId xmlns:a16="http://schemas.microsoft.com/office/drawing/2014/main" id="{509B54E5-9200-DD84-9F92-8DFCC4F40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A3353F5C-BAB9-75D4-BF33-92DA2D342D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07" y="959760"/>
            <a:ext cx="2402627" cy="55676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3806A5A-53DA-3D1C-798A-CB39A9EC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643" y="1971884"/>
            <a:ext cx="5998236" cy="3568508"/>
          </a:xfrm>
        </p:spPr>
        <p:txBody>
          <a:bodyPr anchor="b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B56DD6-DCE9-67C5-42C3-AA078268FF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48763" y="4050884"/>
            <a:ext cx="3775593" cy="1961795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BFD0EE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5233AF-E9D4-6D22-EA58-0D865E1EB159}"/>
              </a:ext>
            </a:extLst>
          </p:cNvPr>
          <p:cNvCxnSpPr>
            <a:cxnSpLocks/>
          </p:cNvCxnSpPr>
          <p:nvPr userDrawn="1"/>
        </p:nvCxnSpPr>
        <p:spPr>
          <a:xfrm>
            <a:off x="1127659" y="5898239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4341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9B54E5-9200-DD84-9F92-8DFCC4F40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A3353F5C-BAB9-75D4-BF33-92DA2D342D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07" y="959760"/>
            <a:ext cx="2402627" cy="55676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3806A5A-53DA-3D1C-798A-CB39A9EC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643" y="1971884"/>
            <a:ext cx="5998236" cy="3568508"/>
          </a:xfrm>
        </p:spPr>
        <p:txBody>
          <a:bodyPr anchor="b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B56DD6-DCE9-67C5-42C3-AA078268FF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48763" y="4050884"/>
            <a:ext cx="3775593" cy="1961795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BFD0EE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5233AF-E9D4-6D22-EA58-0D865E1EB159}"/>
              </a:ext>
            </a:extLst>
          </p:cNvPr>
          <p:cNvCxnSpPr>
            <a:cxnSpLocks/>
          </p:cNvCxnSpPr>
          <p:nvPr userDrawn="1"/>
        </p:nvCxnSpPr>
        <p:spPr>
          <a:xfrm>
            <a:off x="1127659" y="5898239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8328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9B54E5-9200-DD84-9F92-8DFCC4F40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01FEDE65-2598-AA1F-E031-44C4B34F42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07" y="959760"/>
            <a:ext cx="2402627" cy="55676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AA48626-36FE-8637-4464-08AF2E1C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643" y="1971884"/>
            <a:ext cx="4808124" cy="3568508"/>
          </a:xfrm>
        </p:spPr>
        <p:txBody>
          <a:bodyPr anchor="b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755EEBB-674D-FFBA-D962-8344D851B0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48763" y="4050884"/>
            <a:ext cx="3775593" cy="1961795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436DB3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E567E0-005C-8C97-6C9B-E2E0CD8D8ACB}"/>
              </a:ext>
            </a:extLst>
          </p:cNvPr>
          <p:cNvCxnSpPr>
            <a:cxnSpLocks/>
          </p:cNvCxnSpPr>
          <p:nvPr userDrawn="1"/>
        </p:nvCxnSpPr>
        <p:spPr>
          <a:xfrm>
            <a:off x="1127659" y="5898239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647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9B54E5-9200-DD84-9F92-8DFCC4F40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1C1ED39-42BF-D91B-35E1-315E672F7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507" y="957810"/>
            <a:ext cx="2407198" cy="5567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AA48626-36FE-8637-4464-08AF2E1C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643" y="1971884"/>
            <a:ext cx="4796549" cy="3568508"/>
          </a:xfrm>
        </p:spPr>
        <p:txBody>
          <a:bodyPr anchor="b">
            <a:noAutofit/>
          </a:bodyPr>
          <a:lstStyle>
            <a:lvl1pPr>
              <a:defRPr sz="4400" b="1" i="0">
                <a:solidFill>
                  <a:schemeClr val="tx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755EEBB-674D-FFBA-D962-8344D851B0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48763" y="4050884"/>
            <a:ext cx="3775593" cy="1961795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BFD0EE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E567E0-005C-8C97-6C9B-E2E0CD8D8ACB}"/>
              </a:ext>
            </a:extLst>
          </p:cNvPr>
          <p:cNvCxnSpPr>
            <a:cxnSpLocks/>
          </p:cNvCxnSpPr>
          <p:nvPr userDrawn="1"/>
        </p:nvCxnSpPr>
        <p:spPr>
          <a:xfrm>
            <a:off x="1127659" y="5898239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833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DECBBA-5282-D56C-32AA-2FFBBE4346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523FB-414C-F540-8532-23DA91EE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4" y="4081112"/>
            <a:ext cx="6045835" cy="1837088"/>
          </a:xfr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FA6934DC-774F-A61C-77F3-BBBC071A4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0904" y="6202828"/>
            <a:ext cx="1072663" cy="24857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C50C24-F9F0-9B0E-B799-137CBAED7956}"/>
              </a:ext>
            </a:extLst>
          </p:cNvPr>
          <p:cNvCxnSpPr>
            <a:cxnSpLocks/>
          </p:cNvCxnSpPr>
          <p:nvPr userDrawn="1"/>
        </p:nvCxnSpPr>
        <p:spPr>
          <a:xfrm>
            <a:off x="819434" y="5949609"/>
            <a:ext cx="875802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3326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13FEF3-BFE5-20BF-FC79-CF78E0C75B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109" y="-7937"/>
            <a:ext cx="12220218" cy="68738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523FB-414C-F540-8532-23DA91EE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119613"/>
            <a:ext cx="6257592" cy="1798587"/>
          </a:xfr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FA6934DC-774F-A61C-77F3-BBBC071A4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0904" y="6202828"/>
            <a:ext cx="1072663" cy="24857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9BFD577-4FC4-26D3-76CB-F8DEB2239C56}"/>
              </a:ext>
            </a:extLst>
          </p:cNvPr>
          <p:cNvCxnSpPr>
            <a:cxnSpLocks/>
          </p:cNvCxnSpPr>
          <p:nvPr userDrawn="1"/>
        </p:nvCxnSpPr>
        <p:spPr>
          <a:xfrm>
            <a:off x="819434" y="5949609"/>
            <a:ext cx="875802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0828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13FEF3-BFE5-20BF-FC79-CF78E0C75B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-15875"/>
            <a:ext cx="12220216" cy="68738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523FB-414C-F540-8532-23DA91EE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4" y="3994484"/>
            <a:ext cx="6996811" cy="1923716"/>
          </a:xfr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FA6934DC-774F-A61C-77F3-BBBC071A4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0904" y="6202828"/>
            <a:ext cx="1072663" cy="24857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5D67D9-48D5-F2B3-731A-A05F3BB99474}"/>
              </a:ext>
            </a:extLst>
          </p:cNvPr>
          <p:cNvCxnSpPr>
            <a:cxnSpLocks/>
          </p:cNvCxnSpPr>
          <p:nvPr userDrawn="1"/>
        </p:nvCxnSpPr>
        <p:spPr>
          <a:xfrm>
            <a:off x="819434" y="5949609"/>
            <a:ext cx="875802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6587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13FEF3-BFE5-20BF-FC79-CF78E0C75B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8216" y="-15872"/>
            <a:ext cx="12220216" cy="68738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523FB-414C-F540-8532-23DA91EE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3673098"/>
            <a:ext cx="5901456" cy="2245102"/>
          </a:xfr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0C0EB8-AE49-D414-09F5-A93E3C6D29EE}"/>
              </a:ext>
            </a:extLst>
          </p:cNvPr>
          <p:cNvCxnSpPr>
            <a:cxnSpLocks/>
          </p:cNvCxnSpPr>
          <p:nvPr userDrawn="1"/>
        </p:nvCxnSpPr>
        <p:spPr>
          <a:xfrm>
            <a:off x="819434" y="5949609"/>
            <a:ext cx="875802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E3522BC8-D12F-342B-E748-C719304829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0904" y="6202828"/>
            <a:ext cx="1072663" cy="24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810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8DAD0-9AD7-77F7-117B-CD40D6CF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1CD63-FCA3-FFED-8634-70EC100C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2EF74-A198-89C4-51FE-E8664A12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019FEA47-86A4-9EA1-9D96-913F241A38B8}"/>
              </a:ext>
            </a:extLst>
          </p:cNvPr>
          <p:cNvSpPr/>
          <p:nvPr userDrawn="1"/>
        </p:nvSpPr>
        <p:spPr>
          <a:xfrm flipH="1">
            <a:off x="0" y="0"/>
            <a:ext cx="823320" cy="6858000"/>
          </a:xfrm>
          <a:custGeom>
            <a:avLst/>
            <a:gdLst/>
            <a:ahLst/>
            <a:cxnLst/>
            <a:rect l="l" t="t" r="r" b="b"/>
            <a:pathLst>
              <a:path w="9016365" h="7772400">
                <a:moveTo>
                  <a:pt x="9015984" y="0"/>
                </a:moveTo>
                <a:lnTo>
                  <a:pt x="0" y="0"/>
                </a:lnTo>
                <a:lnTo>
                  <a:pt x="0" y="7772400"/>
                </a:lnTo>
                <a:lnTo>
                  <a:pt x="9015984" y="7772400"/>
                </a:lnTo>
                <a:lnTo>
                  <a:pt x="9015984" y="0"/>
                </a:lnTo>
                <a:close/>
              </a:path>
            </a:pathLst>
          </a:custGeom>
          <a:solidFill>
            <a:srgbClr val="F8F8F7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67EFFB61-3877-65DF-7018-C2F51236F499}"/>
              </a:ext>
            </a:extLst>
          </p:cNvPr>
          <p:cNvSpPr txBox="1"/>
          <p:nvPr userDrawn="1"/>
        </p:nvSpPr>
        <p:spPr>
          <a:xfrm>
            <a:off x="323973" y="2305285"/>
            <a:ext cx="184666" cy="2272145"/>
          </a:xfrm>
          <a:prstGeom prst="rect">
            <a:avLst/>
          </a:prstGeom>
        </p:spPr>
        <p:txBody>
          <a:bodyPr vert="vert270" wrap="square" lIns="0" tIns="18473" rIns="0" bIns="0" rtlCol="0">
            <a:spAutoFit/>
          </a:bodyPr>
          <a:lstStyle/>
          <a:p>
            <a:pPr marL="15394" marR="0" lvl="0" indent="0" algn="ctr" defTabSz="914400" eaLnBrk="1" fontAlgn="auto" latinLnBrk="0" hangingPunct="1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103" normalizeH="0" baseline="0" noProof="0">
                <a:ln>
                  <a:noFill/>
                </a:ln>
                <a:solidFill>
                  <a:srgbClr val="7F908D"/>
                </a:solidFill>
                <a:effectLst/>
                <a:uLnTx/>
                <a:uFillTx/>
                <a:latin typeface="Urbane Thin" pitchFamily="2" charset="77"/>
                <a:cs typeface="Urbane Medium"/>
              </a:rPr>
              <a:t>Stellarus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rbane Thin" pitchFamily="2" charset="77"/>
              <a:cs typeface="Urbane Medium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1E0719-42D4-80C5-B0DB-2FE3B99A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74319"/>
            <a:ext cx="10515600" cy="914400"/>
          </a:xfrm>
        </p:spPr>
        <p:txBody>
          <a:bodyPr anchor="t">
            <a:normAutofit/>
          </a:bodyPr>
          <a:lstStyle>
            <a:lvl1pPr>
              <a:defRPr sz="2800" b="0" i="0">
                <a:latin typeface="Urbane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2C5B19B-3FE8-4F32-95FB-97CC8B1C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265351"/>
            <a:ext cx="10515600" cy="4830649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45AC004-7EDB-5127-DB6F-98F1F9D5085A}"/>
              </a:ext>
            </a:extLst>
          </p:cNvPr>
          <p:cNvSpPr txBox="1">
            <a:spLocks/>
          </p:cNvSpPr>
          <p:nvPr userDrawn="1"/>
        </p:nvSpPr>
        <p:spPr>
          <a:xfrm>
            <a:off x="195904" y="6276377"/>
            <a:ext cx="440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50" b="0" i="0" kern="1200">
                <a:solidFill>
                  <a:schemeClr val="tx1">
                    <a:tint val="82000"/>
                  </a:schemeClr>
                </a:solidFill>
                <a:latin typeface="Urbane Medium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3EE9CB7D-C65F-FF8A-E070-E423DFD035F8}"/>
              </a:ext>
            </a:extLst>
          </p:cNvPr>
          <p:cNvSpPr/>
          <p:nvPr userDrawn="1"/>
        </p:nvSpPr>
        <p:spPr>
          <a:xfrm>
            <a:off x="825" y="205612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505460" h="504825">
                <a:moveTo>
                  <a:pt x="295198" y="0"/>
                </a:moveTo>
                <a:lnTo>
                  <a:pt x="286753" y="0"/>
                </a:lnTo>
                <a:lnTo>
                  <a:pt x="283260" y="3314"/>
                </a:lnTo>
                <a:lnTo>
                  <a:pt x="274129" y="174256"/>
                </a:lnTo>
                <a:lnTo>
                  <a:pt x="186867" y="99555"/>
                </a:lnTo>
                <a:lnTo>
                  <a:pt x="182168" y="99720"/>
                </a:lnTo>
                <a:lnTo>
                  <a:pt x="176288" y="105613"/>
                </a:lnTo>
                <a:lnTo>
                  <a:pt x="176098" y="110324"/>
                </a:lnTo>
                <a:lnTo>
                  <a:pt x="250812" y="197586"/>
                </a:lnTo>
                <a:lnTo>
                  <a:pt x="79844" y="206717"/>
                </a:lnTo>
                <a:lnTo>
                  <a:pt x="76542" y="210210"/>
                </a:lnTo>
                <a:lnTo>
                  <a:pt x="76542" y="218668"/>
                </a:lnTo>
                <a:lnTo>
                  <a:pt x="79844" y="222148"/>
                </a:lnTo>
                <a:lnTo>
                  <a:pt x="249707" y="231254"/>
                </a:lnTo>
                <a:lnTo>
                  <a:pt x="0" y="494334"/>
                </a:lnTo>
                <a:lnTo>
                  <a:pt x="50" y="499262"/>
                </a:lnTo>
                <a:lnTo>
                  <a:pt x="4660" y="503859"/>
                </a:lnTo>
                <a:lnTo>
                  <a:pt x="6705" y="504634"/>
                </a:lnTo>
                <a:lnTo>
                  <a:pt x="10706" y="504634"/>
                </a:lnTo>
                <a:lnTo>
                  <a:pt x="12674" y="503910"/>
                </a:lnTo>
                <a:lnTo>
                  <a:pt x="291668" y="239242"/>
                </a:lnTo>
                <a:lnTo>
                  <a:pt x="395033" y="329323"/>
                </a:lnTo>
                <a:lnTo>
                  <a:pt x="399745" y="329145"/>
                </a:lnTo>
                <a:lnTo>
                  <a:pt x="405688" y="323291"/>
                </a:lnTo>
                <a:lnTo>
                  <a:pt x="405892" y="318579"/>
                </a:lnTo>
                <a:lnTo>
                  <a:pt x="331165" y="231305"/>
                </a:lnTo>
                <a:lnTo>
                  <a:pt x="502107" y="222148"/>
                </a:lnTo>
                <a:lnTo>
                  <a:pt x="505421" y="218668"/>
                </a:lnTo>
                <a:lnTo>
                  <a:pt x="505421" y="210210"/>
                </a:lnTo>
                <a:lnTo>
                  <a:pt x="502107" y="206717"/>
                </a:lnTo>
                <a:lnTo>
                  <a:pt x="497878" y="206489"/>
                </a:lnTo>
                <a:lnTo>
                  <a:pt x="331165" y="197586"/>
                </a:lnTo>
                <a:lnTo>
                  <a:pt x="405879" y="110324"/>
                </a:lnTo>
                <a:lnTo>
                  <a:pt x="405688" y="105613"/>
                </a:lnTo>
                <a:lnTo>
                  <a:pt x="399796" y="99733"/>
                </a:lnTo>
                <a:lnTo>
                  <a:pt x="395097" y="99555"/>
                </a:lnTo>
                <a:lnTo>
                  <a:pt x="307860" y="174269"/>
                </a:lnTo>
                <a:lnTo>
                  <a:pt x="298704" y="3314"/>
                </a:lnTo>
                <a:lnTo>
                  <a:pt x="295198" y="0"/>
                </a:lnTo>
                <a:close/>
              </a:path>
            </a:pathLst>
          </a:custGeom>
          <a:solidFill>
            <a:srgbClr val="EF46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943143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FAFB-27AD-4EC6-B18C-3A20B328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15DA24-B5ED-4A5A-B712-6371F076F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F0BB2B-A04D-4CFE-A72F-29B51F99AAF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9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A53F70-9551-D48A-BCD0-C1CA04A316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solidFill>
            <a:srgbClr val="00327A"/>
          </a:solidFill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6FFA1-84AA-7B24-CC3B-65BE5A324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779" y="2152891"/>
            <a:ext cx="8483600" cy="786295"/>
          </a:xfrm>
        </p:spPr>
        <p:txBody>
          <a:bodyPr>
            <a:norm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Urbane Medium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Urbane Medium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Urbane Medium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Urbane Medium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Urbane Medium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6510-C223-532E-3122-9CCF34182E2D}"/>
              </a:ext>
            </a:extLst>
          </p:cNvPr>
          <p:cNvCxnSpPr>
            <a:cxnSpLocks/>
          </p:cNvCxnSpPr>
          <p:nvPr userDrawn="1"/>
        </p:nvCxnSpPr>
        <p:spPr>
          <a:xfrm>
            <a:off x="787079" y="3058534"/>
            <a:ext cx="567159" cy="0"/>
          </a:xfrm>
          <a:prstGeom prst="line">
            <a:avLst/>
          </a:prstGeom>
          <a:ln w="2540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D7CFD0-55B5-A424-909A-AF4A577024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8779" y="3429000"/>
            <a:ext cx="8483600" cy="204470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Urbane Thin" pitchFamily="2" charset="77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Urbane Thin" pitchFamily="2" charset="77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Urbane Thin" pitchFamily="2" charset="77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Urbane Thin" pitchFamily="2" charset="77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Urbane Thin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902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EF6CEC-FE63-2B52-B707-3AA92AFA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4DCC9-157F-65C8-5C37-77D12A79E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6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2" r:id="rId2"/>
    <p:sldLayoutId id="2147483735" r:id="rId3"/>
    <p:sldLayoutId id="2147483736" r:id="rId4"/>
    <p:sldLayoutId id="2147483737" r:id="rId5"/>
    <p:sldLayoutId id="2147483719" r:id="rId6"/>
    <p:sldLayoutId id="2147483720" r:id="rId7"/>
    <p:sldLayoutId id="2147483721" r:id="rId8"/>
    <p:sldLayoutId id="2147483727" r:id="rId9"/>
    <p:sldLayoutId id="2147483728" r:id="rId10"/>
    <p:sldLayoutId id="2147483729" r:id="rId11"/>
    <p:sldLayoutId id="2147483738" r:id="rId12"/>
    <p:sldLayoutId id="2147483730" r:id="rId13"/>
    <p:sldLayoutId id="2147483739" r:id="rId14"/>
    <p:sldLayoutId id="2147483709" r:id="rId15"/>
    <p:sldLayoutId id="2147483713" r:id="rId16"/>
    <p:sldLayoutId id="2147483714" r:id="rId17"/>
    <p:sldLayoutId id="2147483718" r:id="rId18"/>
    <p:sldLayoutId id="2147483715" r:id="rId19"/>
    <p:sldLayoutId id="2147483683" r:id="rId20"/>
    <p:sldLayoutId id="2147483731" r:id="rId21"/>
    <p:sldLayoutId id="2147483716" r:id="rId22"/>
    <p:sldLayoutId id="2147483732" r:id="rId23"/>
    <p:sldLayoutId id="2147483726" r:id="rId24"/>
    <p:sldLayoutId id="2147483733" r:id="rId25"/>
    <p:sldLayoutId id="2147483717" r:id="rId26"/>
    <p:sldLayoutId id="2147483734" r:id="rId27"/>
    <p:sldLayoutId id="2147483658" r:id="rId28"/>
    <p:sldLayoutId id="2147483708" r:id="rId29"/>
    <p:sldLayoutId id="2147483655" r:id="rId30"/>
    <p:sldLayoutId id="2147483722" r:id="rId31"/>
    <p:sldLayoutId id="2147483724" r:id="rId32"/>
    <p:sldLayoutId id="2147483723" r:id="rId33"/>
    <p:sldLayoutId id="2147483725" r:id="rId34"/>
    <p:sldLayoutId id="2147483665" r:id="rId35"/>
    <p:sldLayoutId id="2147483651" r:id="rId36"/>
    <p:sldLayoutId id="2147483669" r:id="rId37"/>
    <p:sldLayoutId id="2147483670" r:id="rId38"/>
    <p:sldLayoutId id="2147483741" r:id="rId39"/>
    <p:sldLayoutId id="2147483743" r:id="rId40"/>
    <p:sldLayoutId id="2147483744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/>
          </a:solidFill>
          <a:latin typeface="+mj-lt"/>
          <a:ea typeface="Geist" pitchFamily="2" charset="77"/>
          <a:cs typeface="Geist" pitchFamily="2" charset="77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601FB-86E5-F6CC-0742-100A5337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7AEBE5-642D-F0F8-672C-43E9CFA1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187" y="1280767"/>
            <a:ext cx="6481120" cy="3568508"/>
          </a:xfrm>
        </p:spPr>
        <p:txBody>
          <a:bodyPr/>
          <a:lstStyle/>
          <a:p>
            <a:r>
              <a:rPr lang="en-US"/>
              <a:t>Compass Conversational AI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EB6044-27AA-5D47-E3E5-17D5106BF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August 1, 2025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3125F434-91E1-7B01-E678-B5973C46A96E}"/>
              </a:ext>
            </a:extLst>
          </p:cNvPr>
          <p:cNvSpPr/>
          <p:nvPr/>
        </p:nvSpPr>
        <p:spPr>
          <a:xfrm>
            <a:off x="1198526" y="4849275"/>
            <a:ext cx="7717790" cy="7517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351"/>
              </a:lnSpc>
            </a:pPr>
            <a:r>
              <a:rPr lang="en-US" sz="2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Transforming member experience through AI-powered conversations across voice, chat, and agent assist.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70723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17A07-7CE1-4377-DD52-A31B0825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355106-4078-576B-6A20-61282EDE935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0DA4574-6E9A-D51B-EF13-D93BF289C7A6}"/>
              </a:ext>
            </a:extLst>
          </p:cNvPr>
          <p:cNvSpPr txBox="1">
            <a:spLocks/>
          </p:cNvSpPr>
          <p:nvPr/>
        </p:nvSpPr>
        <p:spPr>
          <a:xfrm>
            <a:off x="7008903" y="1222148"/>
            <a:ext cx="5001412" cy="4289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9BBBE-B17E-25D0-EB97-10D2EFEEFD95}"/>
              </a:ext>
            </a:extLst>
          </p:cNvPr>
          <p:cNvSpPr txBox="1">
            <a:spLocks/>
          </p:cNvSpPr>
          <p:nvPr/>
        </p:nvSpPr>
        <p:spPr>
          <a:xfrm>
            <a:off x="788364" y="690186"/>
            <a:ext cx="10565435" cy="543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 kern="0" spc="-75"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The challenge: Rising expectations, constrained resources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B2CA3183-B193-F464-F4EC-6DB9EE0D39F3}"/>
              </a:ext>
            </a:extLst>
          </p:cNvPr>
          <p:cNvSpPr txBox="1">
            <a:spLocks/>
          </p:cNvSpPr>
          <p:nvPr/>
        </p:nvSpPr>
        <p:spPr>
          <a:xfrm>
            <a:off x="7008903" y="1222148"/>
            <a:ext cx="5001412" cy="4289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0B54226-2722-F236-A2B3-CD48C01A6C9E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8182"/>
              </a:lnSpc>
            </a:pPr>
            <a:r>
              <a:rPr lang="en-US" sz="1600">
                <a:solidFill>
                  <a:srgbClr val="1D224B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Payers are being asked to do more with fewer resources without giving up the experience members take for granted.</a:t>
            </a:r>
            <a:endParaRPr lang="en-US" sz="160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9CB5F1D-A284-2958-C7B5-1CEC122E35BB}"/>
              </a:ext>
            </a:extLst>
          </p:cNvPr>
          <p:cNvSpPr/>
          <p:nvPr/>
        </p:nvSpPr>
        <p:spPr>
          <a:xfrm>
            <a:off x="892180" y="1782120"/>
            <a:ext cx="5359400" cy="3982322"/>
          </a:xfrm>
          <a:prstGeom prst="roundRect">
            <a:avLst>
              <a:gd name="adj" fmla="val 184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F0A1175-8DC0-574F-9471-2A99F6634561}"/>
              </a:ext>
            </a:extLst>
          </p:cNvPr>
          <p:cNvSpPr/>
          <p:nvPr/>
        </p:nvSpPr>
        <p:spPr>
          <a:xfrm>
            <a:off x="1196980" y="2086920"/>
            <a:ext cx="5224780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members expect</a:t>
            </a:r>
            <a:endParaRPr 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FFB43998-6868-671E-0DA6-3C48CB31B354}"/>
              </a:ext>
            </a:extLst>
          </p:cNvPr>
          <p:cNvSpPr/>
          <p:nvPr/>
        </p:nvSpPr>
        <p:spPr>
          <a:xfrm>
            <a:off x="1196980" y="2516141"/>
            <a:ext cx="406400" cy="19050"/>
          </a:xfrm>
          <a:prstGeom prst="rect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62A4B2D5-7AEA-1B01-2CD7-871A0A490422}"/>
              </a:ext>
            </a:extLst>
          </p:cNvPr>
          <p:cNvSpPr/>
          <p:nvPr/>
        </p:nvSpPr>
        <p:spPr>
          <a:xfrm>
            <a:off x="1196980" y="279554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264F754B-7363-56E6-C210-BEE46C0A0C39}"/>
              </a:ext>
            </a:extLst>
          </p:cNvPr>
          <p:cNvSpPr/>
          <p:nvPr/>
        </p:nvSpPr>
        <p:spPr>
          <a:xfrm>
            <a:off x="1387480" y="2712991"/>
            <a:ext cx="2178010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Immediate responses</a:t>
            </a:r>
            <a:endParaRPr lang="en-US" sz="160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6CF08AAE-D280-00FB-5D7C-5DBCC20603C1}"/>
              </a:ext>
            </a:extLst>
          </p:cNvPr>
          <p:cNvSpPr/>
          <p:nvPr/>
        </p:nvSpPr>
        <p:spPr>
          <a:xfrm>
            <a:off x="1196980" y="323746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A778FDFB-57FA-3669-3D84-B2A29E38D4A9}"/>
              </a:ext>
            </a:extLst>
          </p:cNvPr>
          <p:cNvSpPr/>
          <p:nvPr/>
        </p:nvSpPr>
        <p:spPr>
          <a:xfrm>
            <a:off x="1387480" y="3154911"/>
            <a:ext cx="2564477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Personalized interactions</a:t>
            </a:r>
            <a:endParaRPr lang="en-US" sz="160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5DBB50A2-CDED-DF98-A844-F0696AC4B200}"/>
              </a:ext>
            </a:extLst>
          </p:cNvPr>
          <p:cNvSpPr/>
          <p:nvPr/>
        </p:nvSpPr>
        <p:spPr>
          <a:xfrm>
            <a:off x="1196980" y="367938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DD00F0FD-C296-AA68-ED4C-025EFC117AD1}"/>
              </a:ext>
            </a:extLst>
          </p:cNvPr>
          <p:cNvSpPr/>
          <p:nvPr/>
        </p:nvSpPr>
        <p:spPr>
          <a:xfrm>
            <a:off x="1387480" y="3596831"/>
            <a:ext cx="3040767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Consistency on every channel</a:t>
            </a:r>
            <a:endParaRPr lang="en-US" sz="160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CF7EB958-7A73-E360-8CDA-E425057CAF28}"/>
              </a:ext>
            </a:extLst>
          </p:cNvPr>
          <p:cNvSpPr/>
          <p:nvPr/>
        </p:nvSpPr>
        <p:spPr>
          <a:xfrm>
            <a:off x="1196980" y="412130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543AA254-8CE2-3693-F71E-2C807A6364F6}"/>
              </a:ext>
            </a:extLst>
          </p:cNvPr>
          <p:cNvSpPr/>
          <p:nvPr/>
        </p:nvSpPr>
        <p:spPr>
          <a:xfrm>
            <a:off x="1387480" y="4038751"/>
            <a:ext cx="3496101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Service available around the clock</a:t>
            </a:r>
            <a:endParaRPr lang="en-US" sz="160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20283285-0C4F-D46C-51BB-0F2B98557A06}"/>
              </a:ext>
            </a:extLst>
          </p:cNvPr>
          <p:cNvSpPr/>
          <p:nvPr/>
        </p:nvSpPr>
        <p:spPr>
          <a:xfrm>
            <a:off x="1196980" y="456322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344F2AD3-69DC-E8AC-1D92-B445437B6C47}"/>
              </a:ext>
            </a:extLst>
          </p:cNvPr>
          <p:cNvSpPr/>
          <p:nvPr/>
        </p:nvSpPr>
        <p:spPr>
          <a:xfrm>
            <a:off x="1387480" y="4480671"/>
            <a:ext cx="2595309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Resolution on the first try</a:t>
            </a:r>
            <a:endParaRPr lang="en-US" sz="160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C92F6FC4-BE92-0DDB-2052-948C4AD1EC5C}"/>
              </a:ext>
            </a:extLst>
          </p:cNvPr>
          <p:cNvSpPr/>
          <p:nvPr/>
        </p:nvSpPr>
        <p:spPr>
          <a:xfrm>
            <a:off x="6454780" y="1782120"/>
            <a:ext cx="5359400" cy="3982322"/>
          </a:xfrm>
          <a:prstGeom prst="roundRect">
            <a:avLst>
              <a:gd name="adj" fmla="val 1843"/>
            </a:avLst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2AB64BE0-0DFD-257D-888A-4351724D8523}"/>
              </a:ext>
            </a:extLst>
          </p:cNvPr>
          <p:cNvSpPr/>
          <p:nvPr/>
        </p:nvSpPr>
        <p:spPr>
          <a:xfrm>
            <a:off x="6759580" y="2086920"/>
            <a:ext cx="5224780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F6F2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service teams face</a:t>
            </a:r>
            <a:endParaRPr lang="en-US"/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D275AFE9-CD73-CB0B-8A99-3C66CA08D6A6}"/>
              </a:ext>
            </a:extLst>
          </p:cNvPr>
          <p:cNvSpPr/>
          <p:nvPr/>
        </p:nvSpPr>
        <p:spPr>
          <a:xfrm>
            <a:off x="6759580" y="2516141"/>
            <a:ext cx="406400" cy="19050"/>
          </a:xfrm>
          <a:prstGeom prst="rect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599FB4E3-9121-075E-7DF1-AB9F5D202676}"/>
              </a:ext>
            </a:extLst>
          </p:cNvPr>
          <p:cNvSpPr/>
          <p:nvPr/>
        </p:nvSpPr>
        <p:spPr>
          <a:xfrm>
            <a:off x="6759580" y="279554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72F5FCA3-E914-E00E-E187-681A141F0334}"/>
              </a:ext>
            </a:extLst>
          </p:cNvPr>
          <p:cNvSpPr/>
          <p:nvPr/>
        </p:nvSpPr>
        <p:spPr>
          <a:xfrm>
            <a:off x="6950080" y="2712991"/>
            <a:ext cx="2380521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Rising contact volumes</a:t>
            </a:r>
            <a:endParaRPr lang="en-US" sz="1600"/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F7449A25-C5CE-9C81-1A59-ED28FBE4D04D}"/>
              </a:ext>
            </a:extLst>
          </p:cNvPr>
          <p:cNvSpPr/>
          <p:nvPr/>
        </p:nvSpPr>
        <p:spPr>
          <a:xfrm>
            <a:off x="6759580" y="323746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D31F18D8-914C-5FF8-21B3-FFC3990F18DC}"/>
              </a:ext>
            </a:extLst>
          </p:cNvPr>
          <p:cNvSpPr/>
          <p:nvPr/>
        </p:nvSpPr>
        <p:spPr>
          <a:xfrm>
            <a:off x="6950080" y="3154911"/>
            <a:ext cx="3959021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Long training ramps and agent attrition</a:t>
            </a:r>
            <a:endParaRPr lang="en-US" sz="16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64FC470A-B492-E858-F7F2-9375A9C0B53F}"/>
              </a:ext>
            </a:extLst>
          </p:cNvPr>
          <p:cNvSpPr/>
          <p:nvPr/>
        </p:nvSpPr>
        <p:spPr>
          <a:xfrm>
            <a:off x="6759580" y="367938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1A1FA82B-9DC6-76EB-D01F-AA7A98A9B46F}"/>
              </a:ext>
            </a:extLst>
          </p:cNvPr>
          <p:cNvSpPr/>
          <p:nvPr/>
        </p:nvSpPr>
        <p:spPr>
          <a:xfrm>
            <a:off x="6950080" y="3596831"/>
            <a:ext cx="2543904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Growing operational cost</a:t>
            </a:r>
            <a:endParaRPr lang="en-US" sz="1600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1284670B-1BC8-CF4D-B419-4E6FFDFD428F}"/>
              </a:ext>
            </a:extLst>
          </p:cNvPr>
          <p:cNvSpPr/>
          <p:nvPr/>
        </p:nvSpPr>
        <p:spPr>
          <a:xfrm>
            <a:off x="6759580" y="412130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1DE4CCE1-B153-E30C-A865-FF53E7749646}"/>
              </a:ext>
            </a:extLst>
          </p:cNvPr>
          <p:cNvSpPr/>
          <p:nvPr/>
        </p:nvSpPr>
        <p:spPr>
          <a:xfrm>
            <a:off x="6950080" y="4038751"/>
            <a:ext cx="3541013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Fragmented customer experiences</a:t>
            </a:r>
            <a:endParaRPr lang="en-US" sz="1600"/>
          </a:p>
        </p:txBody>
      </p:sp>
      <p:sp>
        <p:nvSpPr>
          <p:cNvPr id="45" name="Shape 27">
            <a:extLst>
              <a:ext uri="{FF2B5EF4-FFF2-40B4-BE49-F238E27FC236}">
                <a16:creationId xmlns:a16="http://schemas.microsoft.com/office/drawing/2014/main" id="{49920102-FEDC-59CB-805E-7E5BBC597485}"/>
              </a:ext>
            </a:extLst>
          </p:cNvPr>
          <p:cNvSpPr/>
          <p:nvPr/>
        </p:nvSpPr>
        <p:spPr>
          <a:xfrm>
            <a:off x="6759580" y="456322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6" name="Text 28">
            <a:extLst>
              <a:ext uri="{FF2B5EF4-FFF2-40B4-BE49-F238E27FC236}">
                <a16:creationId xmlns:a16="http://schemas.microsoft.com/office/drawing/2014/main" id="{B2E62578-CBEB-3320-8B86-C81661B34DC2}"/>
              </a:ext>
            </a:extLst>
          </p:cNvPr>
          <p:cNvSpPr/>
          <p:nvPr/>
        </p:nvSpPr>
        <p:spPr>
          <a:xfrm>
            <a:off x="6950080" y="4480671"/>
            <a:ext cx="4613920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Pressure to improve CX while reducing spend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82541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6A0D-4733-F96E-6FFC-FA1E1AB0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501B118-1A38-F65E-172B-A77E33C7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Business impact: The cost of inefficient experience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A0C9BA7-72C4-8E60-8FEE-2B94F6FEEA87}"/>
              </a:ext>
            </a:extLst>
          </p:cNvPr>
          <p:cNvSpPr txBox="1">
            <a:spLocks/>
          </p:cNvSpPr>
          <p:nvPr/>
        </p:nvSpPr>
        <p:spPr>
          <a:xfrm>
            <a:off x="7008903" y="1222148"/>
            <a:ext cx="5001412" cy="4289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EECF08B-80C1-2BB3-59AD-B22F749E1274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Where the effects show up when engagement is not AI-assisted.</a:t>
            </a:r>
            <a:endParaRPr lang="en-US" sz="1600"/>
          </a:p>
        </p:txBody>
      </p:sp>
      <p:sp>
        <p:nvSpPr>
          <p:cNvPr id="22" name="Card 1">
            <a:extLst>
              <a:ext uri="{FF2B5EF4-FFF2-40B4-BE49-F238E27FC236}">
                <a16:creationId xmlns:a16="http://schemas.microsoft.com/office/drawing/2014/main" id="{9B40B2D0-DEA4-A7B0-2536-D7BC5629FC18}"/>
              </a:ext>
            </a:extLst>
          </p:cNvPr>
          <p:cNvSpPr/>
          <p:nvPr/>
        </p:nvSpPr>
        <p:spPr>
          <a:xfrm>
            <a:off x="635000" y="1900000"/>
            <a:ext cx="3505708" cy="39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E732C0A1-0DD7-DCB8-9360-0BAA246193B8}"/>
              </a:ext>
            </a:extLst>
          </p:cNvPr>
          <p:cNvSpPr/>
          <p:nvPr/>
        </p:nvSpPr>
        <p:spPr>
          <a:xfrm>
            <a:off x="932892" y="2386350"/>
            <a:ext cx="2065708" cy="4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customers</a:t>
            </a:r>
            <a:endParaRPr lang="en-US" sz="160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C04BF372-AC2B-C938-885C-144653220180}"/>
              </a:ext>
            </a:extLst>
          </p:cNvPr>
          <p:cNvSpPr/>
          <p:nvPr/>
        </p:nvSpPr>
        <p:spPr>
          <a:xfrm>
            <a:off x="915000" y="3080000"/>
            <a:ext cx="2945708" cy="12700"/>
          </a:xfrm>
          <a:prstGeom prst="rect">
            <a:avLst/>
          </a:prstGeom>
          <a:solidFill>
            <a:srgbClr val="D8DEE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5" name="Items 1">
            <a:extLst>
              <a:ext uri="{FF2B5EF4-FFF2-40B4-BE49-F238E27FC236}">
                <a16:creationId xmlns:a16="http://schemas.microsoft.com/office/drawing/2014/main" id="{1B64C258-F4FE-CD85-F7AD-F4DC725F5B2D}"/>
              </a:ext>
            </a:extLst>
          </p:cNvPr>
          <p:cNvSpPr/>
          <p:nvPr/>
        </p:nvSpPr>
        <p:spPr>
          <a:xfrm>
            <a:off x="915000" y="3280000"/>
            <a:ext cx="2945708" cy="228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Long wait times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Inconsistent answers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Repeating themselves at every handoff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churn risk</a:t>
            </a:r>
            <a:endParaRPr lang="en-US" sz="1400"/>
          </a:p>
        </p:txBody>
      </p:sp>
      <p:sp>
        <p:nvSpPr>
          <p:cNvPr id="36" name="Card 2">
            <a:extLst>
              <a:ext uri="{FF2B5EF4-FFF2-40B4-BE49-F238E27FC236}">
                <a16:creationId xmlns:a16="http://schemas.microsoft.com/office/drawing/2014/main" id="{C772234D-96C9-E2CB-9BBE-50022909A640}"/>
              </a:ext>
            </a:extLst>
          </p:cNvPr>
          <p:cNvSpPr/>
          <p:nvPr/>
        </p:nvSpPr>
        <p:spPr>
          <a:xfrm>
            <a:off x="4394200" y="1900000"/>
            <a:ext cx="3505708" cy="39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848A1BE6-6035-D0D0-6E62-78E698272733}"/>
              </a:ext>
            </a:extLst>
          </p:cNvPr>
          <p:cNvSpPr/>
          <p:nvPr/>
        </p:nvSpPr>
        <p:spPr>
          <a:xfrm>
            <a:off x="4840896" y="2380000"/>
            <a:ext cx="2065708" cy="4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operations</a:t>
            </a:r>
            <a:endParaRPr lang="en-US" sz="160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25AAE2A1-7E7D-C20D-DDDE-DB2E36E9EBCB}"/>
              </a:ext>
            </a:extLst>
          </p:cNvPr>
          <p:cNvSpPr/>
          <p:nvPr/>
        </p:nvSpPr>
        <p:spPr>
          <a:xfrm>
            <a:off x="4674200" y="3080000"/>
            <a:ext cx="2945708" cy="12700"/>
          </a:xfrm>
          <a:prstGeom prst="rect">
            <a:avLst/>
          </a:prstGeom>
          <a:solidFill>
            <a:srgbClr val="D8DEE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0" name="Items 2">
            <a:extLst>
              <a:ext uri="{FF2B5EF4-FFF2-40B4-BE49-F238E27FC236}">
                <a16:creationId xmlns:a16="http://schemas.microsoft.com/office/drawing/2014/main" id="{3887A197-0C4E-4591-55D3-F29BDBC1CFB4}"/>
              </a:ext>
            </a:extLst>
          </p:cNvPr>
          <p:cNvSpPr/>
          <p:nvPr/>
        </p:nvSpPr>
        <p:spPr>
          <a:xfrm>
            <a:off x="4674200" y="3280000"/>
            <a:ext cx="2945708" cy="228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 average handle time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Repetitive inquiries consuming capacity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Slow onboarding of new representatives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Escalations and limited peak scalability</a:t>
            </a:r>
            <a:endParaRPr lang="en-US" sz="1400"/>
          </a:p>
        </p:txBody>
      </p:sp>
      <p:sp>
        <p:nvSpPr>
          <p:cNvPr id="41" name="Card 3">
            <a:extLst>
              <a:ext uri="{FF2B5EF4-FFF2-40B4-BE49-F238E27FC236}">
                <a16:creationId xmlns:a16="http://schemas.microsoft.com/office/drawing/2014/main" id="{F090E66C-D1C5-303A-F0E6-171DCC1E98BC}"/>
              </a:ext>
            </a:extLst>
          </p:cNvPr>
          <p:cNvSpPr/>
          <p:nvPr/>
        </p:nvSpPr>
        <p:spPr>
          <a:xfrm>
            <a:off x="8153400" y="1900000"/>
            <a:ext cx="3505708" cy="39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F13A471E-FCAF-D862-A1F5-CA4489182C0F}"/>
              </a:ext>
            </a:extLst>
          </p:cNvPr>
          <p:cNvSpPr/>
          <p:nvPr/>
        </p:nvSpPr>
        <p:spPr>
          <a:xfrm>
            <a:off x="8560521" y="2380000"/>
            <a:ext cx="2065708" cy="4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the business</a:t>
            </a:r>
            <a:endParaRPr lang="en-US" sz="160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201BCE68-BB3B-FD80-FA16-A8D45321227D}"/>
              </a:ext>
            </a:extLst>
          </p:cNvPr>
          <p:cNvSpPr/>
          <p:nvPr/>
        </p:nvSpPr>
        <p:spPr>
          <a:xfrm>
            <a:off x="8433400" y="3080000"/>
            <a:ext cx="2945708" cy="12700"/>
          </a:xfrm>
          <a:prstGeom prst="rect">
            <a:avLst/>
          </a:prstGeom>
          <a:solidFill>
            <a:srgbClr val="D8DEE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4" name="Items 3">
            <a:extLst>
              <a:ext uri="{FF2B5EF4-FFF2-40B4-BE49-F238E27FC236}">
                <a16:creationId xmlns:a16="http://schemas.microsoft.com/office/drawing/2014/main" id="{F710C9C7-62C8-C6BE-985D-8F3BDE92E802}"/>
              </a:ext>
            </a:extLst>
          </p:cNvPr>
          <p:cNvSpPr/>
          <p:nvPr/>
        </p:nvSpPr>
        <p:spPr>
          <a:xfrm>
            <a:off x="8433400" y="3280000"/>
            <a:ext cx="2945708" cy="228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cost per interaction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Increased staffing requirements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Lower customer retention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operational efficiency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75726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F6B4-1920-BCBB-2911-B35C7707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B79E4A-3B1E-4822-84A3-87F8A636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r>
              <a:rPr lang="en-US" kern="0" spc="-75"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Exceptional member experience delivered at scale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E5B9A15-E2D9-A9E6-31A6-EB07CA552FCC}"/>
              </a:ext>
            </a:extLst>
          </p:cNvPr>
          <p:cNvSpPr txBox="1">
            <a:spLocks/>
          </p:cNvSpPr>
          <p:nvPr/>
        </p:nvSpPr>
        <p:spPr>
          <a:xfrm>
            <a:off x="7008903" y="1222148"/>
            <a:ext cx="5001412" cy="4289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B9ECE62-300E-16D9-2E25-2EFC255AFB52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Compass improves customer satisfaction, raises agent productivity, and reduces cost to serve through intelligent interactions on every channel.</a:t>
            </a:r>
            <a:endParaRPr lang="en-US" sz="160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CFF2F0B3-DADC-2115-42B7-D306622755A5}"/>
              </a:ext>
            </a:extLst>
          </p:cNvPr>
          <p:cNvSpPr/>
          <p:nvPr/>
        </p:nvSpPr>
        <p:spPr>
          <a:xfrm>
            <a:off x="1712615" y="2580103"/>
            <a:ext cx="3278257" cy="3206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b="1" kern="0" spc="-18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CSR Assist</a:t>
            </a:r>
            <a:endParaRPr lang="en-US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96B1656F-E915-2494-C0CF-8BB6EB78F97F}"/>
              </a:ext>
            </a:extLst>
          </p:cNvPr>
          <p:cNvSpPr/>
          <p:nvPr/>
        </p:nvSpPr>
        <p:spPr>
          <a:xfrm>
            <a:off x="1712615" y="2976978"/>
            <a:ext cx="3069641" cy="77207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7397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AI guidance and knowledge for representatives, live in the interaction.</a:t>
            </a:r>
            <a:endParaRPr lang="en-US" sz="140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D1AEE343-E085-255F-40F1-B6E6834C18D7}"/>
              </a:ext>
            </a:extLst>
          </p:cNvPr>
          <p:cNvSpPr/>
          <p:nvPr/>
        </p:nvSpPr>
        <p:spPr>
          <a:xfrm>
            <a:off x="1712616" y="3847094"/>
            <a:ext cx="3278311" cy="3206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b="1" kern="0" spc="-18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Compass Voice</a:t>
            </a:r>
            <a:endParaRPr lang="en-US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FAED6409-87EF-F2B6-602D-2966007A2364}"/>
              </a:ext>
            </a:extLst>
          </p:cNvPr>
          <p:cNvSpPr/>
          <p:nvPr/>
        </p:nvSpPr>
        <p:spPr>
          <a:xfrm>
            <a:off x="1712615" y="4243970"/>
            <a:ext cx="3069692" cy="5231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7397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Conversational voice automation and self-service.</a:t>
            </a:r>
            <a:endParaRPr lang="en-US" sz="140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BA9B3DFA-76FE-D885-B30A-444CD045D832}"/>
              </a:ext>
            </a:extLst>
          </p:cNvPr>
          <p:cNvSpPr/>
          <p:nvPr/>
        </p:nvSpPr>
        <p:spPr>
          <a:xfrm>
            <a:off x="1712615" y="5096820"/>
            <a:ext cx="3278257" cy="3206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b="1" kern="0" spc="-18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Compass Chat</a:t>
            </a:r>
            <a:endParaRPr lang="en-US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332E7FAD-6614-EFDE-0B04-8B6FDEB6355E}"/>
              </a:ext>
            </a:extLst>
          </p:cNvPr>
          <p:cNvSpPr/>
          <p:nvPr/>
        </p:nvSpPr>
        <p:spPr>
          <a:xfrm>
            <a:off x="1712615" y="5493696"/>
            <a:ext cx="3069641" cy="5231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7397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Digital engagement across web and messaging.</a:t>
            </a:r>
            <a:endParaRPr lang="en-US" sz="140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3B32374-59EB-15AD-66C7-91ADAAC13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21531" y="1899106"/>
            <a:ext cx="6470469" cy="431364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62843CD-EB27-C075-15EE-18F3BD684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46191" y="3138969"/>
            <a:ext cx="2386149" cy="357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72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F65B-A6D5-51E9-802C-EE44F177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95F3A8-6E99-5E4F-6E63-E4575369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Solution: Compass CSR Assist</a:t>
            </a:r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1B660FE8-154F-916B-CAFE-259B8BC52026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Every representative works with the knowledge and judgment of your most experienced agent.</a:t>
            </a:r>
            <a:endParaRPr lang="en-US" sz="1600"/>
          </a:p>
        </p:txBody>
      </p:sp>
      <p:sp>
        <p:nvSpPr>
          <p:cNvPr id="7" name="Card Capabilities"/>
          <p:cNvSpPr/>
          <p:nvPr/>
        </p:nvSpPr>
        <p:spPr>
          <a:xfrm>
            <a:off x="755000" y="2228752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Badge Capabilities"/>
          <p:cNvSpPr/>
          <p:nvPr/>
        </p:nvSpPr>
        <p:spPr>
          <a:xfrm>
            <a:off x="1115000" y="2588752"/>
            <a:ext cx="620000" cy="62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Glyph Capabilities"/>
          <p:cNvSpPr/>
          <p:nvPr/>
        </p:nvSpPr>
        <p:spPr>
          <a:xfrm>
            <a:off x="1265000" y="2738752"/>
            <a:ext cx="320000" cy="32000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Header Capabilities"/>
          <p:cNvSpPr/>
          <p:nvPr/>
        </p:nvSpPr>
        <p:spPr>
          <a:xfrm>
            <a:off x="1955000" y="2648752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Capabilities</a:t>
            </a:r>
            <a:endParaRPr lang="en-US" sz="1600"/>
          </a:p>
        </p:txBody>
      </p:sp>
      <p:sp>
        <p:nvSpPr>
          <p:cNvPr id="10" name="Divider Capabilities"/>
          <p:cNvSpPr/>
          <p:nvPr/>
        </p:nvSpPr>
        <p:spPr>
          <a:xfrm>
            <a:off x="1115000" y="3448752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0" name="Dot 1"/>
          <p:cNvSpPr/>
          <p:nvPr/>
        </p:nvSpPr>
        <p:spPr>
          <a:xfrm>
            <a:off x="1115000" y="370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ap Item 1"/>
          <p:cNvSpPr/>
          <p:nvPr/>
        </p:nvSpPr>
        <p:spPr>
          <a:xfrm>
            <a:off x="1535000" y="3618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Real-time guidance in the interaction</a:t>
            </a:r>
            <a:endParaRPr lang="en-US" sz="1500"/>
          </a:p>
        </p:txBody>
      </p:sp>
      <p:sp>
        <p:nvSpPr>
          <p:cNvPr id="61" name="Dot 2"/>
          <p:cNvSpPr/>
          <p:nvPr/>
        </p:nvSpPr>
        <p:spPr>
          <a:xfrm>
            <a:off x="1115000" y="410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ap Item 2"/>
          <p:cNvSpPr/>
          <p:nvPr/>
        </p:nvSpPr>
        <p:spPr>
          <a:xfrm>
            <a:off x="1535000" y="4023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Knowledge retrieval and summarization</a:t>
            </a:r>
            <a:endParaRPr lang="en-US" sz="1500"/>
          </a:p>
        </p:txBody>
      </p:sp>
      <p:sp>
        <p:nvSpPr>
          <p:cNvPr id="62" name="Dot 3"/>
          <p:cNvSpPr/>
          <p:nvPr/>
        </p:nvSpPr>
        <p:spPr>
          <a:xfrm>
            <a:off x="1115000" y="451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Cap Item 3"/>
          <p:cNvSpPr/>
          <p:nvPr/>
        </p:nvSpPr>
        <p:spPr>
          <a:xfrm>
            <a:off x="1535000" y="4428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Suggested responses</a:t>
            </a:r>
            <a:endParaRPr lang="en-US" sz="1500"/>
          </a:p>
        </p:txBody>
      </p:sp>
      <p:sp>
        <p:nvSpPr>
          <p:cNvPr id="63" name="Dot 4"/>
          <p:cNvSpPr/>
          <p:nvPr/>
        </p:nvSpPr>
        <p:spPr>
          <a:xfrm>
            <a:off x="1115000" y="491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ap Item 4"/>
          <p:cNvSpPr/>
          <p:nvPr/>
        </p:nvSpPr>
        <p:spPr>
          <a:xfrm>
            <a:off x="1535000" y="4833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98% accurate vs human &lt; 80% accuracy</a:t>
            </a:r>
            <a:endParaRPr lang="en-US" sz="1500"/>
          </a:p>
        </p:txBody>
      </p:sp>
      <p:sp>
        <p:nvSpPr>
          <p:cNvPr id="64" name="Dot 5"/>
          <p:cNvSpPr/>
          <p:nvPr/>
        </p:nvSpPr>
        <p:spPr>
          <a:xfrm>
            <a:off x="1115000" y="532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Cap Item 5"/>
          <p:cNvSpPr/>
          <p:nvPr/>
        </p:nvSpPr>
        <p:spPr>
          <a:xfrm>
            <a:off x="1535000" y="5238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</a:rPr>
              <a:t>Reduced call handle time</a:t>
            </a:r>
            <a:endParaRPr lang="en-US" sz="1500"/>
          </a:p>
        </p:txBody>
      </p:sp>
      <p:sp>
        <p:nvSpPr>
          <p:cNvPr id="65" name="Dot 6"/>
          <p:cNvSpPr/>
          <p:nvPr/>
        </p:nvSpPr>
        <p:spPr>
          <a:xfrm>
            <a:off x="1115000" y="572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ap Item 6"/>
          <p:cNvSpPr/>
          <p:nvPr/>
        </p:nvSpPr>
        <p:spPr>
          <a:xfrm>
            <a:off x="1535000" y="5643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 call resolution</a:t>
            </a:r>
            <a:endParaRPr lang="en-US" sz="1500"/>
          </a:p>
        </p:txBody>
      </p:sp>
      <p:sp>
        <p:nvSpPr>
          <p:cNvPr id="17" name="Card Outcomes"/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/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/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/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/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/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/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/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/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/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/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/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/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/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/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9EAB796-6B8E-92AF-E1A1-DFF032EE8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447788" y="167640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4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04A2-611F-3EC3-91BA-32FEB372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50155B-0B9B-933B-7B06-572F72A3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Solution: Compass Voice</a:t>
            </a:r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B27859A6-1E68-6C0F-7DC0-E65F7B00E95B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Intelligent self-service on the phone with a natural handoff when a person is needed.</a:t>
            </a:r>
            <a:endParaRPr lang="en-US" sz="1600"/>
          </a:p>
        </p:txBody>
      </p:sp>
      <p:sp>
        <p:nvSpPr>
          <p:cNvPr id="7" name="Card Capabilities">
            <a:extLst>
              <a:ext uri="{FF2B5EF4-FFF2-40B4-BE49-F238E27FC236}">
                <a16:creationId xmlns:a16="http://schemas.microsoft.com/office/drawing/2014/main" id="{A7A58D7B-FFC5-A37C-5E9A-96B3B7E62A9C}"/>
              </a:ext>
            </a:extLst>
          </p:cNvPr>
          <p:cNvSpPr/>
          <p:nvPr/>
        </p:nvSpPr>
        <p:spPr>
          <a:xfrm>
            <a:off x="755000" y="2228752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Badge Capabilities">
            <a:extLst>
              <a:ext uri="{FF2B5EF4-FFF2-40B4-BE49-F238E27FC236}">
                <a16:creationId xmlns:a16="http://schemas.microsoft.com/office/drawing/2014/main" id="{D0DF1E7C-93D4-72FC-8F89-0DF60980C856}"/>
              </a:ext>
            </a:extLst>
          </p:cNvPr>
          <p:cNvSpPr/>
          <p:nvPr/>
        </p:nvSpPr>
        <p:spPr>
          <a:xfrm>
            <a:off x="1115000" y="2588752"/>
            <a:ext cx="620000" cy="62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Glyph Capabilities">
            <a:extLst>
              <a:ext uri="{FF2B5EF4-FFF2-40B4-BE49-F238E27FC236}">
                <a16:creationId xmlns:a16="http://schemas.microsoft.com/office/drawing/2014/main" id="{E30BABA0-1490-7B4B-3C44-AC7D471D12A2}"/>
              </a:ext>
            </a:extLst>
          </p:cNvPr>
          <p:cNvSpPr/>
          <p:nvPr/>
        </p:nvSpPr>
        <p:spPr>
          <a:xfrm>
            <a:off x="1265000" y="2738752"/>
            <a:ext cx="320000" cy="32000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Header Capabilities">
            <a:extLst>
              <a:ext uri="{FF2B5EF4-FFF2-40B4-BE49-F238E27FC236}">
                <a16:creationId xmlns:a16="http://schemas.microsoft.com/office/drawing/2014/main" id="{1DA0EE30-076A-7A4C-0C63-F2D4CA04C787}"/>
              </a:ext>
            </a:extLst>
          </p:cNvPr>
          <p:cNvSpPr/>
          <p:nvPr/>
        </p:nvSpPr>
        <p:spPr>
          <a:xfrm>
            <a:off x="1955000" y="2648752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Capabilities</a:t>
            </a:r>
            <a:endParaRPr lang="en-US" sz="1600"/>
          </a:p>
        </p:txBody>
      </p:sp>
      <p:sp>
        <p:nvSpPr>
          <p:cNvPr id="10" name="Divider Capabilities">
            <a:extLst>
              <a:ext uri="{FF2B5EF4-FFF2-40B4-BE49-F238E27FC236}">
                <a16:creationId xmlns:a16="http://schemas.microsoft.com/office/drawing/2014/main" id="{B6135B23-E181-948B-00D8-CCA3DFB7DBA1}"/>
              </a:ext>
            </a:extLst>
          </p:cNvPr>
          <p:cNvSpPr/>
          <p:nvPr/>
        </p:nvSpPr>
        <p:spPr>
          <a:xfrm>
            <a:off x="1115000" y="3448752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0" name="Dot 1">
            <a:extLst>
              <a:ext uri="{FF2B5EF4-FFF2-40B4-BE49-F238E27FC236}">
                <a16:creationId xmlns:a16="http://schemas.microsoft.com/office/drawing/2014/main" id="{33F1753D-0BFC-69DC-E902-2DB8F17F1CC2}"/>
              </a:ext>
            </a:extLst>
          </p:cNvPr>
          <p:cNvSpPr/>
          <p:nvPr/>
        </p:nvSpPr>
        <p:spPr>
          <a:xfrm>
            <a:off x="1115000" y="370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Dot 2">
            <a:extLst>
              <a:ext uri="{FF2B5EF4-FFF2-40B4-BE49-F238E27FC236}">
                <a16:creationId xmlns:a16="http://schemas.microsoft.com/office/drawing/2014/main" id="{10DAAEE1-1528-6E10-71CF-7E2671985488}"/>
              </a:ext>
            </a:extLst>
          </p:cNvPr>
          <p:cNvSpPr/>
          <p:nvPr/>
        </p:nvSpPr>
        <p:spPr>
          <a:xfrm>
            <a:off x="1115000" y="410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Dot 3">
            <a:extLst>
              <a:ext uri="{FF2B5EF4-FFF2-40B4-BE49-F238E27FC236}">
                <a16:creationId xmlns:a16="http://schemas.microsoft.com/office/drawing/2014/main" id="{BB8C59E4-2458-575B-0DC3-873277883B68}"/>
              </a:ext>
            </a:extLst>
          </p:cNvPr>
          <p:cNvSpPr/>
          <p:nvPr/>
        </p:nvSpPr>
        <p:spPr>
          <a:xfrm>
            <a:off x="1115000" y="451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Dot 4">
            <a:extLst>
              <a:ext uri="{FF2B5EF4-FFF2-40B4-BE49-F238E27FC236}">
                <a16:creationId xmlns:a16="http://schemas.microsoft.com/office/drawing/2014/main" id="{B5AA7FCC-F84A-17E3-EA93-55D1B2082090}"/>
              </a:ext>
            </a:extLst>
          </p:cNvPr>
          <p:cNvSpPr/>
          <p:nvPr/>
        </p:nvSpPr>
        <p:spPr>
          <a:xfrm>
            <a:off x="1115000" y="491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Dot 5">
            <a:extLst>
              <a:ext uri="{FF2B5EF4-FFF2-40B4-BE49-F238E27FC236}">
                <a16:creationId xmlns:a16="http://schemas.microsoft.com/office/drawing/2014/main" id="{6D76F22A-AC9E-07F9-B79A-A6FF424DC5FE}"/>
              </a:ext>
            </a:extLst>
          </p:cNvPr>
          <p:cNvSpPr/>
          <p:nvPr/>
        </p:nvSpPr>
        <p:spPr>
          <a:xfrm>
            <a:off x="1115000" y="532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Dot 6">
            <a:extLst>
              <a:ext uri="{FF2B5EF4-FFF2-40B4-BE49-F238E27FC236}">
                <a16:creationId xmlns:a16="http://schemas.microsoft.com/office/drawing/2014/main" id="{8918E715-0F1D-818F-906C-47BB2AD255B1}"/>
              </a:ext>
            </a:extLst>
          </p:cNvPr>
          <p:cNvSpPr/>
          <p:nvPr/>
        </p:nvSpPr>
        <p:spPr>
          <a:xfrm>
            <a:off x="1115000" y="572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FC137C64-AE2E-28D0-7F01-370FF853476E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86B416CE-DC22-B689-EBBC-3D832F6BFFF1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1EBD1988-856C-63C3-EFE8-CD3358112F9B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5DF458F5-ACE2-A65A-B6AF-9FA070C46114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B26AC21F-1803-E13F-FABD-902AF3A56968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19EF0FC4-C132-B557-A508-72E0931AFFCF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1127BFEA-EC0C-E592-4B78-40E1C4B8EA41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19D0384D-8A26-8178-0D7D-5026C98577EB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14CADCDA-AC13-9582-93A0-BEEC284CAD86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4C757379-87C3-AA3E-8F29-B28FD3A35CB1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36D072DF-915E-4B0E-ADF9-159413F5E90F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9282E383-4E64-8E1D-D8EC-2890FDFD2335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68358947-6835-77C4-8B6D-8585B64BDE24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16D38C89-5CA9-7974-46A4-33A6179A92D1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2E8BEA15-6160-B641-B07B-1ACA875E5775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8EE84F7-708A-06AE-3542-FA0B76D5D844}"/>
              </a:ext>
            </a:extLst>
          </p:cNvPr>
          <p:cNvSpPr/>
          <p:nvPr/>
        </p:nvSpPr>
        <p:spPr>
          <a:xfrm>
            <a:off x="1496830" y="368884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Natural language conversation</a:t>
            </a:r>
            <a:endParaRPr lang="en-US" sz="140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45148F4-3FEF-0938-F4E8-E4DBB31EC608}"/>
              </a:ext>
            </a:extLst>
          </p:cNvPr>
          <p:cNvSpPr/>
          <p:nvPr/>
        </p:nvSpPr>
        <p:spPr>
          <a:xfrm>
            <a:off x="1496830" y="409354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Multi-language support</a:t>
            </a:r>
            <a:endParaRPr lang="en-US" sz="140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ECB573F-276F-50B8-DA2A-1008414045E1}"/>
              </a:ext>
            </a:extLst>
          </p:cNvPr>
          <p:cNvSpPr/>
          <p:nvPr/>
        </p:nvSpPr>
        <p:spPr>
          <a:xfrm>
            <a:off x="1496830" y="4516853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Automated resolution of routine inquiries</a:t>
            </a:r>
            <a:endParaRPr lang="en-US" sz="140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1EC5F86-F582-4559-E97A-42235FC48D4D}"/>
              </a:ext>
            </a:extLst>
          </p:cNvPr>
          <p:cNvSpPr/>
          <p:nvPr/>
        </p:nvSpPr>
        <p:spPr>
          <a:xfrm>
            <a:off x="1496830" y="492182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Personalized experience</a:t>
            </a:r>
            <a:endParaRPr lang="en-US" sz="140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A5FEC14-1DFF-E6FC-4CFA-B960762B491A}"/>
              </a:ext>
            </a:extLst>
          </p:cNvPr>
          <p:cNvSpPr/>
          <p:nvPr/>
        </p:nvSpPr>
        <p:spPr>
          <a:xfrm>
            <a:off x="1496830" y="5291313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Guardrails keep conversations safe</a:t>
            </a:r>
            <a:endParaRPr lang="en-US" sz="140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10C061F4-BB83-1B1D-BB1B-D5A0F131DC1F}"/>
              </a:ext>
            </a:extLst>
          </p:cNvPr>
          <p:cNvSpPr/>
          <p:nvPr/>
        </p:nvSpPr>
        <p:spPr>
          <a:xfrm>
            <a:off x="1496830" y="570000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Seamless agent handoff with context</a:t>
            </a:r>
            <a:endParaRPr lang="en-US" sz="140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E85C9BD8-8748-8DC4-A1A3-06EE3472BEE9}"/>
              </a:ext>
            </a:extLst>
          </p:cNvPr>
          <p:cNvSpPr/>
          <p:nvPr/>
        </p:nvSpPr>
        <p:spPr>
          <a:xfrm>
            <a:off x="7759328" y="3374177"/>
            <a:ext cx="5207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BE36422-68FD-9B20-5537-5DEAF2077BC8}"/>
              </a:ext>
            </a:extLst>
          </p:cNvPr>
          <p:cNvSpPr/>
          <p:nvPr/>
        </p:nvSpPr>
        <p:spPr>
          <a:xfrm>
            <a:off x="7759328" y="3012227"/>
            <a:ext cx="5363210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50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049FBCA7-8C33-81C2-D350-F813CADE9DA1}"/>
              </a:ext>
            </a:extLst>
          </p:cNvPr>
          <p:cNvSpPr/>
          <p:nvPr/>
        </p:nvSpPr>
        <p:spPr>
          <a:xfrm>
            <a:off x="7759328" y="353292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Lower live-agent call volume</a:t>
            </a:r>
            <a:endParaRPr lang="en-US" sz="140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94E47E27-3D01-C376-4181-B303E88916F6}"/>
              </a:ext>
            </a:extLst>
          </p:cNvPr>
          <p:cNvSpPr/>
          <p:nvPr/>
        </p:nvSpPr>
        <p:spPr>
          <a:xfrm>
            <a:off x="7759328" y="3874538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operational cost</a:t>
            </a:r>
            <a:endParaRPr lang="en-US" sz="140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62008F94-5858-55DF-0FCC-5FE1F1E71644}"/>
              </a:ext>
            </a:extLst>
          </p:cNvPr>
          <p:cNvSpPr/>
          <p:nvPr/>
        </p:nvSpPr>
        <p:spPr>
          <a:xfrm>
            <a:off x="7759328" y="4216148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self-service rates</a:t>
            </a:r>
            <a:endParaRPr lang="en-US" sz="140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6736C3EC-A7F2-DC72-19E3-9A3C1A600DBB}"/>
              </a:ext>
            </a:extLst>
          </p:cNvPr>
          <p:cNvSpPr/>
          <p:nvPr/>
        </p:nvSpPr>
        <p:spPr>
          <a:xfrm>
            <a:off x="7759328" y="4557758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customer satisfaction</a:t>
            </a:r>
            <a:endParaRPr lang="en-US" sz="140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2DCB6422-8420-1D31-F64A-B06F25DFC219}"/>
              </a:ext>
            </a:extLst>
          </p:cNvPr>
          <p:cNvSpPr/>
          <p:nvPr/>
        </p:nvSpPr>
        <p:spPr>
          <a:xfrm>
            <a:off x="7759328" y="4899368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Service coverage beyond business hours</a:t>
            </a:r>
            <a:endParaRPr lang="en-US" sz="140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B07FDF8-BA5F-1840-E3B1-9D5939ABD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869268" y="1588902"/>
            <a:ext cx="3512732" cy="526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9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46BB-058F-4D9E-D1C5-2C99C695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2BC36DA-CBB8-EF03-1865-B707FE0D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Solution: Compass Chat</a:t>
            </a:r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CE56A82-9F12-E3EA-EE43-06932AEFB97A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Support on the channels customers already use with the same answers they would get on the phone.</a:t>
            </a:r>
            <a:endParaRPr lang="en-US" sz="1600"/>
          </a:p>
        </p:txBody>
      </p:sp>
      <p:sp>
        <p:nvSpPr>
          <p:cNvPr id="7" name="Card Capabilities">
            <a:extLst>
              <a:ext uri="{FF2B5EF4-FFF2-40B4-BE49-F238E27FC236}">
                <a16:creationId xmlns:a16="http://schemas.microsoft.com/office/drawing/2014/main" id="{D1CDD977-F976-080E-89E9-658465108DD2}"/>
              </a:ext>
            </a:extLst>
          </p:cNvPr>
          <p:cNvSpPr/>
          <p:nvPr/>
        </p:nvSpPr>
        <p:spPr>
          <a:xfrm>
            <a:off x="755000" y="2228752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Badge Capabilities">
            <a:extLst>
              <a:ext uri="{FF2B5EF4-FFF2-40B4-BE49-F238E27FC236}">
                <a16:creationId xmlns:a16="http://schemas.microsoft.com/office/drawing/2014/main" id="{F21BC706-FEFC-7A37-89F1-DD9BC55328DB}"/>
              </a:ext>
            </a:extLst>
          </p:cNvPr>
          <p:cNvSpPr/>
          <p:nvPr/>
        </p:nvSpPr>
        <p:spPr>
          <a:xfrm>
            <a:off x="1115000" y="2588752"/>
            <a:ext cx="620000" cy="62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Glyph Capabilities">
            <a:extLst>
              <a:ext uri="{FF2B5EF4-FFF2-40B4-BE49-F238E27FC236}">
                <a16:creationId xmlns:a16="http://schemas.microsoft.com/office/drawing/2014/main" id="{F2A70C78-1715-527D-289D-9AF6C5B5F9A9}"/>
              </a:ext>
            </a:extLst>
          </p:cNvPr>
          <p:cNvSpPr/>
          <p:nvPr/>
        </p:nvSpPr>
        <p:spPr>
          <a:xfrm>
            <a:off x="1265000" y="2738752"/>
            <a:ext cx="320000" cy="32000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Header Capabilities">
            <a:extLst>
              <a:ext uri="{FF2B5EF4-FFF2-40B4-BE49-F238E27FC236}">
                <a16:creationId xmlns:a16="http://schemas.microsoft.com/office/drawing/2014/main" id="{6A0DA6FC-A228-7CCB-1009-880B08213456}"/>
              </a:ext>
            </a:extLst>
          </p:cNvPr>
          <p:cNvSpPr/>
          <p:nvPr/>
        </p:nvSpPr>
        <p:spPr>
          <a:xfrm>
            <a:off x="1955000" y="2648752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Capabilities</a:t>
            </a:r>
            <a:endParaRPr lang="en-US" sz="1600"/>
          </a:p>
        </p:txBody>
      </p:sp>
      <p:sp>
        <p:nvSpPr>
          <p:cNvPr id="10" name="Divider Capabilities">
            <a:extLst>
              <a:ext uri="{FF2B5EF4-FFF2-40B4-BE49-F238E27FC236}">
                <a16:creationId xmlns:a16="http://schemas.microsoft.com/office/drawing/2014/main" id="{6E7FBB52-D61B-4337-6954-E3F570F26C61}"/>
              </a:ext>
            </a:extLst>
          </p:cNvPr>
          <p:cNvSpPr/>
          <p:nvPr/>
        </p:nvSpPr>
        <p:spPr>
          <a:xfrm>
            <a:off x="1115000" y="3448752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0" name="Dot 1">
            <a:extLst>
              <a:ext uri="{FF2B5EF4-FFF2-40B4-BE49-F238E27FC236}">
                <a16:creationId xmlns:a16="http://schemas.microsoft.com/office/drawing/2014/main" id="{EDED9B14-CB72-AB86-8B9A-FD491151F209}"/>
              </a:ext>
            </a:extLst>
          </p:cNvPr>
          <p:cNvSpPr/>
          <p:nvPr/>
        </p:nvSpPr>
        <p:spPr>
          <a:xfrm>
            <a:off x="1115000" y="370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Dot 2">
            <a:extLst>
              <a:ext uri="{FF2B5EF4-FFF2-40B4-BE49-F238E27FC236}">
                <a16:creationId xmlns:a16="http://schemas.microsoft.com/office/drawing/2014/main" id="{2A06B05C-58CE-59EC-8E4C-CA61330471AD}"/>
              </a:ext>
            </a:extLst>
          </p:cNvPr>
          <p:cNvSpPr/>
          <p:nvPr/>
        </p:nvSpPr>
        <p:spPr>
          <a:xfrm>
            <a:off x="1115000" y="410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Dot 3">
            <a:extLst>
              <a:ext uri="{FF2B5EF4-FFF2-40B4-BE49-F238E27FC236}">
                <a16:creationId xmlns:a16="http://schemas.microsoft.com/office/drawing/2014/main" id="{9142C0D2-081D-9ADD-CEF9-490065CAB496}"/>
              </a:ext>
            </a:extLst>
          </p:cNvPr>
          <p:cNvSpPr/>
          <p:nvPr/>
        </p:nvSpPr>
        <p:spPr>
          <a:xfrm>
            <a:off x="1115000" y="451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Dot 4">
            <a:extLst>
              <a:ext uri="{FF2B5EF4-FFF2-40B4-BE49-F238E27FC236}">
                <a16:creationId xmlns:a16="http://schemas.microsoft.com/office/drawing/2014/main" id="{5DA99BC1-214C-10F4-64E4-2D3AE2F553BE}"/>
              </a:ext>
            </a:extLst>
          </p:cNvPr>
          <p:cNvSpPr/>
          <p:nvPr/>
        </p:nvSpPr>
        <p:spPr>
          <a:xfrm>
            <a:off x="1115000" y="491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Dot 5">
            <a:extLst>
              <a:ext uri="{FF2B5EF4-FFF2-40B4-BE49-F238E27FC236}">
                <a16:creationId xmlns:a16="http://schemas.microsoft.com/office/drawing/2014/main" id="{BED208A4-6A73-51F8-9E07-D499D8A687F6}"/>
              </a:ext>
            </a:extLst>
          </p:cNvPr>
          <p:cNvSpPr/>
          <p:nvPr/>
        </p:nvSpPr>
        <p:spPr>
          <a:xfrm>
            <a:off x="1115000" y="532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Dot 6">
            <a:extLst>
              <a:ext uri="{FF2B5EF4-FFF2-40B4-BE49-F238E27FC236}">
                <a16:creationId xmlns:a16="http://schemas.microsoft.com/office/drawing/2014/main" id="{C2C9643F-562D-DB2F-583F-A8D76F165A6C}"/>
              </a:ext>
            </a:extLst>
          </p:cNvPr>
          <p:cNvSpPr/>
          <p:nvPr/>
        </p:nvSpPr>
        <p:spPr>
          <a:xfrm>
            <a:off x="1115000" y="572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958208D4-4A1E-CFBE-345C-07B8A02B821A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3EDA00AF-4558-76EE-0C3A-01B7DCC455B5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4A55BFF7-A9FF-02AB-0791-575D64179974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8236CAED-8D42-9512-46F6-A2B23F9B8C5D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F8E429B3-70C6-776B-7E81-20A8C7C26DC8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FFEBB7B3-8589-8D9C-9E57-2A5848EF25CF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25025E94-9A10-4417-E7AE-C7ACA188CC57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6192D86D-414C-624D-C350-46B1DA5D9D9D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4EA47072-A5DA-6A01-01CB-3B8CA2CF7792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E48E2AED-3FB0-6CAF-7AA9-B0A900E3F3D2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31DA834D-0A40-5F8E-9D29-BC0D0C6208F1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433290A0-2069-FD3B-126E-2E42D8542A66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9B52CDB2-BCCC-F034-9735-5E4596097519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68E5E1E5-D61B-E016-861B-E90778337992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89D6A8E6-91B3-6285-FEC7-6FC1772F94D5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C94F8B-9216-454C-CE5C-DDA3DA02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4960680" y="1797978"/>
            <a:ext cx="3229170" cy="4843754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667BCE0D-428B-D28A-22F0-793EAB43284D}"/>
              </a:ext>
            </a:extLst>
          </p:cNvPr>
          <p:cNvSpPr/>
          <p:nvPr/>
        </p:nvSpPr>
        <p:spPr>
          <a:xfrm>
            <a:off x="1496830" y="368884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Web chat</a:t>
            </a:r>
            <a:endParaRPr lang="en-US" sz="140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2288877-FA05-F99E-5DDB-898F163C06E5}"/>
              </a:ext>
            </a:extLst>
          </p:cNvPr>
          <p:cNvSpPr/>
          <p:nvPr/>
        </p:nvSpPr>
        <p:spPr>
          <a:xfrm>
            <a:off x="1496830" y="409354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Mobile and messaging channel</a:t>
            </a:r>
            <a:endParaRPr lang="en-US" sz="140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7039F63-D59D-3FFE-7825-8545B3F5E234}"/>
              </a:ext>
            </a:extLst>
          </p:cNvPr>
          <p:cNvSpPr/>
          <p:nvPr/>
        </p:nvSpPr>
        <p:spPr>
          <a:xfrm>
            <a:off x="1496830" y="4516853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Automated resolution of routine inquiries</a:t>
            </a:r>
            <a:endParaRPr lang="en-US" sz="140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85C682E-2503-E175-D67A-18C59267C3C8}"/>
              </a:ext>
            </a:extLst>
          </p:cNvPr>
          <p:cNvSpPr/>
          <p:nvPr/>
        </p:nvSpPr>
        <p:spPr>
          <a:xfrm>
            <a:off x="1496830" y="492182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Personalized, account-aware interactions</a:t>
            </a:r>
            <a:endParaRPr lang="en-US" sz="140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F889CB9E-68B4-981B-4D32-86419C41CC60}"/>
              </a:ext>
            </a:extLst>
          </p:cNvPr>
          <p:cNvSpPr/>
          <p:nvPr/>
        </p:nvSpPr>
        <p:spPr>
          <a:xfrm>
            <a:off x="1496830" y="5291313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Conversations that carry across channels</a:t>
            </a:r>
            <a:endParaRPr lang="en-US" sz="140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B4AA5A6-56CA-7040-921E-4D6600652BAB}"/>
              </a:ext>
            </a:extLst>
          </p:cNvPr>
          <p:cNvSpPr/>
          <p:nvPr/>
        </p:nvSpPr>
        <p:spPr>
          <a:xfrm>
            <a:off x="1496830" y="570000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Live agent escalation</a:t>
            </a:r>
            <a:endParaRPr lang="en-US" sz="140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C9F1ADC3-10CC-9010-7999-9C5F318E092F}"/>
              </a:ext>
            </a:extLst>
          </p:cNvPr>
          <p:cNvSpPr/>
          <p:nvPr/>
        </p:nvSpPr>
        <p:spPr>
          <a:xfrm>
            <a:off x="7674838" y="3396635"/>
            <a:ext cx="5207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94286CD5-7BB3-5EE6-6F6D-12AB8619DE0F}"/>
              </a:ext>
            </a:extLst>
          </p:cNvPr>
          <p:cNvSpPr/>
          <p:nvPr/>
        </p:nvSpPr>
        <p:spPr>
          <a:xfrm>
            <a:off x="7674838" y="3034685"/>
            <a:ext cx="5363210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50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09E004BF-B07A-63F3-D9DD-8EABD88DACB5}"/>
              </a:ext>
            </a:extLst>
          </p:cNvPr>
          <p:cNvSpPr/>
          <p:nvPr/>
        </p:nvSpPr>
        <p:spPr>
          <a:xfrm>
            <a:off x="7674838" y="3555385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digital containment</a:t>
            </a:r>
            <a:endParaRPr lang="en-US" sz="140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E61A4754-1A3D-484C-A152-0A33891A18FD}"/>
              </a:ext>
            </a:extLst>
          </p:cNvPr>
          <p:cNvSpPr/>
          <p:nvPr/>
        </p:nvSpPr>
        <p:spPr>
          <a:xfrm>
            <a:off x="7674838" y="389699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support cost</a:t>
            </a:r>
            <a:endParaRPr lang="en-US" sz="140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63DAB863-3380-15FF-00BA-48240938ACD9}"/>
              </a:ext>
            </a:extLst>
          </p:cNvPr>
          <p:cNvSpPr/>
          <p:nvPr/>
        </p:nvSpPr>
        <p:spPr>
          <a:xfrm>
            <a:off x="7674838" y="423860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Stronger customer engagement</a:t>
            </a:r>
            <a:endParaRPr lang="en-US" sz="140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6C7A217E-AB7A-46DF-9B7D-08B43253FC80}"/>
              </a:ext>
            </a:extLst>
          </p:cNvPr>
          <p:cNvSpPr/>
          <p:nvPr/>
        </p:nvSpPr>
        <p:spPr>
          <a:xfrm>
            <a:off x="7674838" y="458021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service delivery</a:t>
            </a:r>
            <a:endParaRPr lang="en-US" sz="140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745D97FD-442C-DDE9-47F4-C92D4FB6CC8B}"/>
              </a:ext>
            </a:extLst>
          </p:cNvPr>
          <p:cNvSpPr/>
          <p:nvPr/>
        </p:nvSpPr>
        <p:spPr>
          <a:xfrm>
            <a:off x="7674838" y="492182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conversion on service journeys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12305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F5C2-CB6D-F95F-E870-D077DAE6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533D65-9B5A-E1A6-1D34-4D9CDAC6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Member journey with Compass after new diagnosis</a:t>
            </a:r>
            <a:endParaRPr lang="en-US"/>
          </a:p>
        </p:txBody>
      </p:sp>
      <p:sp>
        <p:nvSpPr>
          <p:cNvPr id="151" name="Shape 3">
            <a:extLst>
              <a:ext uri="{FF2B5EF4-FFF2-40B4-BE49-F238E27FC236}">
                <a16:creationId xmlns:a16="http://schemas.microsoft.com/office/drawing/2014/main" id="{A0AD41E4-AE9F-F075-753A-F8C81E33E093}"/>
              </a:ext>
            </a:extLst>
          </p:cNvPr>
          <p:cNvSpPr/>
          <p:nvPr/>
        </p:nvSpPr>
        <p:spPr>
          <a:xfrm>
            <a:off x="838201" y="1233306"/>
            <a:ext cx="10922000" cy="683220"/>
          </a:xfrm>
          <a:prstGeom prst="roundRect">
            <a:avLst>
              <a:gd name="adj" fmla="val 1115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2" name="Text 4">
            <a:extLst>
              <a:ext uri="{FF2B5EF4-FFF2-40B4-BE49-F238E27FC236}">
                <a16:creationId xmlns:a16="http://schemas.microsoft.com/office/drawing/2014/main" id="{00D89C01-94CD-A0BB-6496-8FC43069A442}"/>
              </a:ext>
            </a:extLst>
          </p:cNvPr>
          <p:cNvSpPr/>
          <p:nvPr/>
        </p:nvSpPr>
        <p:spPr>
          <a:xfrm>
            <a:off x="1028701" y="1392056"/>
            <a:ext cx="1295400" cy="3911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17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MEMBER PERSONA</a:t>
            </a:r>
            <a:endParaRPr lang="en-US" sz="1200"/>
          </a:p>
        </p:txBody>
      </p:sp>
      <p:sp>
        <p:nvSpPr>
          <p:cNvPr id="153" name="Text 5">
            <a:extLst>
              <a:ext uri="{FF2B5EF4-FFF2-40B4-BE49-F238E27FC236}">
                <a16:creationId xmlns:a16="http://schemas.microsoft.com/office/drawing/2014/main" id="{CD6129E7-E2DF-B7C4-9134-69C8426AF9B6}"/>
              </a:ext>
            </a:extLst>
          </p:cNvPr>
          <p:cNvSpPr/>
          <p:nvPr/>
        </p:nvSpPr>
        <p:spPr>
          <a:xfrm>
            <a:off x="2476502" y="1360306"/>
            <a:ext cx="6586283" cy="4546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896"/>
              </a:lnSpc>
            </a:pPr>
            <a:r>
              <a:rPr lang="en-US" sz="13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Recently diagnosed; wants calm, accurate answers about treatment coverage, providers, medications, devices, diagnostics, authorizations, and support.</a:t>
            </a:r>
            <a:endParaRPr lang="en-US" sz="1300"/>
          </a:p>
        </p:txBody>
      </p:sp>
      <p:sp>
        <p:nvSpPr>
          <p:cNvPr id="154" name="Shape 6">
            <a:extLst>
              <a:ext uri="{FF2B5EF4-FFF2-40B4-BE49-F238E27FC236}">
                <a16:creationId xmlns:a16="http://schemas.microsoft.com/office/drawing/2014/main" id="{AD048165-A4AE-14DE-E288-18D4F31CC40E}"/>
              </a:ext>
            </a:extLst>
          </p:cNvPr>
          <p:cNvSpPr/>
          <p:nvPr/>
        </p:nvSpPr>
        <p:spPr>
          <a:xfrm>
            <a:off x="9074151" y="1360306"/>
            <a:ext cx="6350" cy="42922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5" name="Text 7">
            <a:extLst>
              <a:ext uri="{FF2B5EF4-FFF2-40B4-BE49-F238E27FC236}">
                <a16:creationId xmlns:a16="http://schemas.microsoft.com/office/drawing/2014/main" id="{E3F6A63E-76E4-891D-AD10-3DD2402598C2}"/>
              </a:ext>
            </a:extLst>
          </p:cNvPr>
          <p:cNvSpPr/>
          <p:nvPr/>
        </p:nvSpPr>
        <p:spPr>
          <a:xfrm>
            <a:off x="9283701" y="1360306"/>
            <a:ext cx="2360867" cy="4546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896"/>
              </a:lnSpc>
            </a:pPr>
            <a:r>
              <a:rPr lang="en-US" sz="1300">
                <a:solidFill>
                  <a:srgbClr val="1F9D77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Goal: confidence, clarity, and a personalized next-step plan.</a:t>
            </a:r>
            <a:endParaRPr lang="en-US" sz="1300"/>
          </a:p>
        </p:txBody>
      </p:sp>
      <p:sp>
        <p:nvSpPr>
          <p:cNvPr id="156" name="Shape 8">
            <a:extLst>
              <a:ext uri="{FF2B5EF4-FFF2-40B4-BE49-F238E27FC236}">
                <a16:creationId xmlns:a16="http://schemas.microsoft.com/office/drawing/2014/main" id="{4B9EA0D5-B345-E8AD-973E-C35038AE8822}"/>
              </a:ext>
            </a:extLst>
          </p:cNvPr>
          <p:cNvSpPr/>
          <p:nvPr/>
        </p:nvSpPr>
        <p:spPr>
          <a:xfrm>
            <a:off x="2120901" y="2922489"/>
            <a:ext cx="1524000" cy="19050"/>
          </a:xfrm>
          <a:prstGeom prst="rect">
            <a:avLst/>
          </a:prstGeom>
          <a:solidFill>
            <a:srgbClr val="5C1B5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7" name="Shape 9">
            <a:extLst>
              <a:ext uri="{FF2B5EF4-FFF2-40B4-BE49-F238E27FC236}">
                <a16:creationId xmlns:a16="http://schemas.microsoft.com/office/drawing/2014/main" id="{BEA20EE3-228B-4CDD-1F31-DEE26380CAC7}"/>
              </a:ext>
            </a:extLst>
          </p:cNvPr>
          <p:cNvSpPr/>
          <p:nvPr/>
        </p:nvSpPr>
        <p:spPr>
          <a:xfrm>
            <a:off x="21209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5C1B5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8" name="Text 10">
            <a:extLst>
              <a:ext uri="{FF2B5EF4-FFF2-40B4-BE49-F238E27FC236}">
                <a16:creationId xmlns:a16="http://schemas.microsoft.com/office/drawing/2014/main" id="{D068C371-E159-F01C-FBB2-9434D93E9D29}"/>
              </a:ext>
            </a:extLst>
          </p:cNvPr>
          <p:cNvSpPr/>
          <p:nvPr/>
        </p:nvSpPr>
        <p:spPr>
          <a:xfrm>
            <a:off x="20955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</a:t>
            </a:r>
            <a:endParaRPr lang="en-US" sz="1200"/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E997B042-8ACB-4002-385C-57055739824E}"/>
              </a:ext>
            </a:extLst>
          </p:cNvPr>
          <p:cNvSpPr/>
          <p:nvPr/>
        </p:nvSpPr>
        <p:spPr>
          <a:xfrm>
            <a:off x="21209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Receives diagnosis</a:t>
            </a:r>
            <a:endParaRPr lang="en-US" sz="1400"/>
          </a:p>
        </p:txBody>
      </p:sp>
      <p:sp>
        <p:nvSpPr>
          <p:cNvPr id="160" name="Shape 12">
            <a:extLst>
              <a:ext uri="{FF2B5EF4-FFF2-40B4-BE49-F238E27FC236}">
                <a16:creationId xmlns:a16="http://schemas.microsoft.com/office/drawing/2014/main" id="{2A9BD1EE-B769-C8A8-D2A9-EC2CDA51192D}"/>
              </a:ext>
            </a:extLst>
          </p:cNvPr>
          <p:cNvSpPr/>
          <p:nvPr/>
        </p:nvSpPr>
        <p:spPr>
          <a:xfrm>
            <a:off x="3733801" y="2922489"/>
            <a:ext cx="1524000" cy="19050"/>
          </a:xfrm>
          <a:prstGeom prst="rect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1" name="Shape 13">
            <a:extLst>
              <a:ext uri="{FF2B5EF4-FFF2-40B4-BE49-F238E27FC236}">
                <a16:creationId xmlns:a16="http://schemas.microsoft.com/office/drawing/2014/main" id="{F401561C-7FE2-D1D3-92D0-0F0DA1F20692}"/>
              </a:ext>
            </a:extLst>
          </p:cNvPr>
          <p:cNvSpPr/>
          <p:nvPr/>
        </p:nvSpPr>
        <p:spPr>
          <a:xfrm>
            <a:off x="37338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BF2F4BAB-3275-CAA9-1667-92DD04375B71}"/>
              </a:ext>
            </a:extLst>
          </p:cNvPr>
          <p:cNvSpPr/>
          <p:nvPr/>
        </p:nvSpPr>
        <p:spPr>
          <a:xfrm>
            <a:off x="37084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1200"/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DC20D010-D1DE-DD72-2465-A0E7AFA8CFCC}"/>
              </a:ext>
            </a:extLst>
          </p:cNvPr>
          <p:cNvSpPr/>
          <p:nvPr/>
        </p:nvSpPr>
        <p:spPr>
          <a:xfrm>
            <a:off x="37338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Seeks coverage clarity</a:t>
            </a:r>
            <a:endParaRPr lang="en-US" sz="1400"/>
          </a:p>
        </p:txBody>
      </p:sp>
      <p:sp>
        <p:nvSpPr>
          <p:cNvPr id="164" name="Shape 16">
            <a:extLst>
              <a:ext uri="{FF2B5EF4-FFF2-40B4-BE49-F238E27FC236}">
                <a16:creationId xmlns:a16="http://schemas.microsoft.com/office/drawing/2014/main" id="{6635A22A-4838-67CA-A281-2FA1C41DE78E}"/>
              </a:ext>
            </a:extLst>
          </p:cNvPr>
          <p:cNvSpPr/>
          <p:nvPr/>
        </p:nvSpPr>
        <p:spPr>
          <a:xfrm>
            <a:off x="5346701" y="2922489"/>
            <a:ext cx="1524000" cy="19050"/>
          </a:xfrm>
          <a:prstGeom prst="rect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5" name="Shape 17">
            <a:extLst>
              <a:ext uri="{FF2B5EF4-FFF2-40B4-BE49-F238E27FC236}">
                <a16:creationId xmlns:a16="http://schemas.microsoft.com/office/drawing/2014/main" id="{425915A4-4844-7EC5-266A-1453FFF722DE}"/>
              </a:ext>
            </a:extLst>
          </p:cNvPr>
          <p:cNvSpPr/>
          <p:nvPr/>
        </p:nvSpPr>
        <p:spPr>
          <a:xfrm>
            <a:off x="53467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1F9D7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6" name="Text 18">
            <a:extLst>
              <a:ext uri="{FF2B5EF4-FFF2-40B4-BE49-F238E27FC236}">
                <a16:creationId xmlns:a16="http://schemas.microsoft.com/office/drawing/2014/main" id="{8FC6B3CD-5965-6D48-98AA-11D744AD8042}"/>
              </a:ext>
            </a:extLst>
          </p:cNvPr>
          <p:cNvSpPr/>
          <p:nvPr/>
        </p:nvSpPr>
        <p:spPr>
          <a:xfrm>
            <a:off x="53213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1200"/>
          </a:p>
        </p:txBody>
      </p:sp>
      <p:sp>
        <p:nvSpPr>
          <p:cNvPr id="167" name="Text 19">
            <a:extLst>
              <a:ext uri="{FF2B5EF4-FFF2-40B4-BE49-F238E27FC236}">
                <a16:creationId xmlns:a16="http://schemas.microsoft.com/office/drawing/2014/main" id="{7398B02D-5C63-C36B-CF86-BAB59900FF37}"/>
              </a:ext>
            </a:extLst>
          </p:cNvPr>
          <p:cNvSpPr/>
          <p:nvPr/>
        </p:nvSpPr>
        <p:spPr>
          <a:xfrm>
            <a:off x="53467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Engages chat or voice</a:t>
            </a:r>
            <a:endParaRPr lang="en-US" sz="1400"/>
          </a:p>
        </p:txBody>
      </p:sp>
      <p:sp>
        <p:nvSpPr>
          <p:cNvPr id="168" name="Shape 20">
            <a:extLst>
              <a:ext uri="{FF2B5EF4-FFF2-40B4-BE49-F238E27FC236}">
                <a16:creationId xmlns:a16="http://schemas.microsoft.com/office/drawing/2014/main" id="{F4E49255-0F6E-DC9A-D1EF-52744FF79636}"/>
              </a:ext>
            </a:extLst>
          </p:cNvPr>
          <p:cNvSpPr/>
          <p:nvPr/>
        </p:nvSpPr>
        <p:spPr>
          <a:xfrm>
            <a:off x="6959601" y="2922489"/>
            <a:ext cx="1524000" cy="19050"/>
          </a:xfrm>
          <a:prstGeom prst="rect">
            <a:avLst/>
          </a:prstGeom>
          <a:solidFill>
            <a:srgbClr val="ED494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9" name="Shape 21">
            <a:extLst>
              <a:ext uri="{FF2B5EF4-FFF2-40B4-BE49-F238E27FC236}">
                <a16:creationId xmlns:a16="http://schemas.microsoft.com/office/drawing/2014/main" id="{F99C3A02-83FD-7DD4-7776-171119807C92}"/>
              </a:ext>
            </a:extLst>
          </p:cNvPr>
          <p:cNvSpPr/>
          <p:nvPr/>
        </p:nvSpPr>
        <p:spPr>
          <a:xfrm>
            <a:off x="69596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ED494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0" name="Text 22">
            <a:extLst>
              <a:ext uri="{FF2B5EF4-FFF2-40B4-BE49-F238E27FC236}">
                <a16:creationId xmlns:a16="http://schemas.microsoft.com/office/drawing/2014/main" id="{C42AA78B-A47D-18E4-5A45-D10D73A8130C}"/>
              </a:ext>
            </a:extLst>
          </p:cNvPr>
          <p:cNvSpPr/>
          <p:nvPr/>
        </p:nvSpPr>
        <p:spPr>
          <a:xfrm>
            <a:off x="69342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</a:t>
            </a:r>
            <a:endParaRPr lang="en-US" sz="1200"/>
          </a:p>
        </p:txBody>
      </p:sp>
      <p:sp>
        <p:nvSpPr>
          <p:cNvPr id="171" name="Text 23">
            <a:extLst>
              <a:ext uri="{FF2B5EF4-FFF2-40B4-BE49-F238E27FC236}">
                <a16:creationId xmlns:a16="http://schemas.microsoft.com/office/drawing/2014/main" id="{BC9C46A4-3B7F-ED25-C900-BF2A47404C32}"/>
              </a:ext>
            </a:extLst>
          </p:cNvPr>
          <p:cNvSpPr/>
          <p:nvPr/>
        </p:nvSpPr>
        <p:spPr>
          <a:xfrm>
            <a:off x="69596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Calls a human agent</a:t>
            </a:r>
            <a:endParaRPr lang="en-US" sz="1400"/>
          </a:p>
        </p:txBody>
      </p:sp>
      <p:sp>
        <p:nvSpPr>
          <p:cNvPr id="172" name="Shape 24">
            <a:extLst>
              <a:ext uri="{FF2B5EF4-FFF2-40B4-BE49-F238E27FC236}">
                <a16:creationId xmlns:a16="http://schemas.microsoft.com/office/drawing/2014/main" id="{79170F95-3936-8A32-F93C-D99CE43FC1C7}"/>
              </a:ext>
            </a:extLst>
          </p:cNvPr>
          <p:cNvSpPr/>
          <p:nvPr/>
        </p:nvSpPr>
        <p:spPr>
          <a:xfrm>
            <a:off x="8572501" y="2922489"/>
            <a:ext cx="1524000" cy="1905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3" name="Shape 25">
            <a:extLst>
              <a:ext uri="{FF2B5EF4-FFF2-40B4-BE49-F238E27FC236}">
                <a16:creationId xmlns:a16="http://schemas.microsoft.com/office/drawing/2014/main" id="{D46FD985-DED1-6550-1805-DED02C17683C}"/>
              </a:ext>
            </a:extLst>
          </p:cNvPr>
          <p:cNvSpPr/>
          <p:nvPr/>
        </p:nvSpPr>
        <p:spPr>
          <a:xfrm>
            <a:off x="85725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4" name="Text 26">
            <a:extLst>
              <a:ext uri="{FF2B5EF4-FFF2-40B4-BE49-F238E27FC236}">
                <a16:creationId xmlns:a16="http://schemas.microsoft.com/office/drawing/2014/main" id="{721989DD-46A5-3DD3-315E-7494C71021DC}"/>
              </a:ext>
            </a:extLst>
          </p:cNvPr>
          <p:cNvSpPr/>
          <p:nvPr/>
        </p:nvSpPr>
        <p:spPr>
          <a:xfrm>
            <a:off x="85471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</a:t>
            </a:r>
            <a:endParaRPr lang="en-US" sz="1200"/>
          </a:p>
        </p:txBody>
      </p:sp>
      <p:sp>
        <p:nvSpPr>
          <p:cNvPr id="175" name="Text 27">
            <a:extLst>
              <a:ext uri="{FF2B5EF4-FFF2-40B4-BE49-F238E27FC236}">
                <a16:creationId xmlns:a16="http://schemas.microsoft.com/office/drawing/2014/main" id="{691A7F98-E887-8D6E-747B-E3627FA55473}"/>
              </a:ext>
            </a:extLst>
          </p:cNvPr>
          <p:cNvSpPr/>
          <p:nvPr/>
        </p:nvSpPr>
        <p:spPr>
          <a:xfrm>
            <a:off x="85725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 uses CSR Assist</a:t>
            </a:r>
            <a:endParaRPr lang="en-US" sz="1400"/>
          </a:p>
        </p:txBody>
      </p:sp>
      <p:sp>
        <p:nvSpPr>
          <p:cNvPr id="176" name="Shape 28">
            <a:extLst>
              <a:ext uri="{FF2B5EF4-FFF2-40B4-BE49-F238E27FC236}">
                <a16:creationId xmlns:a16="http://schemas.microsoft.com/office/drawing/2014/main" id="{CB9A5072-3234-F334-B2F3-FFEF2CB90E96}"/>
              </a:ext>
            </a:extLst>
          </p:cNvPr>
          <p:cNvSpPr/>
          <p:nvPr/>
        </p:nvSpPr>
        <p:spPr>
          <a:xfrm>
            <a:off x="10185401" y="2922489"/>
            <a:ext cx="1524000" cy="19050"/>
          </a:xfrm>
          <a:prstGeom prst="rect">
            <a:avLst/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7" name="Shape 29">
            <a:extLst>
              <a:ext uri="{FF2B5EF4-FFF2-40B4-BE49-F238E27FC236}">
                <a16:creationId xmlns:a16="http://schemas.microsoft.com/office/drawing/2014/main" id="{554E830A-5C7F-32ED-E8C7-2AAEB40BADE7}"/>
              </a:ext>
            </a:extLst>
          </p:cNvPr>
          <p:cNvSpPr/>
          <p:nvPr/>
        </p:nvSpPr>
        <p:spPr>
          <a:xfrm>
            <a:off x="101854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8" name="Text 30">
            <a:extLst>
              <a:ext uri="{FF2B5EF4-FFF2-40B4-BE49-F238E27FC236}">
                <a16:creationId xmlns:a16="http://schemas.microsoft.com/office/drawing/2014/main" id="{CE023E10-5EFF-4596-B12F-1331FDBD43D7}"/>
              </a:ext>
            </a:extLst>
          </p:cNvPr>
          <p:cNvSpPr/>
          <p:nvPr/>
        </p:nvSpPr>
        <p:spPr>
          <a:xfrm>
            <a:off x="101600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</a:t>
            </a:r>
            <a:endParaRPr lang="en-US" sz="1200"/>
          </a:p>
        </p:txBody>
      </p:sp>
      <p:sp>
        <p:nvSpPr>
          <p:cNvPr id="179" name="Text 31">
            <a:extLst>
              <a:ext uri="{FF2B5EF4-FFF2-40B4-BE49-F238E27FC236}">
                <a16:creationId xmlns:a16="http://schemas.microsoft.com/office/drawing/2014/main" id="{6D5937FA-7688-2C41-62A6-BEAD7A7D5FCD}"/>
              </a:ext>
            </a:extLst>
          </p:cNvPr>
          <p:cNvSpPr/>
          <p:nvPr/>
        </p:nvSpPr>
        <p:spPr>
          <a:xfrm>
            <a:off x="101854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Receives support plan</a:t>
            </a:r>
            <a:endParaRPr lang="en-US" sz="1400"/>
          </a:p>
        </p:txBody>
      </p:sp>
      <p:sp>
        <p:nvSpPr>
          <p:cNvPr id="180" name="Shape 32">
            <a:extLst>
              <a:ext uri="{FF2B5EF4-FFF2-40B4-BE49-F238E27FC236}">
                <a16:creationId xmlns:a16="http://schemas.microsoft.com/office/drawing/2014/main" id="{9ED5D2D9-6716-D3B0-E04F-22B32DFB10E8}"/>
              </a:ext>
            </a:extLst>
          </p:cNvPr>
          <p:cNvSpPr/>
          <p:nvPr/>
        </p:nvSpPr>
        <p:spPr>
          <a:xfrm>
            <a:off x="787401" y="303043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81" name="Text 33">
            <a:extLst>
              <a:ext uri="{FF2B5EF4-FFF2-40B4-BE49-F238E27FC236}">
                <a16:creationId xmlns:a16="http://schemas.microsoft.com/office/drawing/2014/main" id="{77284087-2A6D-F09F-343D-76FB123AC788}"/>
              </a:ext>
            </a:extLst>
          </p:cNvPr>
          <p:cNvSpPr/>
          <p:nvPr/>
        </p:nvSpPr>
        <p:spPr>
          <a:xfrm>
            <a:off x="787401" y="3138389"/>
            <a:ext cx="12954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90">
                <a:solidFill>
                  <a:srgbClr val="7C86A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MEMBER ACTION</a:t>
            </a:r>
            <a:endParaRPr lang="en-US" sz="1200"/>
          </a:p>
        </p:txBody>
      </p:sp>
      <p:sp>
        <p:nvSpPr>
          <p:cNvPr id="182" name="Text 34">
            <a:extLst>
              <a:ext uri="{FF2B5EF4-FFF2-40B4-BE49-F238E27FC236}">
                <a16:creationId xmlns:a16="http://schemas.microsoft.com/office/drawing/2014/main" id="{4FD174B0-8014-5139-8AFC-641CDD193AF7}"/>
              </a:ext>
            </a:extLst>
          </p:cNvPr>
          <p:cNvSpPr/>
          <p:nvPr/>
        </p:nvSpPr>
        <p:spPr>
          <a:xfrm>
            <a:off x="21209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Processes new diagnosis</a:t>
            </a:r>
            <a:endParaRPr lang="en-US" sz="1200"/>
          </a:p>
        </p:txBody>
      </p:sp>
      <p:sp>
        <p:nvSpPr>
          <p:cNvPr id="183" name="Text 35">
            <a:extLst>
              <a:ext uri="{FF2B5EF4-FFF2-40B4-BE49-F238E27FC236}">
                <a16:creationId xmlns:a16="http://schemas.microsoft.com/office/drawing/2014/main" id="{84E9A44D-ABD2-F382-DD73-95ED2BBF9A5E}"/>
              </a:ext>
            </a:extLst>
          </p:cNvPr>
          <p:cNvSpPr/>
          <p:nvPr/>
        </p:nvSpPr>
        <p:spPr>
          <a:xfrm>
            <a:off x="37338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Reviews the plan portal</a:t>
            </a:r>
            <a:endParaRPr lang="en-US" sz="1200"/>
          </a:p>
        </p:txBody>
      </p:sp>
      <p:sp>
        <p:nvSpPr>
          <p:cNvPr id="184" name="Text 36">
            <a:extLst>
              <a:ext uri="{FF2B5EF4-FFF2-40B4-BE49-F238E27FC236}">
                <a16:creationId xmlns:a16="http://schemas.microsoft.com/office/drawing/2014/main" id="{C130AA02-FD00-9C52-F5B4-E2ABE4BE487B}"/>
              </a:ext>
            </a:extLst>
          </p:cNvPr>
          <p:cNvSpPr/>
          <p:nvPr/>
        </p:nvSpPr>
        <p:spPr>
          <a:xfrm>
            <a:off x="53467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Asks the chat or voice agent</a:t>
            </a:r>
            <a:endParaRPr lang="en-US" sz="1200"/>
          </a:p>
        </p:txBody>
      </p:sp>
      <p:sp>
        <p:nvSpPr>
          <p:cNvPr id="185" name="Text 37">
            <a:extLst>
              <a:ext uri="{FF2B5EF4-FFF2-40B4-BE49-F238E27FC236}">
                <a16:creationId xmlns:a16="http://schemas.microsoft.com/office/drawing/2014/main" id="{27BBD47E-78B6-8A24-300C-21A3D590B050}"/>
              </a:ext>
            </a:extLst>
          </p:cNvPr>
          <p:cNvSpPr/>
          <p:nvPr/>
        </p:nvSpPr>
        <p:spPr>
          <a:xfrm>
            <a:off x="69596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Conversation needs human touch</a:t>
            </a:r>
            <a:endParaRPr lang="en-US" sz="1200"/>
          </a:p>
        </p:txBody>
      </p:sp>
      <p:sp>
        <p:nvSpPr>
          <p:cNvPr id="186" name="Text 38">
            <a:extLst>
              <a:ext uri="{FF2B5EF4-FFF2-40B4-BE49-F238E27FC236}">
                <a16:creationId xmlns:a16="http://schemas.microsoft.com/office/drawing/2014/main" id="{D3CA628A-26FE-1045-4FEC-8FA5C30D54C1}"/>
              </a:ext>
            </a:extLst>
          </p:cNvPr>
          <p:cNvSpPr/>
          <p:nvPr/>
        </p:nvSpPr>
        <p:spPr>
          <a:xfrm>
            <a:off x="85725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Agent queries the copilot</a:t>
            </a:r>
            <a:endParaRPr lang="en-US" sz="1200"/>
          </a:p>
        </p:txBody>
      </p:sp>
      <p:sp>
        <p:nvSpPr>
          <p:cNvPr id="187" name="Text 39">
            <a:extLst>
              <a:ext uri="{FF2B5EF4-FFF2-40B4-BE49-F238E27FC236}">
                <a16:creationId xmlns:a16="http://schemas.microsoft.com/office/drawing/2014/main" id="{876AE86D-673E-47EF-9BC6-32650B232D37}"/>
              </a:ext>
            </a:extLst>
          </p:cNvPr>
          <p:cNvSpPr/>
          <p:nvPr/>
        </p:nvSpPr>
        <p:spPr>
          <a:xfrm>
            <a:off x="101854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Gets a personalized summary</a:t>
            </a:r>
            <a:endParaRPr lang="en-US" sz="1200"/>
          </a:p>
        </p:txBody>
      </p:sp>
      <p:sp>
        <p:nvSpPr>
          <p:cNvPr id="188" name="Shape 40">
            <a:extLst>
              <a:ext uri="{FF2B5EF4-FFF2-40B4-BE49-F238E27FC236}">
                <a16:creationId xmlns:a16="http://schemas.microsoft.com/office/drawing/2014/main" id="{A115CF47-AF45-BE77-D81A-DB95182CE065}"/>
              </a:ext>
            </a:extLst>
          </p:cNvPr>
          <p:cNvSpPr/>
          <p:nvPr/>
        </p:nvSpPr>
        <p:spPr>
          <a:xfrm>
            <a:off x="787401" y="362098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89" name="Text 41">
            <a:extLst>
              <a:ext uri="{FF2B5EF4-FFF2-40B4-BE49-F238E27FC236}">
                <a16:creationId xmlns:a16="http://schemas.microsoft.com/office/drawing/2014/main" id="{1574B6E2-44A7-E7D7-C3FA-CBFB0F520C43}"/>
              </a:ext>
            </a:extLst>
          </p:cNvPr>
          <p:cNvSpPr/>
          <p:nvPr/>
        </p:nvSpPr>
        <p:spPr>
          <a:xfrm>
            <a:off x="787401" y="3728939"/>
            <a:ext cx="12954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90">
                <a:solidFill>
                  <a:srgbClr val="7C86A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KEY NEED</a:t>
            </a:r>
            <a:endParaRPr lang="en-US" sz="1200"/>
          </a:p>
        </p:txBody>
      </p:sp>
      <p:sp>
        <p:nvSpPr>
          <p:cNvPr id="190" name="Text 42">
            <a:extLst>
              <a:ext uri="{FF2B5EF4-FFF2-40B4-BE49-F238E27FC236}">
                <a16:creationId xmlns:a16="http://schemas.microsoft.com/office/drawing/2014/main" id="{70CC7618-0DFB-A9E3-16F4-C0FD13C16DB9}"/>
              </a:ext>
            </a:extLst>
          </p:cNvPr>
          <p:cNvSpPr/>
          <p:nvPr/>
        </p:nvSpPr>
        <p:spPr>
          <a:xfrm>
            <a:off x="21209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What do I do next?</a:t>
            </a:r>
            <a:endParaRPr lang="en-US" sz="1200"/>
          </a:p>
        </p:txBody>
      </p:sp>
      <p:sp>
        <p:nvSpPr>
          <p:cNvPr id="191" name="Text 43">
            <a:extLst>
              <a:ext uri="{FF2B5EF4-FFF2-40B4-BE49-F238E27FC236}">
                <a16:creationId xmlns:a16="http://schemas.microsoft.com/office/drawing/2014/main" id="{BC624902-57F0-C89D-0A13-DE341EFA7446}"/>
              </a:ext>
            </a:extLst>
          </p:cNvPr>
          <p:cNvSpPr/>
          <p:nvPr/>
        </p:nvSpPr>
        <p:spPr>
          <a:xfrm>
            <a:off x="37338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Is treatment covered?</a:t>
            </a:r>
            <a:endParaRPr lang="en-US" sz="1200"/>
          </a:p>
        </p:txBody>
      </p:sp>
      <p:sp>
        <p:nvSpPr>
          <p:cNvPr id="192" name="Text 44">
            <a:extLst>
              <a:ext uri="{FF2B5EF4-FFF2-40B4-BE49-F238E27FC236}">
                <a16:creationId xmlns:a16="http://schemas.microsoft.com/office/drawing/2014/main" id="{D4C774B9-6734-E67E-F3A1-DE22EDCFEC63}"/>
              </a:ext>
            </a:extLst>
          </p:cNvPr>
          <p:cNvSpPr/>
          <p:nvPr/>
        </p:nvSpPr>
        <p:spPr>
          <a:xfrm>
            <a:off x="53467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Providers, meds, diagnostics?</a:t>
            </a:r>
            <a:endParaRPr lang="en-US" sz="1200"/>
          </a:p>
        </p:txBody>
      </p:sp>
      <p:sp>
        <p:nvSpPr>
          <p:cNvPr id="193" name="Text 45">
            <a:extLst>
              <a:ext uri="{FF2B5EF4-FFF2-40B4-BE49-F238E27FC236}">
                <a16:creationId xmlns:a16="http://schemas.microsoft.com/office/drawing/2014/main" id="{EF7384E0-E221-EBA2-AE8A-73CB2B7B57E8}"/>
              </a:ext>
            </a:extLst>
          </p:cNvPr>
          <p:cNvSpPr/>
          <p:nvPr/>
        </p:nvSpPr>
        <p:spPr>
          <a:xfrm>
            <a:off x="69596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What else should I be thinking of? I’m worried.</a:t>
            </a:r>
            <a:endParaRPr lang="en-US" sz="1200"/>
          </a:p>
        </p:txBody>
      </p:sp>
      <p:sp>
        <p:nvSpPr>
          <p:cNvPr id="194" name="Text 46">
            <a:extLst>
              <a:ext uri="{FF2B5EF4-FFF2-40B4-BE49-F238E27FC236}">
                <a16:creationId xmlns:a16="http://schemas.microsoft.com/office/drawing/2014/main" id="{AB62D9E4-BDC8-3DD4-B934-7509966186B9}"/>
              </a:ext>
            </a:extLst>
          </p:cNvPr>
          <p:cNvSpPr/>
          <p:nvPr/>
        </p:nvSpPr>
        <p:spPr>
          <a:xfrm>
            <a:off x="85725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Accurate, member-specific answer</a:t>
            </a:r>
            <a:endParaRPr lang="en-US" sz="1200"/>
          </a:p>
        </p:txBody>
      </p:sp>
      <p:sp>
        <p:nvSpPr>
          <p:cNvPr id="195" name="Text 47">
            <a:extLst>
              <a:ext uri="{FF2B5EF4-FFF2-40B4-BE49-F238E27FC236}">
                <a16:creationId xmlns:a16="http://schemas.microsoft.com/office/drawing/2014/main" id="{89E80E01-888B-CA30-C155-3E32EADC577E}"/>
              </a:ext>
            </a:extLst>
          </p:cNvPr>
          <p:cNvSpPr/>
          <p:nvPr/>
        </p:nvSpPr>
        <p:spPr>
          <a:xfrm>
            <a:off x="101854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My coverage and next steps</a:t>
            </a:r>
            <a:endParaRPr lang="en-US" sz="1200"/>
          </a:p>
        </p:txBody>
      </p:sp>
      <p:sp>
        <p:nvSpPr>
          <p:cNvPr id="196" name="Shape 48">
            <a:extLst>
              <a:ext uri="{FF2B5EF4-FFF2-40B4-BE49-F238E27FC236}">
                <a16:creationId xmlns:a16="http://schemas.microsoft.com/office/drawing/2014/main" id="{E70946EF-B98C-5E2F-0DAA-5DA458FA46E4}"/>
              </a:ext>
            </a:extLst>
          </p:cNvPr>
          <p:cNvSpPr/>
          <p:nvPr/>
        </p:nvSpPr>
        <p:spPr>
          <a:xfrm>
            <a:off x="787401" y="421153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97" name="Text 49">
            <a:extLst>
              <a:ext uri="{FF2B5EF4-FFF2-40B4-BE49-F238E27FC236}">
                <a16:creationId xmlns:a16="http://schemas.microsoft.com/office/drawing/2014/main" id="{BD9BBEDD-CCF5-467D-541E-C07D3602FF67}"/>
              </a:ext>
            </a:extLst>
          </p:cNvPr>
          <p:cNvSpPr/>
          <p:nvPr/>
        </p:nvSpPr>
        <p:spPr>
          <a:xfrm>
            <a:off x="787401" y="4319489"/>
            <a:ext cx="12954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90">
                <a:solidFill>
                  <a:srgbClr val="7C86A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COMPASS CAPABILITY</a:t>
            </a:r>
            <a:endParaRPr lang="en-US" sz="1200"/>
          </a:p>
        </p:txBody>
      </p:sp>
      <p:sp>
        <p:nvSpPr>
          <p:cNvPr id="198" name="Text 50">
            <a:extLst>
              <a:ext uri="{FF2B5EF4-FFF2-40B4-BE49-F238E27FC236}">
                <a16:creationId xmlns:a16="http://schemas.microsoft.com/office/drawing/2014/main" id="{AD7472DD-62BE-C474-E19C-74725936007B}"/>
              </a:ext>
            </a:extLst>
          </p:cNvPr>
          <p:cNvSpPr/>
          <p:nvPr/>
        </p:nvSpPr>
        <p:spPr>
          <a:xfrm>
            <a:off x="21209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Empathetic entry point and next steps</a:t>
            </a:r>
            <a:endParaRPr lang="en-US" sz="1200"/>
          </a:p>
        </p:txBody>
      </p:sp>
      <p:sp>
        <p:nvSpPr>
          <p:cNvPr id="199" name="Text 51">
            <a:extLst>
              <a:ext uri="{FF2B5EF4-FFF2-40B4-BE49-F238E27FC236}">
                <a16:creationId xmlns:a16="http://schemas.microsoft.com/office/drawing/2014/main" id="{767E2462-EC54-BD25-858B-887A4373F770}"/>
              </a:ext>
            </a:extLst>
          </p:cNvPr>
          <p:cNvSpPr/>
          <p:nvPr/>
        </p:nvSpPr>
        <p:spPr>
          <a:xfrm>
            <a:off x="37338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Web chat benefit inquiry in easy to understand language</a:t>
            </a:r>
            <a:endParaRPr lang="en-US" sz="1200"/>
          </a:p>
        </p:txBody>
      </p:sp>
      <p:sp>
        <p:nvSpPr>
          <p:cNvPr id="200" name="Text 52">
            <a:extLst>
              <a:ext uri="{FF2B5EF4-FFF2-40B4-BE49-F238E27FC236}">
                <a16:creationId xmlns:a16="http://schemas.microsoft.com/office/drawing/2014/main" id="{BB0211A2-4444-902F-29C6-F15352DE466E}"/>
              </a:ext>
            </a:extLst>
          </p:cNvPr>
          <p:cNvSpPr/>
          <p:nvPr/>
        </p:nvSpPr>
        <p:spPr>
          <a:xfrm>
            <a:off x="53467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Digital AI chat and voice navigation</a:t>
            </a:r>
            <a:endParaRPr lang="en-US" sz="1200"/>
          </a:p>
        </p:txBody>
      </p:sp>
      <p:sp>
        <p:nvSpPr>
          <p:cNvPr id="201" name="Text 53">
            <a:extLst>
              <a:ext uri="{FF2B5EF4-FFF2-40B4-BE49-F238E27FC236}">
                <a16:creationId xmlns:a16="http://schemas.microsoft.com/office/drawing/2014/main" id="{5263D080-A544-84A3-69B4-297DB1BA88BA}"/>
              </a:ext>
            </a:extLst>
          </p:cNvPr>
          <p:cNvSpPr/>
          <p:nvPr/>
        </p:nvSpPr>
        <p:spPr>
          <a:xfrm>
            <a:off x="69596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Warm handoff with conversation context</a:t>
            </a:r>
            <a:endParaRPr lang="en-US" sz="1200"/>
          </a:p>
        </p:txBody>
      </p:sp>
      <p:sp>
        <p:nvSpPr>
          <p:cNvPr id="202" name="Text 54">
            <a:extLst>
              <a:ext uri="{FF2B5EF4-FFF2-40B4-BE49-F238E27FC236}">
                <a16:creationId xmlns:a16="http://schemas.microsoft.com/office/drawing/2014/main" id="{D0EEDFA4-1A02-98A3-9CA1-CE18468C36CE}"/>
              </a:ext>
            </a:extLst>
          </p:cNvPr>
          <p:cNvSpPr/>
          <p:nvPr/>
        </p:nvSpPr>
        <p:spPr>
          <a:xfrm>
            <a:off x="85725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Desktop assistant retrieves rules and programs</a:t>
            </a:r>
            <a:endParaRPr lang="en-US" sz="1200"/>
          </a:p>
        </p:txBody>
      </p:sp>
      <p:sp>
        <p:nvSpPr>
          <p:cNvPr id="203" name="Text 55">
            <a:extLst>
              <a:ext uri="{FF2B5EF4-FFF2-40B4-BE49-F238E27FC236}">
                <a16:creationId xmlns:a16="http://schemas.microsoft.com/office/drawing/2014/main" id="{2DF78FED-6FA2-F636-7C71-B222C9DD525E}"/>
              </a:ext>
            </a:extLst>
          </p:cNvPr>
          <p:cNvSpPr/>
          <p:nvPr/>
        </p:nvSpPr>
        <p:spPr>
          <a:xfrm>
            <a:off x="101854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Tailored benefit and care support plan</a:t>
            </a:r>
            <a:endParaRPr lang="en-US" sz="1200"/>
          </a:p>
        </p:txBody>
      </p:sp>
      <p:sp>
        <p:nvSpPr>
          <p:cNvPr id="204" name="Shape 56">
            <a:extLst>
              <a:ext uri="{FF2B5EF4-FFF2-40B4-BE49-F238E27FC236}">
                <a16:creationId xmlns:a16="http://schemas.microsoft.com/office/drawing/2014/main" id="{0BF3DABB-DFC3-0D1C-FBDC-5768D130F701}"/>
              </a:ext>
            </a:extLst>
          </p:cNvPr>
          <p:cNvSpPr/>
          <p:nvPr/>
        </p:nvSpPr>
        <p:spPr>
          <a:xfrm>
            <a:off x="820740" y="558868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05" name="Shape 57">
            <a:extLst>
              <a:ext uri="{FF2B5EF4-FFF2-40B4-BE49-F238E27FC236}">
                <a16:creationId xmlns:a16="http://schemas.microsoft.com/office/drawing/2014/main" id="{FDC92EFF-CB5D-93F9-B7B6-48E8B25020AB}"/>
              </a:ext>
            </a:extLst>
          </p:cNvPr>
          <p:cNvSpPr/>
          <p:nvPr/>
        </p:nvSpPr>
        <p:spPr>
          <a:xfrm>
            <a:off x="820740" y="499813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07" name="Text 59">
            <a:extLst>
              <a:ext uri="{FF2B5EF4-FFF2-40B4-BE49-F238E27FC236}">
                <a16:creationId xmlns:a16="http://schemas.microsoft.com/office/drawing/2014/main" id="{DB8479EF-AEB2-95CF-DDDD-000DB9B764A9}"/>
              </a:ext>
            </a:extLst>
          </p:cNvPr>
          <p:cNvSpPr/>
          <p:nvPr/>
        </p:nvSpPr>
        <p:spPr>
          <a:xfrm>
            <a:off x="21542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5C1B5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Anxious → supported</a:t>
            </a:r>
            <a:endParaRPr lang="en-US" sz="1200"/>
          </a:p>
        </p:txBody>
      </p:sp>
      <p:sp>
        <p:nvSpPr>
          <p:cNvPr id="208" name="Text 60">
            <a:extLst>
              <a:ext uri="{FF2B5EF4-FFF2-40B4-BE49-F238E27FC236}">
                <a16:creationId xmlns:a16="http://schemas.microsoft.com/office/drawing/2014/main" id="{CA1824E0-A76E-26E9-7113-2BFE228C48BA}"/>
              </a:ext>
            </a:extLst>
          </p:cNvPr>
          <p:cNvSpPr/>
          <p:nvPr/>
        </p:nvSpPr>
        <p:spPr>
          <a:xfrm>
            <a:off x="37671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Uncertain → oriented</a:t>
            </a:r>
            <a:endParaRPr lang="en-US" sz="1200"/>
          </a:p>
        </p:txBody>
      </p:sp>
      <p:sp>
        <p:nvSpPr>
          <p:cNvPr id="209" name="Text 61">
            <a:extLst>
              <a:ext uri="{FF2B5EF4-FFF2-40B4-BE49-F238E27FC236}">
                <a16:creationId xmlns:a16="http://schemas.microsoft.com/office/drawing/2014/main" id="{FE15BC0C-3552-A92E-D96E-792E958CA16B}"/>
              </a:ext>
            </a:extLst>
          </p:cNvPr>
          <p:cNvSpPr/>
          <p:nvPr/>
        </p:nvSpPr>
        <p:spPr>
          <a:xfrm>
            <a:off x="53800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1F9D77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Overwhelmed → heard</a:t>
            </a:r>
            <a:endParaRPr lang="en-US" sz="1200"/>
          </a:p>
        </p:txBody>
      </p:sp>
      <p:sp>
        <p:nvSpPr>
          <p:cNvPr id="210" name="Text 62">
            <a:extLst>
              <a:ext uri="{FF2B5EF4-FFF2-40B4-BE49-F238E27FC236}">
                <a16:creationId xmlns:a16="http://schemas.microsoft.com/office/drawing/2014/main" id="{2A95AC4D-B9CD-8AC0-254B-6F8226C3C96C}"/>
              </a:ext>
            </a:extLst>
          </p:cNvPr>
          <p:cNvSpPr/>
          <p:nvPr/>
        </p:nvSpPr>
        <p:spPr>
          <a:xfrm>
            <a:off x="69929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ED4949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Concerned → reassured</a:t>
            </a:r>
            <a:endParaRPr lang="en-US" sz="1200"/>
          </a:p>
        </p:txBody>
      </p:sp>
      <p:sp>
        <p:nvSpPr>
          <p:cNvPr id="211" name="Text 63">
            <a:extLst>
              <a:ext uri="{FF2B5EF4-FFF2-40B4-BE49-F238E27FC236}">
                <a16:creationId xmlns:a16="http://schemas.microsoft.com/office/drawing/2014/main" id="{78892F1D-F119-961B-7AAC-A3CAA839E54E}"/>
              </a:ext>
            </a:extLst>
          </p:cNvPr>
          <p:cNvSpPr/>
          <p:nvPr/>
        </p:nvSpPr>
        <p:spPr>
          <a:xfrm>
            <a:off x="86058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2E5AAC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Relieved → confident</a:t>
            </a:r>
            <a:endParaRPr lang="en-US" sz="1200"/>
          </a:p>
        </p:txBody>
      </p:sp>
      <p:sp>
        <p:nvSpPr>
          <p:cNvPr id="212" name="Text 64">
            <a:extLst>
              <a:ext uri="{FF2B5EF4-FFF2-40B4-BE49-F238E27FC236}">
                <a16:creationId xmlns:a16="http://schemas.microsoft.com/office/drawing/2014/main" id="{7583214F-7A0E-14BF-B727-D67751882A93}"/>
              </a:ext>
            </a:extLst>
          </p:cNvPr>
          <p:cNvSpPr/>
          <p:nvPr/>
        </p:nvSpPr>
        <p:spPr>
          <a:xfrm>
            <a:off x="102187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1D224B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Clear → empowered</a:t>
            </a:r>
            <a:endParaRPr lang="en-US" sz="1200"/>
          </a:p>
        </p:txBody>
      </p:sp>
      <p:sp>
        <p:nvSpPr>
          <p:cNvPr id="230" name="Text 49">
            <a:extLst>
              <a:ext uri="{FF2B5EF4-FFF2-40B4-BE49-F238E27FC236}">
                <a16:creationId xmlns:a16="http://schemas.microsoft.com/office/drawing/2014/main" id="{4547AC2C-468C-F1E6-7DD9-2C34AD3559A8}"/>
              </a:ext>
            </a:extLst>
          </p:cNvPr>
          <p:cNvSpPr/>
          <p:nvPr/>
        </p:nvSpPr>
        <p:spPr>
          <a:xfrm>
            <a:off x="796925" y="5080689"/>
            <a:ext cx="12954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90">
                <a:solidFill>
                  <a:srgbClr val="7C86A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EMOTION</a:t>
            </a:r>
            <a:endParaRPr lang="en-US" sz="1200"/>
          </a:p>
        </p:txBody>
      </p:sp>
      <p:sp>
        <p:nvSpPr>
          <p:cNvPr id="262" name="Shape 71">
            <a:extLst>
              <a:ext uri="{FF2B5EF4-FFF2-40B4-BE49-F238E27FC236}">
                <a16:creationId xmlns:a16="http://schemas.microsoft.com/office/drawing/2014/main" id="{E4FB9A74-CD67-5A3A-2719-7C7CCB0769AB}"/>
              </a:ext>
            </a:extLst>
          </p:cNvPr>
          <p:cNvSpPr/>
          <p:nvPr/>
        </p:nvSpPr>
        <p:spPr>
          <a:xfrm>
            <a:off x="739776" y="5563472"/>
            <a:ext cx="10922000" cy="697210"/>
          </a:xfrm>
          <a:prstGeom prst="roundRect">
            <a:avLst>
              <a:gd name="adj" fmla="val 10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63" name="Text 72">
            <a:extLst>
              <a:ext uri="{FF2B5EF4-FFF2-40B4-BE49-F238E27FC236}">
                <a16:creationId xmlns:a16="http://schemas.microsoft.com/office/drawing/2014/main" id="{F1083DF5-036B-80ED-BD58-3AB514542B9C}"/>
              </a:ext>
            </a:extLst>
          </p:cNvPr>
          <p:cNvSpPr/>
          <p:nvPr/>
        </p:nvSpPr>
        <p:spPr>
          <a:xfrm>
            <a:off x="892176" y="5652372"/>
            <a:ext cx="11678920" cy="2082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17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AI RETRIEVES AND SYNTHESIZES</a:t>
            </a:r>
            <a:endParaRPr lang="en-US" sz="1200"/>
          </a:p>
        </p:txBody>
      </p:sp>
      <p:sp>
        <p:nvSpPr>
          <p:cNvPr id="264" name="Shape 73">
            <a:extLst>
              <a:ext uri="{FF2B5EF4-FFF2-40B4-BE49-F238E27FC236}">
                <a16:creationId xmlns:a16="http://schemas.microsoft.com/office/drawing/2014/main" id="{4681F5BF-2D77-C819-B422-51F5E43036D8}"/>
              </a:ext>
            </a:extLst>
          </p:cNvPr>
          <p:cNvSpPr/>
          <p:nvPr/>
        </p:nvSpPr>
        <p:spPr>
          <a:xfrm>
            <a:off x="892176" y="5898733"/>
            <a:ext cx="1077367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5" name="Text 74">
            <a:extLst>
              <a:ext uri="{FF2B5EF4-FFF2-40B4-BE49-F238E27FC236}">
                <a16:creationId xmlns:a16="http://schemas.microsoft.com/office/drawing/2014/main" id="{A69EB2B8-CBBE-45DE-7A64-283479867BBE}"/>
              </a:ext>
            </a:extLst>
          </p:cNvPr>
          <p:cNvSpPr/>
          <p:nvPr/>
        </p:nvSpPr>
        <p:spPr>
          <a:xfrm>
            <a:off x="974726" y="5936833"/>
            <a:ext cx="963067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Plan benefits</a:t>
            </a:r>
            <a:endParaRPr lang="en-US" sz="1200"/>
          </a:p>
        </p:txBody>
      </p:sp>
      <p:sp>
        <p:nvSpPr>
          <p:cNvPr id="266" name="Shape 75">
            <a:extLst>
              <a:ext uri="{FF2B5EF4-FFF2-40B4-BE49-F238E27FC236}">
                <a16:creationId xmlns:a16="http://schemas.microsoft.com/office/drawing/2014/main" id="{F29A705A-D0D9-B1EB-6175-EE7E8E41A943}"/>
              </a:ext>
            </a:extLst>
          </p:cNvPr>
          <p:cNvSpPr/>
          <p:nvPr/>
        </p:nvSpPr>
        <p:spPr>
          <a:xfrm>
            <a:off x="2245421" y="5898733"/>
            <a:ext cx="817711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7" name="Text 76">
            <a:extLst>
              <a:ext uri="{FF2B5EF4-FFF2-40B4-BE49-F238E27FC236}">
                <a16:creationId xmlns:a16="http://schemas.microsoft.com/office/drawing/2014/main" id="{4CDD3770-B276-F9B4-516C-B37FE0B2AB98}"/>
              </a:ext>
            </a:extLst>
          </p:cNvPr>
          <p:cNvSpPr/>
          <p:nvPr/>
        </p:nvSpPr>
        <p:spPr>
          <a:xfrm>
            <a:off x="2327971" y="5936833"/>
            <a:ext cx="703411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Providers</a:t>
            </a:r>
            <a:endParaRPr lang="en-US" sz="1200"/>
          </a:p>
        </p:txBody>
      </p:sp>
      <p:sp>
        <p:nvSpPr>
          <p:cNvPr id="268" name="Shape 77">
            <a:extLst>
              <a:ext uri="{FF2B5EF4-FFF2-40B4-BE49-F238E27FC236}">
                <a16:creationId xmlns:a16="http://schemas.microsoft.com/office/drawing/2014/main" id="{ADB561D6-E30C-18EF-C952-2BB17117771C}"/>
              </a:ext>
            </a:extLst>
          </p:cNvPr>
          <p:cNvSpPr/>
          <p:nvPr/>
        </p:nvSpPr>
        <p:spPr>
          <a:xfrm>
            <a:off x="3339010" y="5898733"/>
            <a:ext cx="844847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9" name="Text 78">
            <a:extLst>
              <a:ext uri="{FF2B5EF4-FFF2-40B4-BE49-F238E27FC236}">
                <a16:creationId xmlns:a16="http://schemas.microsoft.com/office/drawing/2014/main" id="{EFB93107-DD1E-A3DB-E9FD-04C0E3264B4F}"/>
              </a:ext>
            </a:extLst>
          </p:cNvPr>
          <p:cNvSpPr/>
          <p:nvPr/>
        </p:nvSpPr>
        <p:spPr>
          <a:xfrm>
            <a:off x="3421560" y="5936833"/>
            <a:ext cx="730547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Prior auth</a:t>
            </a:r>
            <a:endParaRPr lang="en-US" sz="1200"/>
          </a:p>
        </p:txBody>
      </p:sp>
      <p:sp>
        <p:nvSpPr>
          <p:cNvPr id="270" name="Shape 79">
            <a:extLst>
              <a:ext uri="{FF2B5EF4-FFF2-40B4-BE49-F238E27FC236}">
                <a16:creationId xmlns:a16="http://schemas.microsoft.com/office/drawing/2014/main" id="{BB652AAE-1C92-7A47-293E-1F3C1136245B}"/>
              </a:ext>
            </a:extLst>
          </p:cNvPr>
          <p:cNvSpPr/>
          <p:nvPr/>
        </p:nvSpPr>
        <p:spPr>
          <a:xfrm>
            <a:off x="4459735" y="5898733"/>
            <a:ext cx="1009402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1" name="Text 80">
            <a:extLst>
              <a:ext uri="{FF2B5EF4-FFF2-40B4-BE49-F238E27FC236}">
                <a16:creationId xmlns:a16="http://schemas.microsoft.com/office/drawing/2014/main" id="{D05AAE33-42B6-FEA8-2FCC-514669F646A4}"/>
              </a:ext>
            </a:extLst>
          </p:cNvPr>
          <p:cNvSpPr/>
          <p:nvPr/>
        </p:nvSpPr>
        <p:spPr>
          <a:xfrm>
            <a:off x="4542285" y="5936833"/>
            <a:ext cx="895102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Medications</a:t>
            </a:r>
            <a:endParaRPr lang="en-US" sz="1200"/>
          </a:p>
        </p:txBody>
      </p:sp>
      <p:sp>
        <p:nvSpPr>
          <p:cNvPr id="272" name="Shape 81">
            <a:extLst>
              <a:ext uri="{FF2B5EF4-FFF2-40B4-BE49-F238E27FC236}">
                <a16:creationId xmlns:a16="http://schemas.microsoft.com/office/drawing/2014/main" id="{53DA26E9-494E-8318-C4E0-129743A2AD85}"/>
              </a:ext>
            </a:extLst>
          </p:cNvPr>
          <p:cNvSpPr/>
          <p:nvPr/>
        </p:nvSpPr>
        <p:spPr>
          <a:xfrm>
            <a:off x="5745064" y="5898733"/>
            <a:ext cx="715417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3" name="Text 82">
            <a:extLst>
              <a:ext uri="{FF2B5EF4-FFF2-40B4-BE49-F238E27FC236}">
                <a16:creationId xmlns:a16="http://schemas.microsoft.com/office/drawing/2014/main" id="{16352774-D71C-1955-4866-B4B8960BDD08}"/>
              </a:ext>
            </a:extLst>
          </p:cNvPr>
          <p:cNvSpPr/>
          <p:nvPr/>
        </p:nvSpPr>
        <p:spPr>
          <a:xfrm>
            <a:off x="5827614" y="5936833"/>
            <a:ext cx="601117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Devices</a:t>
            </a:r>
            <a:endParaRPr lang="en-US" sz="1200"/>
          </a:p>
        </p:txBody>
      </p:sp>
      <p:sp>
        <p:nvSpPr>
          <p:cNvPr id="274" name="Shape 83">
            <a:extLst>
              <a:ext uri="{FF2B5EF4-FFF2-40B4-BE49-F238E27FC236}">
                <a16:creationId xmlns:a16="http://schemas.microsoft.com/office/drawing/2014/main" id="{9DAD7960-1125-84C2-D758-EE64934648AA}"/>
              </a:ext>
            </a:extLst>
          </p:cNvPr>
          <p:cNvSpPr/>
          <p:nvPr/>
        </p:nvSpPr>
        <p:spPr>
          <a:xfrm>
            <a:off x="6736359" y="5898733"/>
            <a:ext cx="1530945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5" name="Text 84">
            <a:extLst>
              <a:ext uri="{FF2B5EF4-FFF2-40B4-BE49-F238E27FC236}">
                <a16:creationId xmlns:a16="http://schemas.microsoft.com/office/drawing/2014/main" id="{B91CB7D1-AABC-ABF3-CBEE-9F5065FE6A2D}"/>
              </a:ext>
            </a:extLst>
          </p:cNvPr>
          <p:cNvSpPr/>
          <p:nvPr/>
        </p:nvSpPr>
        <p:spPr>
          <a:xfrm>
            <a:off x="6818909" y="5936833"/>
            <a:ext cx="1416645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Condition programs</a:t>
            </a:r>
            <a:endParaRPr lang="en-US" sz="1200"/>
          </a:p>
        </p:txBody>
      </p:sp>
      <p:sp>
        <p:nvSpPr>
          <p:cNvPr id="276" name="Shape 85">
            <a:extLst>
              <a:ext uri="{FF2B5EF4-FFF2-40B4-BE49-F238E27FC236}">
                <a16:creationId xmlns:a16="http://schemas.microsoft.com/office/drawing/2014/main" id="{BAFC369C-32E7-8F45-C1CC-3EBB0A2F5CFF}"/>
              </a:ext>
            </a:extLst>
          </p:cNvPr>
          <p:cNvSpPr/>
          <p:nvPr/>
        </p:nvSpPr>
        <p:spPr>
          <a:xfrm>
            <a:off x="8543182" y="5898733"/>
            <a:ext cx="1381423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7" name="Text 86">
            <a:extLst>
              <a:ext uri="{FF2B5EF4-FFF2-40B4-BE49-F238E27FC236}">
                <a16:creationId xmlns:a16="http://schemas.microsoft.com/office/drawing/2014/main" id="{20820E6D-DFB8-CD5A-2304-07F817F54FFF}"/>
              </a:ext>
            </a:extLst>
          </p:cNvPr>
          <p:cNvSpPr/>
          <p:nvPr/>
        </p:nvSpPr>
        <p:spPr>
          <a:xfrm>
            <a:off x="8625732" y="5936833"/>
            <a:ext cx="126712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Ancillary services</a:t>
            </a:r>
            <a:endParaRPr lang="en-US" sz="1200"/>
          </a:p>
        </p:txBody>
      </p:sp>
      <p:sp>
        <p:nvSpPr>
          <p:cNvPr id="278" name="Shape 87">
            <a:extLst>
              <a:ext uri="{FF2B5EF4-FFF2-40B4-BE49-F238E27FC236}">
                <a16:creationId xmlns:a16="http://schemas.microsoft.com/office/drawing/2014/main" id="{BB2DDD5D-02F1-0DF6-D864-4ADBC895A4FC}"/>
              </a:ext>
            </a:extLst>
          </p:cNvPr>
          <p:cNvSpPr/>
          <p:nvPr/>
        </p:nvSpPr>
        <p:spPr>
          <a:xfrm>
            <a:off x="10200482" y="5898733"/>
            <a:ext cx="1308894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9" name="Text 88">
            <a:extLst>
              <a:ext uri="{FF2B5EF4-FFF2-40B4-BE49-F238E27FC236}">
                <a16:creationId xmlns:a16="http://schemas.microsoft.com/office/drawing/2014/main" id="{4D41861B-4FEA-DC66-D21C-CA54D1973D05}"/>
              </a:ext>
            </a:extLst>
          </p:cNvPr>
          <p:cNvSpPr/>
          <p:nvPr/>
        </p:nvSpPr>
        <p:spPr>
          <a:xfrm>
            <a:off x="10283032" y="5936833"/>
            <a:ext cx="1194594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Member context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16696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5D32-2987-50E5-4213-20F09BC2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9C55F4-9E12-C0A0-2942-A69800C2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How it works together</a:t>
            </a:r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4F4FD62A-7572-0E7C-56A7-E3A5DB22C07E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40FEDA31-CD5A-7978-F263-F4FA72869382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847A6B05-D2AF-0231-174F-0EA856C6AE1E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A2753E5A-AF71-E3F1-7C69-49BDD4D2D3A6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13E45930-D923-2456-794F-2460827268B6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C2165F30-65E2-FC57-47D2-075C4D783972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BB415F74-AC2A-A586-C25E-4B667E2408E2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7EBA0FF5-745A-8432-09CD-2E17FC1D4D7B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2449EE1A-47CF-4B9A-AE30-291F30593445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67A0281B-6964-DB26-4F66-96E75BD79A86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8FF5B46A-1BAA-7DF7-DBF4-989FDBA52B3E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CCC38E66-6367-1E34-9C14-EA09878EE60E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27148031-425F-0F82-B770-FB7B364D1424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66C38FB5-235C-0214-C665-B87862B461F5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A7997A27-4311-7BAB-DDB4-1A81A7061ACC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sp>
        <p:nvSpPr>
          <p:cNvPr id="98" name="Shape 6">
            <a:extLst>
              <a:ext uri="{FF2B5EF4-FFF2-40B4-BE49-F238E27FC236}">
                <a16:creationId xmlns:a16="http://schemas.microsoft.com/office/drawing/2014/main" id="{DE034650-DBF1-0E60-895F-CAAEA57D9B92}"/>
              </a:ext>
            </a:extLst>
          </p:cNvPr>
          <p:cNvSpPr/>
          <p:nvPr/>
        </p:nvSpPr>
        <p:spPr>
          <a:xfrm>
            <a:off x="640080" y="1673352"/>
            <a:ext cx="1092708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E4EAF6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Shape 7">
            <a:extLst>
              <a:ext uri="{FF2B5EF4-FFF2-40B4-BE49-F238E27FC236}">
                <a16:creationId xmlns:a16="http://schemas.microsoft.com/office/drawing/2014/main" id="{F93856A8-48DE-9340-B211-1BA244FF0BB6}"/>
              </a:ext>
            </a:extLst>
          </p:cNvPr>
          <p:cNvSpPr/>
          <p:nvPr/>
        </p:nvSpPr>
        <p:spPr>
          <a:xfrm>
            <a:off x="1051560" y="2029968"/>
            <a:ext cx="10104120" cy="960120"/>
          </a:xfrm>
          <a:prstGeom prst="roundRect">
            <a:avLst>
              <a:gd name="adj" fmla="val 13333"/>
            </a:avLst>
          </a:prstGeom>
          <a:solidFill>
            <a:srgbClr val="F7FAFF"/>
          </a:solidFill>
          <a:ln w="12700">
            <a:solidFill>
              <a:srgbClr val="DCE8FF"/>
            </a:solidFill>
            <a:prstDash val="solid"/>
          </a:ln>
          <a:effectLst>
            <a:outerShdw blurRad="22860" dist="50800" dir="2700000" algn="bl" rotWithShape="0">
              <a:srgbClr val="B9C7F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0" name="Image 1" descr="preencoded.png">
            <a:extLst>
              <a:ext uri="{FF2B5EF4-FFF2-40B4-BE49-F238E27FC236}">
                <a16:creationId xmlns:a16="http://schemas.microsoft.com/office/drawing/2014/main" id="{33B3AD59-E83A-2DE9-EE20-893B1553C1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7592" y="2212848"/>
            <a:ext cx="475488" cy="475488"/>
          </a:xfrm>
          <a:prstGeom prst="rect">
            <a:avLst/>
          </a:prstGeom>
        </p:spPr>
      </p:pic>
      <p:sp>
        <p:nvSpPr>
          <p:cNvPr id="102" name="Text 9">
            <a:extLst>
              <a:ext uri="{FF2B5EF4-FFF2-40B4-BE49-F238E27FC236}">
                <a16:creationId xmlns:a16="http://schemas.microsoft.com/office/drawing/2014/main" id="{FE4D07F2-E4C0-E393-3B6D-8EE41D59297D}"/>
              </a:ext>
            </a:extLst>
          </p:cNvPr>
          <p:cNvSpPr/>
          <p:nvPr/>
        </p:nvSpPr>
        <p:spPr>
          <a:xfrm>
            <a:off x="1938528" y="23591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Meet the Member</a:t>
            </a:r>
            <a:endParaRPr lang="en-US" sz="1800"/>
          </a:p>
        </p:txBody>
      </p:sp>
      <p:sp>
        <p:nvSpPr>
          <p:cNvPr id="103" name="Text 10">
            <a:extLst>
              <a:ext uri="{FF2B5EF4-FFF2-40B4-BE49-F238E27FC236}">
                <a16:creationId xmlns:a16="http://schemas.microsoft.com/office/drawing/2014/main" id="{1EA14EF3-2428-504B-55ED-28724347515D}"/>
              </a:ext>
            </a:extLst>
          </p:cNvPr>
          <p:cNvSpPr/>
          <p:nvPr/>
        </p:nvSpPr>
        <p:spPr>
          <a:xfrm>
            <a:off x="1938528" y="26609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596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touchpoints that make service feel simple.</a:t>
            </a:r>
            <a:endParaRPr lang="en-US" sz="1050"/>
          </a:p>
        </p:txBody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06A515FB-3357-3B26-5F38-7ECC872888F1}"/>
              </a:ext>
            </a:extLst>
          </p:cNvPr>
          <p:cNvSpPr/>
          <p:nvPr/>
        </p:nvSpPr>
        <p:spPr>
          <a:xfrm>
            <a:off x="6769610" y="2350579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2">
            <a:extLst>
              <a:ext uri="{FF2B5EF4-FFF2-40B4-BE49-F238E27FC236}">
                <a16:creationId xmlns:a16="http://schemas.microsoft.com/office/drawing/2014/main" id="{46A3AF4B-7C10-9AEB-6F6F-B48E95CBCB5E}"/>
              </a:ext>
            </a:extLst>
          </p:cNvPr>
          <p:cNvSpPr/>
          <p:nvPr/>
        </p:nvSpPr>
        <p:spPr>
          <a:xfrm>
            <a:off x="6769610" y="2428303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880"/>
          </a:p>
        </p:txBody>
      </p:sp>
      <p:sp>
        <p:nvSpPr>
          <p:cNvPr id="106" name="Shape 13">
            <a:extLst>
              <a:ext uri="{FF2B5EF4-FFF2-40B4-BE49-F238E27FC236}">
                <a16:creationId xmlns:a16="http://schemas.microsoft.com/office/drawing/2014/main" id="{845AFF53-EB8E-F029-67B0-CE865556BBC6}"/>
              </a:ext>
            </a:extLst>
          </p:cNvPr>
          <p:cNvSpPr/>
          <p:nvPr/>
        </p:nvSpPr>
        <p:spPr>
          <a:xfrm>
            <a:off x="7546850" y="2350579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4">
            <a:extLst>
              <a:ext uri="{FF2B5EF4-FFF2-40B4-BE49-F238E27FC236}">
                <a16:creationId xmlns:a16="http://schemas.microsoft.com/office/drawing/2014/main" id="{AB76A2E5-E541-7AF3-76E9-AF2BC64E3B1A}"/>
              </a:ext>
            </a:extLst>
          </p:cNvPr>
          <p:cNvSpPr/>
          <p:nvPr/>
        </p:nvSpPr>
        <p:spPr>
          <a:xfrm>
            <a:off x="7546850" y="2428303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</a:t>
            </a:r>
            <a:endParaRPr lang="en-US" sz="880"/>
          </a:p>
        </p:txBody>
      </p:sp>
      <p:sp>
        <p:nvSpPr>
          <p:cNvPr id="108" name="Shape 15">
            <a:extLst>
              <a:ext uri="{FF2B5EF4-FFF2-40B4-BE49-F238E27FC236}">
                <a16:creationId xmlns:a16="http://schemas.microsoft.com/office/drawing/2014/main" id="{97F9646A-6DDA-B225-C31C-668B4205FF52}"/>
              </a:ext>
            </a:extLst>
          </p:cNvPr>
          <p:cNvSpPr/>
          <p:nvPr/>
        </p:nvSpPr>
        <p:spPr>
          <a:xfrm>
            <a:off x="8442962" y="2350579"/>
            <a:ext cx="621792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6">
            <a:extLst>
              <a:ext uri="{FF2B5EF4-FFF2-40B4-BE49-F238E27FC236}">
                <a16:creationId xmlns:a16="http://schemas.microsoft.com/office/drawing/2014/main" id="{7DA676F2-438A-B929-F7D3-7C7E69376A79}"/>
              </a:ext>
            </a:extLst>
          </p:cNvPr>
          <p:cNvSpPr/>
          <p:nvPr/>
        </p:nvSpPr>
        <p:spPr>
          <a:xfrm>
            <a:off x="8442962" y="2428303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880"/>
          </a:p>
        </p:txBody>
      </p:sp>
      <p:sp>
        <p:nvSpPr>
          <p:cNvPr id="110" name="Shape 17">
            <a:extLst>
              <a:ext uri="{FF2B5EF4-FFF2-40B4-BE49-F238E27FC236}">
                <a16:creationId xmlns:a16="http://schemas.microsoft.com/office/drawing/2014/main" id="{074AFD19-4EDF-CAEA-98F6-A06D0FC674C8}"/>
              </a:ext>
            </a:extLst>
          </p:cNvPr>
          <p:cNvSpPr/>
          <p:nvPr/>
        </p:nvSpPr>
        <p:spPr>
          <a:xfrm>
            <a:off x="9174482" y="2350579"/>
            <a:ext cx="621792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8">
            <a:extLst>
              <a:ext uri="{FF2B5EF4-FFF2-40B4-BE49-F238E27FC236}">
                <a16:creationId xmlns:a16="http://schemas.microsoft.com/office/drawing/2014/main" id="{CF9157A2-2E3C-AA41-A108-F3E5B0A69395}"/>
              </a:ext>
            </a:extLst>
          </p:cNvPr>
          <p:cNvSpPr/>
          <p:nvPr/>
        </p:nvSpPr>
        <p:spPr>
          <a:xfrm>
            <a:off x="9174482" y="2428303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880"/>
          </a:p>
        </p:txBody>
      </p:sp>
      <p:sp>
        <p:nvSpPr>
          <p:cNvPr id="112" name="Shape 19">
            <a:extLst>
              <a:ext uri="{FF2B5EF4-FFF2-40B4-BE49-F238E27FC236}">
                <a16:creationId xmlns:a16="http://schemas.microsoft.com/office/drawing/2014/main" id="{22B2F455-8B3D-54FC-77EC-BC5418C26BEB}"/>
              </a:ext>
            </a:extLst>
          </p:cNvPr>
          <p:cNvSpPr/>
          <p:nvPr/>
        </p:nvSpPr>
        <p:spPr>
          <a:xfrm>
            <a:off x="9906002" y="2350579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20">
            <a:extLst>
              <a:ext uri="{FF2B5EF4-FFF2-40B4-BE49-F238E27FC236}">
                <a16:creationId xmlns:a16="http://schemas.microsoft.com/office/drawing/2014/main" id="{7EB367F9-5D7B-005B-7635-376F56039365}"/>
              </a:ext>
            </a:extLst>
          </p:cNvPr>
          <p:cNvSpPr/>
          <p:nvPr/>
        </p:nvSpPr>
        <p:spPr>
          <a:xfrm>
            <a:off x="9906002" y="2428303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880"/>
          </a:p>
        </p:txBody>
      </p:sp>
      <p:sp>
        <p:nvSpPr>
          <p:cNvPr id="114" name="Shape 21">
            <a:extLst>
              <a:ext uri="{FF2B5EF4-FFF2-40B4-BE49-F238E27FC236}">
                <a16:creationId xmlns:a16="http://schemas.microsoft.com/office/drawing/2014/main" id="{FE703FFD-454A-4A70-FD46-EAD88227B2C3}"/>
              </a:ext>
            </a:extLst>
          </p:cNvPr>
          <p:cNvSpPr/>
          <p:nvPr/>
        </p:nvSpPr>
        <p:spPr>
          <a:xfrm>
            <a:off x="1051560" y="3273552"/>
            <a:ext cx="10104120" cy="1143000"/>
          </a:xfrm>
          <a:prstGeom prst="roundRect">
            <a:avLst>
              <a:gd name="adj" fmla="val 11200"/>
            </a:avLst>
          </a:prstGeom>
          <a:solidFill>
            <a:srgbClr val="151A44"/>
          </a:solidFill>
          <a:ln w="12700">
            <a:solidFill>
              <a:srgbClr val="151A44"/>
            </a:solidFill>
            <a:prstDash val="solid"/>
          </a:ln>
          <a:effectLst>
            <a:outerShdw blurRad="22860" dist="50800" dir="2700000" algn="bl" rotWithShape="0">
              <a:srgbClr val="B9C7F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5" name="Image 2" descr="preencoded.png">
            <a:extLst>
              <a:ext uri="{FF2B5EF4-FFF2-40B4-BE49-F238E27FC236}">
                <a16:creationId xmlns:a16="http://schemas.microsoft.com/office/drawing/2014/main" id="{0CEB59E4-F160-D1F0-F4B2-6B8B7EAD6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6736" y="3575304"/>
            <a:ext cx="530352" cy="530352"/>
          </a:xfrm>
          <a:prstGeom prst="rect">
            <a:avLst/>
          </a:prstGeom>
        </p:spPr>
      </p:pic>
      <p:sp>
        <p:nvSpPr>
          <p:cNvPr id="117" name="Text 23">
            <a:extLst>
              <a:ext uri="{FF2B5EF4-FFF2-40B4-BE49-F238E27FC236}">
                <a16:creationId xmlns:a16="http://schemas.microsoft.com/office/drawing/2014/main" id="{7DAF9D86-DE2B-C7AD-4D35-309F8353B0BC}"/>
              </a:ext>
            </a:extLst>
          </p:cNvPr>
          <p:cNvSpPr/>
          <p:nvPr/>
        </p:nvSpPr>
        <p:spPr>
          <a:xfrm>
            <a:off x="1975104" y="3657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Orchestration</a:t>
            </a:r>
            <a:endParaRPr lang="en-US" sz="1800"/>
          </a:p>
        </p:txBody>
      </p:sp>
      <p:sp>
        <p:nvSpPr>
          <p:cNvPr id="118" name="Text 24">
            <a:extLst>
              <a:ext uri="{FF2B5EF4-FFF2-40B4-BE49-F238E27FC236}">
                <a16:creationId xmlns:a16="http://schemas.microsoft.com/office/drawing/2014/main" id="{06FFFCC0-E799-80CD-D231-263AFBE146AB}"/>
              </a:ext>
            </a:extLst>
          </p:cNvPr>
          <p:cNvSpPr/>
          <p:nvPr/>
        </p:nvSpPr>
        <p:spPr>
          <a:xfrm>
            <a:off x="1975104" y="3968496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Plans, routes, calls systems, escalates when needed, and moves the journey forward.</a:t>
            </a:r>
            <a:endParaRPr lang="en-US" sz="1050"/>
          </a:p>
        </p:txBody>
      </p:sp>
      <p:sp>
        <p:nvSpPr>
          <p:cNvPr id="119" name="Shape 25">
            <a:extLst>
              <a:ext uri="{FF2B5EF4-FFF2-40B4-BE49-F238E27FC236}">
                <a16:creationId xmlns:a16="http://schemas.microsoft.com/office/drawing/2014/main" id="{7679C9F8-92CC-D76D-D81C-0267A245E193}"/>
              </a:ext>
            </a:extLst>
          </p:cNvPr>
          <p:cNvSpPr/>
          <p:nvPr/>
        </p:nvSpPr>
        <p:spPr>
          <a:xfrm>
            <a:off x="6894576" y="3638147"/>
            <a:ext cx="329184" cy="329184"/>
          </a:xfrm>
          <a:prstGeom prst="ellipse">
            <a:avLst/>
          </a:prstGeom>
          <a:solidFill>
            <a:srgbClr val="25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26">
            <a:extLst>
              <a:ext uri="{FF2B5EF4-FFF2-40B4-BE49-F238E27FC236}">
                <a16:creationId xmlns:a16="http://schemas.microsoft.com/office/drawing/2014/main" id="{DBD64601-BD9A-118A-E14B-79E52C58DC9E}"/>
              </a:ext>
            </a:extLst>
          </p:cNvPr>
          <p:cNvSpPr/>
          <p:nvPr/>
        </p:nvSpPr>
        <p:spPr>
          <a:xfrm>
            <a:off x="6894576" y="3725015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/>
          </a:p>
        </p:txBody>
      </p:sp>
      <p:sp>
        <p:nvSpPr>
          <p:cNvPr id="121" name="Text 27">
            <a:extLst>
              <a:ext uri="{FF2B5EF4-FFF2-40B4-BE49-F238E27FC236}">
                <a16:creationId xmlns:a16="http://schemas.microsoft.com/office/drawing/2014/main" id="{0D7A9F34-0E88-5257-8DCA-61AB4C49115D}"/>
              </a:ext>
            </a:extLst>
          </p:cNvPr>
          <p:cNvSpPr/>
          <p:nvPr/>
        </p:nvSpPr>
        <p:spPr>
          <a:xfrm>
            <a:off x="6647688" y="405877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intent</a:t>
            </a:r>
            <a:endParaRPr lang="en-US" sz="810"/>
          </a:p>
        </p:txBody>
      </p:sp>
      <p:sp>
        <p:nvSpPr>
          <p:cNvPr id="122" name="Shape 28">
            <a:extLst>
              <a:ext uri="{FF2B5EF4-FFF2-40B4-BE49-F238E27FC236}">
                <a16:creationId xmlns:a16="http://schemas.microsoft.com/office/drawing/2014/main" id="{092E31F2-D4D0-A0A1-9DD4-231ABF51C75E}"/>
              </a:ext>
            </a:extLst>
          </p:cNvPr>
          <p:cNvSpPr/>
          <p:nvPr/>
        </p:nvSpPr>
        <p:spPr>
          <a:xfrm>
            <a:off x="7260336" y="3802739"/>
            <a:ext cx="594360" cy="0"/>
          </a:xfrm>
          <a:prstGeom prst="line">
            <a:avLst/>
          </a:prstGeom>
          <a:noFill/>
          <a:ln w="13970">
            <a:solidFill>
              <a:srgbClr val="7BA7FF">
                <a:alpha val="7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29">
            <a:extLst>
              <a:ext uri="{FF2B5EF4-FFF2-40B4-BE49-F238E27FC236}">
                <a16:creationId xmlns:a16="http://schemas.microsoft.com/office/drawing/2014/main" id="{AA8D069A-437E-541A-2C0F-B0A8BF3055BC}"/>
              </a:ext>
            </a:extLst>
          </p:cNvPr>
          <p:cNvSpPr/>
          <p:nvPr/>
        </p:nvSpPr>
        <p:spPr>
          <a:xfrm>
            <a:off x="7955280" y="3638147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30">
            <a:extLst>
              <a:ext uri="{FF2B5EF4-FFF2-40B4-BE49-F238E27FC236}">
                <a16:creationId xmlns:a16="http://schemas.microsoft.com/office/drawing/2014/main" id="{4A66FED9-B681-86A2-AFD3-9398859919AF}"/>
              </a:ext>
            </a:extLst>
          </p:cNvPr>
          <p:cNvSpPr/>
          <p:nvPr/>
        </p:nvSpPr>
        <p:spPr>
          <a:xfrm>
            <a:off x="7955280" y="3725015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/>
          </a:p>
        </p:txBody>
      </p:sp>
      <p:sp>
        <p:nvSpPr>
          <p:cNvPr id="125" name="Text 31">
            <a:extLst>
              <a:ext uri="{FF2B5EF4-FFF2-40B4-BE49-F238E27FC236}">
                <a16:creationId xmlns:a16="http://schemas.microsoft.com/office/drawing/2014/main" id="{5E233482-8DE3-66C8-454B-2980236A4AD3}"/>
              </a:ext>
            </a:extLst>
          </p:cNvPr>
          <p:cNvSpPr/>
          <p:nvPr/>
        </p:nvSpPr>
        <p:spPr>
          <a:xfrm>
            <a:off x="7708392" y="405877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or route</a:t>
            </a:r>
            <a:endParaRPr lang="en-US" sz="810"/>
          </a:p>
        </p:txBody>
      </p:sp>
      <p:sp>
        <p:nvSpPr>
          <p:cNvPr id="126" name="Shape 32">
            <a:extLst>
              <a:ext uri="{FF2B5EF4-FFF2-40B4-BE49-F238E27FC236}">
                <a16:creationId xmlns:a16="http://schemas.microsoft.com/office/drawing/2014/main" id="{5D776461-8BAE-F4BD-13C0-205CF8FCB1D0}"/>
              </a:ext>
            </a:extLst>
          </p:cNvPr>
          <p:cNvSpPr/>
          <p:nvPr/>
        </p:nvSpPr>
        <p:spPr>
          <a:xfrm>
            <a:off x="8321040" y="3802739"/>
            <a:ext cx="594360" cy="0"/>
          </a:xfrm>
          <a:prstGeom prst="line">
            <a:avLst/>
          </a:prstGeom>
          <a:noFill/>
          <a:ln w="13970">
            <a:solidFill>
              <a:srgbClr val="7BA7FF">
                <a:alpha val="7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33">
            <a:extLst>
              <a:ext uri="{FF2B5EF4-FFF2-40B4-BE49-F238E27FC236}">
                <a16:creationId xmlns:a16="http://schemas.microsoft.com/office/drawing/2014/main" id="{64BC5F36-9A9E-A5EF-EA86-CA71B7028BB7}"/>
              </a:ext>
            </a:extLst>
          </p:cNvPr>
          <p:cNvSpPr/>
          <p:nvPr/>
        </p:nvSpPr>
        <p:spPr>
          <a:xfrm>
            <a:off x="9015984" y="3638147"/>
            <a:ext cx="329184" cy="329184"/>
          </a:xfrm>
          <a:prstGeom prst="ellipse">
            <a:avLst/>
          </a:prstGeom>
          <a:solidFill>
            <a:srgbClr val="25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34">
            <a:extLst>
              <a:ext uri="{FF2B5EF4-FFF2-40B4-BE49-F238E27FC236}">
                <a16:creationId xmlns:a16="http://schemas.microsoft.com/office/drawing/2014/main" id="{E66E2D00-B872-992A-A596-672259C9F528}"/>
              </a:ext>
            </a:extLst>
          </p:cNvPr>
          <p:cNvSpPr/>
          <p:nvPr/>
        </p:nvSpPr>
        <p:spPr>
          <a:xfrm>
            <a:off x="9015984" y="3725015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/>
          </a:p>
        </p:txBody>
      </p:sp>
      <p:sp>
        <p:nvSpPr>
          <p:cNvPr id="129" name="Text 35">
            <a:extLst>
              <a:ext uri="{FF2B5EF4-FFF2-40B4-BE49-F238E27FC236}">
                <a16:creationId xmlns:a16="http://schemas.microsoft.com/office/drawing/2014/main" id="{F5E746E6-C38D-52F1-B069-EF1B373C306A}"/>
              </a:ext>
            </a:extLst>
          </p:cNvPr>
          <p:cNvSpPr/>
          <p:nvPr/>
        </p:nvSpPr>
        <p:spPr>
          <a:xfrm>
            <a:off x="8769096" y="405877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systems</a:t>
            </a:r>
            <a:endParaRPr lang="en-US" sz="810"/>
          </a:p>
        </p:txBody>
      </p:sp>
      <p:sp>
        <p:nvSpPr>
          <p:cNvPr id="130" name="Shape 36">
            <a:extLst>
              <a:ext uri="{FF2B5EF4-FFF2-40B4-BE49-F238E27FC236}">
                <a16:creationId xmlns:a16="http://schemas.microsoft.com/office/drawing/2014/main" id="{429B73E3-BA66-A52F-EC85-BDD5A607385C}"/>
              </a:ext>
            </a:extLst>
          </p:cNvPr>
          <p:cNvSpPr/>
          <p:nvPr/>
        </p:nvSpPr>
        <p:spPr>
          <a:xfrm>
            <a:off x="9381744" y="3802739"/>
            <a:ext cx="594360" cy="0"/>
          </a:xfrm>
          <a:prstGeom prst="line">
            <a:avLst/>
          </a:prstGeom>
          <a:noFill/>
          <a:ln w="13970">
            <a:solidFill>
              <a:srgbClr val="7BA7FF">
                <a:alpha val="7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37">
            <a:extLst>
              <a:ext uri="{FF2B5EF4-FFF2-40B4-BE49-F238E27FC236}">
                <a16:creationId xmlns:a16="http://schemas.microsoft.com/office/drawing/2014/main" id="{BE3B1B40-75B7-A424-3CF9-8C8110F66B9B}"/>
              </a:ext>
            </a:extLst>
          </p:cNvPr>
          <p:cNvSpPr/>
          <p:nvPr/>
        </p:nvSpPr>
        <p:spPr>
          <a:xfrm>
            <a:off x="10076688" y="3638147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38">
            <a:extLst>
              <a:ext uri="{FF2B5EF4-FFF2-40B4-BE49-F238E27FC236}">
                <a16:creationId xmlns:a16="http://schemas.microsoft.com/office/drawing/2014/main" id="{340BB3F3-D849-EF51-F6AC-E11A8DB64015}"/>
              </a:ext>
            </a:extLst>
          </p:cNvPr>
          <p:cNvSpPr/>
          <p:nvPr/>
        </p:nvSpPr>
        <p:spPr>
          <a:xfrm>
            <a:off x="10076688" y="3725015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/>
          </a:p>
        </p:txBody>
      </p:sp>
      <p:sp>
        <p:nvSpPr>
          <p:cNvPr id="133" name="Text 39">
            <a:extLst>
              <a:ext uri="{FF2B5EF4-FFF2-40B4-BE49-F238E27FC236}">
                <a16:creationId xmlns:a16="http://schemas.microsoft.com/office/drawing/2014/main" id="{9EE6312C-9E35-9BD8-6D6D-E81CD68C4017}"/>
              </a:ext>
            </a:extLst>
          </p:cNvPr>
          <p:cNvSpPr/>
          <p:nvPr/>
        </p:nvSpPr>
        <p:spPr>
          <a:xfrm>
            <a:off x="9829800" y="405877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context</a:t>
            </a:r>
            <a:endParaRPr lang="en-US" sz="810"/>
          </a:p>
        </p:txBody>
      </p:sp>
      <p:sp>
        <p:nvSpPr>
          <p:cNvPr id="134" name="Shape 40">
            <a:extLst>
              <a:ext uri="{FF2B5EF4-FFF2-40B4-BE49-F238E27FC236}">
                <a16:creationId xmlns:a16="http://schemas.microsoft.com/office/drawing/2014/main" id="{123F5510-2C2C-6354-BD0C-CA31856EEBBF}"/>
              </a:ext>
            </a:extLst>
          </p:cNvPr>
          <p:cNvSpPr/>
          <p:nvPr/>
        </p:nvSpPr>
        <p:spPr>
          <a:xfrm>
            <a:off x="1051560" y="4700016"/>
            <a:ext cx="10104120" cy="932688"/>
          </a:xfrm>
          <a:prstGeom prst="roundRect">
            <a:avLst>
              <a:gd name="adj" fmla="val 13725"/>
            </a:avLst>
          </a:prstGeom>
          <a:solidFill>
            <a:srgbClr val="F8F6FF"/>
          </a:solidFill>
          <a:ln w="12700">
            <a:solidFill>
              <a:srgbClr val="E6DDFF"/>
            </a:solidFill>
            <a:prstDash val="solid"/>
          </a:ln>
          <a:effectLst>
            <a:outerShdw blurRad="22860" dist="50800" dir="2700000" algn="bl" rotWithShape="0">
              <a:srgbClr val="B9C7F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5" name="Image 3" descr="preencoded.png">
            <a:extLst>
              <a:ext uri="{FF2B5EF4-FFF2-40B4-BE49-F238E27FC236}">
                <a16:creationId xmlns:a16="http://schemas.microsoft.com/office/drawing/2014/main" id="{C1DBDB60-D5D4-07C5-032A-BE8F4B20D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7592" y="4892040"/>
            <a:ext cx="475488" cy="475488"/>
          </a:xfrm>
          <a:prstGeom prst="rect">
            <a:avLst/>
          </a:prstGeom>
        </p:spPr>
      </p:pic>
      <p:sp>
        <p:nvSpPr>
          <p:cNvPr id="137" name="Text 42">
            <a:extLst>
              <a:ext uri="{FF2B5EF4-FFF2-40B4-BE49-F238E27FC236}">
                <a16:creationId xmlns:a16="http://schemas.microsoft.com/office/drawing/2014/main" id="{D789AE9F-FE26-A7E9-2EC9-A460C9D9BC70}"/>
              </a:ext>
            </a:extLst>
          </p:cNvPr>
          <p:cNvSpPr/>
          <p:nvPr/>
        </p:nvSpPr>
        <p:spPr>
          <a:xfrm>
            <a:off x="1938528" y="50109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Layer</a:t>
            </a:r>
            <a:endParaRPr lang="en-US" sz="1800"/>
          </a:p>
        </p:txBody>
      </p:sp>
      <p:sp>
        <p:nvSpPr>
          <p:cNvPr id="138" name="Text 43">
            <a:extLst>
              <a:ext uri="{FF2B5EF4-FFF2-40B4-BE49-F238E27FC236}">
                <a16:creationId xmlns:a16="http://schemas.microsoft.com/office/drawing/2014/main" id="{DA37081F-D26A-EB74-631F-6827F74502B7}"/>
              </a:ext>
            </a:extLst>
          </p:cNvPr>
          <p:cNvSpPr/>
          <p:nvPr/>
        </p:nvSpPr>
        <p:spPr>
          <a:xfrm>
            <a:off x="1938528" y="532180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>
                <a:solidFill>
                  <a:srgbClr val="596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knowledge, member context, history, benefits, policies, and continuous learning.</a:t>
            </a:r>
            <a:endParaRPr lang="en-US" sz="1050"/>
          </a:p>
        </p:txBody>
      </p:sp>
      <p:sp>
        <p:nvSpPr>
          <p:cNvPr id="139" name="Shape 44">
            <a:extLst>
              <a:ext uri="{FF2B5EF4-FFF2-40B4-BE49-F238E27FC236}">
                <a16:creationId xmlns:a16="http://schemas.microsoft.com/office/drawing/2014/main" id="{BDF26CFB-4BD4-930D-70A2-0937E2828491}"/>
              </a:ext>
            </a:extLst>
          </p:cNvPr>
          <p:cNvSpPr/>
          <p:nvPr/>
        </p:nvSpPr>
        <p:spPr>
          <a:xfrm>
            <a:off x="6620256" y="5042916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45">
            <a:extLst>
              <a:ext uri="{FF2B5EF4-FFF2-40B4-BE49-F238E27FC236}">
                <a16:creationId xmlns:a16="http://schemas.microsoft.com/office/drawing/2014/main" id="{96A52405-B95E-D4E2-A831-52404F1EA15C}"/>
              </a:ext>
            </a:extLst>
          </p:cNvPr>
          <p:cNvSpPr/>
          <p:nvPr/>
        </p:nvSpPr>
        <p:spPr>
          <a:xfrm>
            <a:off x="6620256" y="512064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content</a:t>
            </a:r>
            <a:endParaRPr lang="en-US" sz="880"/>
          </a:p>
        </p:txBody>
      </p:sp>
      <p:sp>
        <p:nvSpPr>
          <p:cNvPr id="141" name="Shape 46">
            <a:extLst>
              <a:ext uri="{FF2B5EF4-FFF2-40B4-BE49-F238E27FC236}">
                <a16:creationId xmlns:a16="http://schemas.microsoft.com/office/drawing/2014/main" id="{ED80164E-6C75-D9C4-06B9-7CDDD0268EBE}"/>
              </a:ext>
            </a:extLst>
          </p:cNvPr>
          <p:cNvSpPr/>
          <p:nvPr/>
        </p:nvSpPr>
        <p:spPr>
          <a:xfrm>
            <a:off x="7900416" y="5042916"/>
            <a:ext cx="1225296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47">
            <a:extLst>
              <a:ext uri="{FF2B5EF4-FFF2-40B4-BE49-F238E27FC236}">
                <a16:creationId xmlns:a16="http://schemas.microsoft.com/office/drawing/2014/main" id="{62D03FB3-D61C-B564-EFB1-5D3725872ED9}"/>
              </a:ext>
            </a:extLst>
          </p:cNvPr>
          <p:cNvSpPr/>
          <p:nvPr/>
        </p:nvSpPr>
        <p:spPr>
          <a:xfrm>
            <a:off x="7900416" y="512064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context</a:t>
            </a:r>
            <a:endParaRPr lang="en-US" sz="880"/>
          </a:p>
        </p:txBody>
      </p:sp>
      <p:sp>
        <p:nvSpPr>
          <p:cNvPr id="143" name="Shape 48">
            <a:extLst>
              <a:ext uri="{FF2B5EF4-FFF2-40B4-BE49-F238E27FC236}">
                <a16:creationId xmlns:a16="http://schemas.microsoft.com/office/drawing/2014/main" id="{3820A8CE-B5F2-FEC4-94B2-964069A86944}"/>
              </a:ext>
            </a:extLst>
          </p:cNvPr>
          <p:cNvSpPr/>
          <p:nvPr/>
        </p:nvSpPr>
        <p:spPr>
          <a:xfrm>
            <a:off x="9272016" y="5042916"/>
            <a:ext cx="7315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49">
            <a:extLst>
              <a:ext uri="{FF2B5EF4-FFF2-40B4-BE49-F238E27FC236}">
                <a16:creationId xmlns:a16="http://schemas.microsoft.com/office/drawing/2014/main" id="{E5CE54C1-7699-A114-7685-E407F53DDEBF}"/>
              </a:ext>
            </a:extLst>
          </p:cNvPr>
          <p:cNvSpPr/>
          <p:nvPr/>
        </p:nvSpPr>
        <p:spPr>
          <a:xfrm>
            <a:off x="9272016" y="512064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880"/>
          </a:p>
        </p:txBody>
      </p:sp>
      <p:sp>
        <p:nvSpPr>
          <p:cNvPr id="145" name="Shape 50">
            <a:extLst>
              <a:ext uri="{FF2B5EF4-FFF2-40B4-BE49-F238E27FC236}">
                <a16:creationId xmlns:a16="http://schemas.microsoft.com/office/drawing/2014/main" id="{3DA1B696-9952-F38B-0FA4-B13AEC120559}"/>
              </a:ext>
            </a:extLst>
          </p:cNvPr>
          <p:cNvSpPr/>
          <p:nvPr/>
        </p:nvSpPr>
        <p:spPr>
          <a:xfrm>
            <a:off x="10140696" y="5042916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51">
            <a:extLst>
              <a:ext uri="{FF2B5EF4-FFF2-40B4-BE49-F238E27FC236}">
                <a16:creationId xmlns:a16="http://schemas.microsoft.com/office/drawing/2014/main" id="{EDFB8938-6536-ABA7-F826-C06FF7C2889F}"/>
              </a:ext>
            </a:extLst>
          </p:cNvPr>
          <p:cNvSpPr/>
          <p:nvPr/>
        </p:nvSpPr>
        <p:spPr>
          <a:xfrm>
            <a:off x="10140696" y="512064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880"/>
          </a:p>
        </p:txBody>
      </p:sp>
      <p:sp>
        <p:nvSpPr>
          <p:cNvPr id="147" name="Shape 52">
            <a:extLst>
              <a:ext uri="{FF2B5EF4-FFF2-40B4-BE49-F238E27FC236}">
                <a16:creationId xmlns:a16="http://schemas.microsoft.com/office/drawing/2014/main" id="{2D9F9088-4C2E-5FC7-C3E4-70C3733E042E}"/>
              </a:ext>
            </a:extLst>
          </p:cNvPr>
          <p:cNvSpPr/>
          <p:nvPr/>
        </p:nvSpPr>
        <p:spPr>
          <a:xfrm flipV="1">
            <a:off x="6080760" y="4434840"/>
            <a:ext cx="0" cy="256032"/>
          </a:xfrm>
          <a:prstGeom prst="line">
            <a:avLst/>
          </a:prstGeom>
          <a:noFill/>
          <a:ln w="22860">
            <a:solidFill>
              <a:srgbClr val="20D6F5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53">
            <a:extLst>
              <a:ext uri="{FF2B5EF4-FFF2-40B4-BE49-F238E27FC236}">
                <a16:creationId xmlns:a16="http://schemas.microsoft.com/office/drawing/2014/main" id="{E9291F68-2C08-4FD6-21D6-FBB97CD7589E}"/>
              </a:ext>
            </a:extLst>
          </p:cNvPr>
          <p:cNvSpPr/>
          <p:nvPr/>
        </p:nvSpPr>
        <p:spPr>
          <a:xfrm flipV="1">
            <a:off x="6080760" y="3017520"/>
            <a:ext cx="0" cy="256032"/>
          </a:xfrm>
          <a:prstGeom prst="line">
            <a:avLst/>
          </a:prstGeom>
          <a:noFill/>
          <a:ln w="22860">
            <a:solidFill>
              <a:srgbClr val="20D6F5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54">
            <a:extLst>
              <a:ext uri="{FF2B5EF4-FFF2-40B4-BE49-F238E27FC236}">
                <a16:creationId xmlns:a16="http://schemas.microsoft.com/office/drawing/2014/main" id="{68AEB6EF-E334-E1B5-B76A-311F1F61F302}"/>
              </a:ext>
            </a:extLst>
          </p:cNvPr>
          <p:cNvSpPr/>
          <p:nvPr/>
        </p:nvSpPr>
        <p:spPr>
          <a:xfrm>
            <a:off x="2057400" y="6345936"/>
            <a:ext cx="8092440" cy="0"/>
          </a:xfrm>
          <a:prstGeom prst="line">
            <a:avLst/>
          </a:prstGeom>
          <a:noFill/>
          <a:ln w="11430">
            <a:solidFill>
              <a:srgbClr val="DCE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52E4-95E5-C472-8BA0-4E1DA32E6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893AD94-57A1-6358-150B-EBFC0F12E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Why Compass</a:t>
            </a:r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119CC89A-D2CD-7837-BA58-4940A08DF879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72D7FF49-8C41-9E75-F642-93F3909CA954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DCF8F860-E02E-4301-A01E-B5672CDB9223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D537AF88-12F2-0B27-C404-0318A64B20F8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5FEE273D-AB55-8DA1-C05E-F8F9158D471C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FCCEF0D3-1FB1-5F8B-3BE2-CBD43EA3BB56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A5C4BEC3-00E3-1B5B-10EA-D57C2E6DF967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CA842B9E-F429-5116-A1EE-2866ED7C4B53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0DBF12CA-88CF-793C-AF86-CD2BDD0B3730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29CDBDEE-8890-113C-8EF9-23857947D789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EB56ABC4-7B9E-7D88-BC25-6CA763F62AFC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2984AE64-8B99-B2D1-5832-18768C43E173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7383B7AE-28BB-A1CF-2CF2-5CAFC2EAE5E6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80CAE026-4F1D-1218-F82E-428A3195CDB1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59D6983B-3CC5-D801-70AD-CD8E7650B32C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pic>
        <p:nvPicPr>
          <p:cNvPr id="43" name="Hero visual">
            <a:extLst>
              <a:ext uri="{FF2B5EF4-FFF2-40B4-BE49-F238E27FC236}">
                <a16:creationId xmlns:a16="http://schemas.microsoft.com/office/drawing/2014/main" id="{C67EF836-CCF6-CAFE-901D-4F6BBCE1F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388" y="1470323"/>
            <a:ext cx="3016000" cy="4525000"/>
          </a:xfrm>
          <a:prstGeom prst="roundRect">
            <a:avLst>
              <a:gd name="adj" fmla="val 4000"/>
            </a:avLst>
          </a:prstGeom>
          <a:ln w="12700">
            <a:solidFill>
              <a:srgbClr val="E4E9F2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</p:pic>
      <p:sp>
        <p:nvSpPr>
          <p:cNvPr id="44" name="Card 1">
            <a:extLst>
              <a:ext uri="{FF2B5EF4-FFF2-40B4-BE49-F238E27FC236}">
                <a16:creationId xmlns:a16="http://schemas.microsoft.com/office/drawing/2014/main" id="{DF7CE7A8-1BF0-C51A-F890-300858920A2D}"/>
              </a:ext>
            </a:extLst>
          </p:cNvPr>
          <p:cNvSpPr/>
          <p:nvPr/>
        </p:nvSpPr>
        <p:spPr>
          <a:xfrm>
            <a:off x="933388" y="147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Chip 1">
            <a:extLst>
              <a:ext uri="{FF2B5EF4-FFF2-40B4-BE49-F238E27FC236}">
                <a16:creationId xmlns:a16="http://schemas.microsoft.com/office/drawing/2014/main" id="{1F03A630-6BB8-8B6A-B9D8-BFFFD811FC59}"/>
              </a:ext>
            </a:extLst>
          </p:cNvPr>
          <p:cNvSpPr/>
          <p:nvPr/>
        </p:nvSpPr>
        <p:spPr>
          <a:xfrm>
            <a:off x="1133388" y="161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01</a:t>
            </a:r>
            <a:endParaRPr lang="en-US" sz="180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CC211D4-1221-CD6F-70E1-CCE3C47C4755}"/>
              </a:ext>
            </a:extLst>
          </p:cNvPr>
          <p:cNvSpPr/>
          <p:nvPr/>
        </p:nvSpPr>
        <p:spPr>
          <a:xfrm>
            <a:off x="1913388" y="169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Purpose-built for service</a:t>
            </a:r>
            <a:endParaRPr lang="en-US"/>
          </a:p>
        </p:txBody>
      </p:sp>
      <p:sp>
        <p:nvSpPr>
          <p:cNvPr id="47" name="Desc 1">
            <a:extLst>
              <a:ext uri="{FF2B5EF4-FFF2-40B4-BE49-F238E27FC236}">
                <a16:creationId xmlns:a16="http://schemas.microsoft.com/office/drawing/2014/main" id="{4AD76AA8-659F-153C-E8E1-823F71A5BAE0}"/>
              </a:ext>
            </a:extLst>
          </p:cNvPr>
          <p:cNvSpPr/>
          <p:nvPr/>
        </p:nvSpPr>
        <p:spPr>
          <a:xfrm>
            <a:off x="1913388" y="193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Designed for customer engagement and service operations, not adapted from a general tool.</a:t>
            </a:r>
            <a:endParaRPr lang="en-US" sz="1400"/>
          </a:p>
        </p:txBody>
      </p:sp>
      <p:sp>
        <p:nvSpPr>
          <p:cNvPr id="48" name="Card 2">
            <a:extLst>
              <a:ext uri="{FF2B5EF4-FFF2-40B4-BE49-F238E27FC236}">
                <a16:creationId xmlns:a16="http://schemas.microsoft.com/office/drawing/2014/main" id="{9CBD53ED-0C7D-ECF6-C5CD-11770894782B}"/>
              </a:ext>
            </a:extLst>
          </p:cNvPr>
          <p:cNvSpPr/>
          <p:nvPr/>
        </p:nvSpPr>
        <p:spPr>
          <a:xfrm>
            <a:off x="933388" y="240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Chip 2">
            <a:extLst>
              <a:ext uri="{FF2B5EF4-FFF2-40B4-BE49-F238E27FC236}">
                <a16:creationId xmlns:a16="http://schemas.microsoft.com/office/drawing/2014/main" id="{11D3161E-40F5-70E0-BB32-102B1CF944B9}"/>
              </a:ext>
            </a:extLst>
          </p:cNvPr>
          <p:cNvSpPr/>
          <p:nvPr/>
        </p:nvSpPr>
        <p:spPr>
          <a:xfrm>
            <a:off x="1133388" y="254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02</a:t>
            </a:r>
            <a:endParaRPr lang="en-US" sz="1800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5C448368-3F97-F421-D41D-AD931725E55C}"/>
              </a:ext>
            </a:extLst>
          </p:cNvPr>
          <p:cNvSpPr/>
          <p:nvPr/>
        </p:nvSpPr>
        <p:spPr>
          <a:xfrm>
            <a:off x="1913388" y="262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unified platform</a:t>
            </a:r>
            <a:endParaRPr lang="en-US"/>
          </a:p>
        </p:txBody>
      </p:sp>
      <p:sp>
        <p:nvSpPr>
          <p:cNvPr id="52" name="Desc 2">
            <a:extLst>
              <a:ext uri="{FF2B5EF4-FFF2-40B4-BE49-F238E27FC236}">
                <a16:creationId xmlns:a16="http://schemas.microsoft.com/office/drawing/2014/main" id="{126AD0C4-5C17-6F6A-201E-9938A37AA8E9}"/>
              </a:ext>
            </a:extLst>
          </p:cNvPr>
          <p:cNvSpPr/>
          <p:nvPr/>
        </p:nvSpPr>
        <p:spPr>
          <a:xfrm>
            <a:off x="1913388" y="286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Voice, chat, and agent assistance delivered through a single strategy and knowledge layer.</a:t>
            </a:r>
            <a:endParaRPr lang="en-US" sz="1400"/>
          </a:p>
        </p:txBody>
      </p:sp>
      <p:sp>
        <p:nvSpPr>
          <p:cNvPr id="53" name="Card 3">
            <a:extLst>
              <a:ext uri="{FF2B5EF4-FFF2-40B4-BE49-F238E27FC236}">
                <a16:creationId xmlns:a16="http://schemas.microsoft.com/office/drawing/2014/main" id="{8157F975-A976-68B6-E135-ECD465A9BF3B}"/>
              </a:ext>
            </a:extLst>
          </p:cNvPr>
          <p:cNvSpPr/>
          <p:nvPr/>
        </p:nvSpPr>
        <p:spPr>
          <a:xfrm>
            <a:off x="933388" y="333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Chip 3">
            <a:extLst>
              <a:ext uri="{FF2B5EF4-FFF2-40B4-BE49-F238E27FC236}">
                <a16:creationId xmlns:a16="http://schemas.microsoft.com/office/drawing/2014/main" id="{37AA8C55-A8AB-B9C1-00E0-2FD6C8D48FCA}"/>
              </a:ext>
            </a:extLst>
          </p:cNvPr>
          <p:cNvSpPr/>
          <p:nvPr/>
        </p:nvSpPr>
        <p:spPr>
          <a:xfrm>
            <a:off x="1133388" y="347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03</a:t>
            </a:r>
            <a:endParaRPr lang="en-US" sz="1800"/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D245C804-D3B2-1536-9C52-40BC84BB93A3}"/>
              </a:ext>
            </a:extLst>
          </p:cNvPr>
          <p:cNvSpPr/>
          <p:nvPr/>
        </p:nvSpPr>
        <p:spPr>
          <a:xfrm>
            <a:off x="1913388" y="355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Faster time to value</a:t>
            </a:r>
            <a:endParaRPr lang="en-US"/>
          </a:p>
        </p:txBody>
      </p:sp>
      <p:sp>
        <p:nvSpPr>
          <p:cNvPr id="56" name="Desc 3">
            <a:extLst>
              <a:ext uri="{FF2B5EF4-FFF2-40B4-BE49-F238E27FC236}">
                <a16:creationId xmlns:a16="http://schemas.microsoft.com/office/drawing/2014/main" id="{994600EF-21A6-6CD9-DDE5-B6BDEBFB1A70}"/>
              </a:ext>
            </a:extLst>
          </p:cNvPr>
          <p:cNvSpPr/>
          <p:nvPr/>
        </p:nvSpPr>
        <p:spPr>
          <a:xfrm>
            <a:off x="1913388" y="379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Configurable workflows and knowledge integration shorten the path to production.</a:t>
            </a:r>
            <a:endParaRPr lang="en-US" sz="1400"/>
          </a:p>
        </p:txBody>
      </p:sp>
      <p:sp>
        <p:nvSpPr>
          <p:cNvPr id="57" name="Card 4">
            <a:extLst>
              <a:ext uri="{FF2B5EF4-FFF2-40B4-BE49-F238E27FC236}">
                <a16:creationId xmlns:a16="http://schemas.microsoft.com/office/drawing/2014/main" id="{3B209274-4A04-4FE8-A2E9-06B1F11279ED}"/>
              </a:ext>
            </a:extLst>
          </p:cNvPr>
          <p:cNvSpPr/>
          <p:nvPr/>
        </p:nvSpPr>
        <p:spPr>
          <a:xfrm>
            <a:off x="933388" y="426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Chip 4">
            <a:extLst>
              <a:ext uri="{FF2B5EF4-FFF2-40B4-BE49-F238E27FC236}">
                <a16:creationId xmlns:a16="http://schemas.microsoft.com/office/drawing/2014/main" id="{6272F730-4E66-3D53-55F5-5474E797CA50}"/>
              </a:ext>
            </a:extLst>
          </p:cNvPr>
          <p:cNvSpPr/>
          <p:nvPr/>
        </p:nvSpPr>
        <p:spPr>
          <a:xfrm>
            <a:off x="1133388" y="440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04</a:t>
            </a:r>
            <a:endParaRPr lang="en-US" sz="1800"/>
          </a:p>
        </p:txBody>
      </p:sp>
      <p:sp>
        <p:nvSpPr>
          <p:cNvPr id="59" name="Title 4">
            <a:extLst>
              <a:ext uri="{FF2B5EF4-FFF2-40B4-BE49-F238E27FC236}">
                <a16:creationId xmlns:a16="http://schemas.microsoft.com/office/drawing/2014/main" id="{DBAC3347-0DB0-3EE9-DB64-19258FCCE673}"/>
              </a:ext>
            </a:extLst>
          </p:cNvPr>
          <p:cNvSpPr/>
          <p:nvPr/>
        </p:nvSpPr>
        <p:spPr>
          <a:xfrm>
            <a:off x="1913388" y="448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Human-centered by design</a:t>
            </a:r>
            <a:endParaRPr lang="en-US"/>
          </a:p>
        </p:txBody>
      </p:sp>
      <p:sp>
        <p:nvSpPr>
          <p:cNvPr id="60" name="Desc 4">
            <a:extLst>
              <a:ext uri="{FF2B5EF4-FFF2-40B4-BE49-F238E27FC236}">
                <a16:creationId xmlns:a16="http://schemas.microsoft.com/office/drawing/2014/main" id="{55C1D402-66BC-32B2-6CD1-F863C55DCC50}"/>
              </a:ext>
            </a:extLst>
          </p:cNvPr>
          <p:cNvSpPr/>
          <p:nvPr/>
        </p:nvSpPr>
        <p:spPr>
          <a:xfrm>
            <a:off x="1913388" y="472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Automation where it helps, with clean transitions to a person when judgment is required.</a:t>
            </a:r>
            <a:endParaRPr lang="en-US" sz="1400"/>
          </a:p>
        </p:txBody>
      </p:sp>
      <p:sp>
        <p:nvSpPr>
          <p:cNvPr id="61" name="Card 5">
            <a:extLst>
              <a:ext uri="{FF2B5EF4-FFF2-40B4-BE49-F238E27FC236}">
                <a16:creationId xmlns:a16="http://schemas.microsoft.com/office/drawing/2014/main" id="{10356151-B947-5A41-5147-C0FF875D8FB8}"/>
              </a:ext>
            </a:extLst>
          </p:cNvPr>
          <p:cNvSpPr/>
          <p:nvPr/>
        </p:nvSpPr>
        <p:spPr>
          <a:xfrm>
            <a:off x="933388" y="519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Chip 5">
            <a:extLst>
              <a:ext uri="{FF2B5EF4-FFF2-40B4-BE49-F238E27FC236}">
                <a16:creationId xmlns:a16="http://schemas.microsoft.com/office/drawing/2014/main" id="{88367526-F1D2-8E7A-C2A4-A0B0710D92F0}"/>
              </a:ext>
            </a:extLst>
          </p:cNvPr>
          <p:cNvSpPr/>
          <p:nvPr/>
        </p:nvSpPr>
        <p:spPr>
          <a:xfrm>
            <a:off x="1133388" y="533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05</a:t>
            </a:r>
            <a:endParaRPr lang="en-US" sz="1800"/>
          </a:p>
        </p:txBody>
      </p:sp>
      <p:sp>
        <p:nvSpPr>
          <p:cNvPr id="63" name="Title 5">
            <a:extLst>
              <a:ext uri="{FF2B5EF4-FFF2-40B4-BE49-F238E27FC236}">
                <a16:creationId xmlns:a16="http://schemas.microsoft.com/office/drawing/2014/main" id="{68D0B51B-FFF4-3AB9-2553-2B32F4A99417}"/>
              </a:ext>
            </a:extLst>
          </p:cNvPr>
          <p:cNvSpPr/>
          <p:nvPr/>
        </p:nvSpPr>
        <p:spPr>
          <a:xfrm>
            <a:off x="1913388" y="541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Enterprise ready</a:t>
            </a:r>
            <a:endParaRPr lang="en-US"/>
          </a:p>
        </p:txBody>
      </p:sp>
      <p:sp>
        <p:nvSpPr>
          <p:cNvPr id="64" name="Desc 5">
            <a:extLst>
              <a:ext uri="{FF2B5EF4-FFF2-40B4-BE49-F238E27FC236}">
                <a16:creationId xmlns:a16="http://schemas.microsoft.com/office/drawing/2014/main" id="{7099F104-7695-7C51-4BA7-E47F052C9EFA}"/>
              </a:ext>
            </a:extLst>
          </p:cNvPr>
          <p:cNvSpPr/>
          <p:nvPr/>
        </p:nvSpPr>
        <p:spPr>
          <a:xfrm>
            <a:off x="1913388" y="565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Secure, scalable, and built to carry mission-critical customer interactions.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2819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FFA0-7FFC-4FE0-8EF9-51DBE82F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D56B981-1B42-E611-1F98-4F7BF376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Enterprise grade trust</a:t>
            </a:r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E5820BAD-CC29-7C4A-36D7-0A04FB4CF140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B485A36B-2AAA-08E2-EB33-C138938CE7D8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78527BCC-AFE5-4D07-E4E3-7C0B665699AC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EB8BA293-B4C1-03C0-B5E8-BD80685857AB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8CF9083F-002E-5BAF-2162-E6F6B7F89971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D2F4000A-93CE-78F7-D415-80EBFEE9FC8A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CA9B12C7-3D05-777F-7EE4-48FFFFA73620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48AA86D3-CAC5-9844-F014-1B99C8A8172C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D6BE9AFD-E8C2-BF2B-68DE-874518A8115B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B4C44D55-36FB-CF4C-166E-C8454AC43EBC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86ED2D00-2649-A308-F4E4-AFC6A6832130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5E198390-80A6-6F0E-2D1F-FB58661182CF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743F6BF5-6FEA-A006-4DEC-03471E51F68E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4A4CDE96-968F-98A0-7466-D11F4B7F2C14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0596CFA4-30FF-18D0-723F-5F4A557B8AD0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BD3EF0AB-4402-E2CB-D8F4-CEF9F5F29261}"/>
              </a:ext>
            </a:extLst>
          </p:cNvPr>
          <p:cNvSpPr/>
          <p:nvPr/>
        </p:nvSpPr>
        <p:spPr>
          <a:xfrm>
            <a:off x="885971" y="1590844"/>
            <a:ext cx="3522117" cy="4280545"/>
          </a:xfrm>
          <a:prstGeom prst="roundRect">
            <a:avLst>
              <a:gd name="adj" fmla="val 2524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614A9628-A381-016F-C190-EA6E0275365A}"/>
              </a:ext>
            </a:extLst>
          </p:cNvPr>
          <p:cNvSpPr/>
          <p:nvPr/>
        </p:nvSpPr>
        <p:spPr>
          <a:xfrm>
            <a:off x="1139971" y="1870244"/>
            <a:ext cx="3315529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Security</a:t>
            </a:r>
            <a:endParaRPr lang="en-US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6B37B787-203D-0DEC-F8F9-89332DE6AF2C}"/>
              </a:ext>
            </a:extLst>
          </p:cNvPr>
          <p:cNvSpPr/>
          <p:nvPr/>
        </p:nvSpPr>
        <p:spPr>
          <a:xfrm>
            <a:off x="1139971" y="2286765"/>
            <a:ext cx="406400" cy="19050"/>
          </a:xfrm>
          <a:prstGeom prst="rect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98EA4F29-B14B-ABCA-DC8C-9722CB4EC60E}"/>
              </a:ext>
            </a:extLst>
          </p:cNvPr>
          <p:cNvSpPr/>
          <p:nvPr/>
        </p:nvSpPr>
        <p:spPr>
          <a:xfrm>
            <a:off x="1139971" y="2547115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35BB27DF-7588-B750-2013-CC84D84939A1}"/>
              </a:ext>
            </a:extLst>
          </p:cNvPr>
          <p:cNvSpPr/>
          <p:nvPr/>
        </p:nvSpPr>
        <p:spPr>
          <a:xfrm>
            <a:off x="1317771" y="2470915"/>
            <a:ext cx="2659648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Role-based access controls</a:t>
            </a:r>
            <a:endParaRPr lang="en-US" sz="150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3640B0D9-4AC2-EC70-EF39-B095359B33DE}"/>
              </a:ext>
            </a:extLst>
          </p:cNvPr>
          <p:cNvSpPr/>
          <p:nvPr/>
        </p:nvSpPr>
        <p:spPr>
          <a:xfrm>
            <a:off x="1139971" y="2959865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7C46F62-6675-F876-01F1-9925D531F67D}"/>
              </a:ext>
            </a:extLst>
          </p:cNvPr>
          <p:cNvSpPr/>
          <p:nvPr/>
        </p:nvSpPr>
        <p:spPr>
          <a:xfrm>
            <a:off x="1317771" y="2883665"/>
            <a:ext cx="2310725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Data protection controls</a:t>
            </a:r>
            <a:endParaRPr lang="en-US" sz="1500"/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67992DFA-3EC8-EA42-0F18-264BE037B493}"/>
              </a:ext>
            </a:extLst>
          </p:cNvPr>
          <p:cNvSpPr/>
          <p:nvPr/>
        </p:nvSpPr>
        <p:spPr>
          <a:xfrm>
            <a:off x="1139971" y="3372615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A632B650-146B-BD9E-528A-BA02231271C0}"/>
              </a:ext>
            </a:extLst>
          </p:cNvPr>
          <p:cNvSpPr/>
          <p:nvPr/>
        </p:nvSpPr>
        <p:spPr>
          <a:xfrm>
            <a:off x="1317771" y="3296415"/>
            <a:ext cx="2604750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Secure system integrations</a:t>
            </a:r>
            <a:endParaRPr lang="en-US" sz="150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12EA8D7B-FBE0-4985-3573-45E92E8BD1F3}"/>
              </a:ext>
            </a:extLst>
          </p:cNvPr>
          <p:cNvSpPr/>
          <p:nvPr/>
        </p:nvSpPr>
        <p:spPr>
          <a:xfrm>
            <a:off x="4585888" y="1590844"/>
            <a:ext cx="3522117" cy="4280545"/>
          </a:xfrm>
          <a:prstGeom prst="roundRect">
            <a:avLst>
              <a:gd name="adj" fmla="val 2524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4EE2DF8C-0FD7-7C3A-E854-05643357CB0B}"/>
              </a:ext>
            </a:extLst>
          </p:cNvPr>
          <p:cNvSpPr/>
          <p:nvPr/>
        </p:nvSpPr>
        <p:spPr>
          <a:xfrm>
            <a:off x="4839888" y="1870244"/>
            <a:ext cx="3315529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Governance</a:t>
            </a:r>
            <a:endParaRPr lang="en-US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1F74EC35-EDD4-67AE-931D-26A4B5A9C05A}"/>
              </a:ext>
            </a:extLst>
          </p:cNvPr>
          <p:cNvSpPr/>
          <p:nvPr/>
        </p:nvSpPr>
        <p:spPr>
          <a:xfrm>
            <a:off x="4839888" y="2286765"/>
            <a:ext cx="406400" cy="1905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33412D86-3A23-F0A3-871D-D11CFAFC024E}"/>
              </a:ext>
            </a:extLst>
          </p:cNvPr>
          <p:cNvSpPr/>
          <p:nvPr/>
        </p:nvSpPr>
        <p:spPr>
          <a:xfrm>
            <a:off x="4839888" y="2547115"/>
            <a:ext cx="76200" cy="76200"/>
          </a:xfrm>
          <a:prstGeom prst="ellipse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4D2D9508-1E57-3C65-1F35-55EA358B77BD}"/>
              </a:ext>
            </a:extLst>
          </p:cNvPr>
          <p:cNvSpPr/>
          <p:nvPr/>
        </p:nvSpPr>
        <p:spPr>
          <a:xfrm>
            <a:off x="5017688" y="2470915"/>
            <a:ext cx="2334845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Conversation monitoring</a:t>
            </a:r>
            <a:endParaRPr lang="en-US" sz="150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0AD02159-EEED-1ABE-420F-A77C52189EAC}"/>
              </a:ext>
            </a:extLst>
          </p:cNvPr>
          <p:cNvSpPr/>
          <p:nvPr/>
        </p:nvSpPr>
        <p:spPr>
          <a:xfrm>
            <a:off x="4839888" y="2959865"/>
            <a:ext cx="76200" cy="76200"/>
          </a:xfrm>
          <a:prstGeom prst="ellipse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2EC2E2D8-1473-534B-4C40-B1B068CF0715}"/>
              </a:ext>
            </a:extLst>
          </p:cNvPr>
          <p:cNvSpPr/>
          <p:nvPr/>
        </p:nvSpPr>
        <p:spPr>
          <a:xfrm>
            <a:off x="5017688" y="2883665"/>
            <a:ext cx="2143959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Performance reporting</a:t>
            </a:r>
            <a:endParaRPr lang="en-US" sz="1500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7AE19424-DD8A-B938-A3B4-5995E0C92D62}"/>
              </a:ext>
            </a:extLst>
          </p:cNvPr>
          <p:cNvSpPr/>
          <p:nvPr/>
        </p:nvSpPr>
        <p:spPr>
          <a:xfrm>
            <a:off x="4839888" y="3372615"/>
            <a:ext cx="76200" cy="76200"/>
          </a:xfrm>
          <a:prstGeom prst="ellipse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2AEB0C0E-774E-8666-2B61-5E4990F5A3A3}"/>
              </a:ext>
            </a:extLst>
          </p:cNvPr>
          <p:cNvSpPr/>
          <p:nvPr/>
        </p:nvSpPr>
        <p:spPr>
          <a:xfrm>
            <a:off x="5017688" y="3296415"/>
            <a:ext cx="1642075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Audit capabilities</a:t>
            </a:r>
            <a:endParaRPr lang="en-US" sz="1500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0F84D582-F877-0C15-6F4C-3CA14E6A77DA}"/>
              </a:ext>
            </a:extLst>
          </p:cNvPr>
          <p:cNvSpPr/>
          <p:nvPr/>
        </p:nvSpPr>
        <p:spPr>
          <a:xfrm>
            <a:off x="8285804" y="1590844"/>
            <a:ext cx="3522167" cy="4280545"/>
          </a:xfrm>
          <a:prstGeom prst="roundRect">
            <a:avLst>
              <a:gd name="adj" fmla="val 2524"/>
            </a:avLst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5A1C1E92-1296-DF46-923B-13528C50B044}"/>
              </a:ext>
            </a:extLst>
          </p:cNvPr>
          <p:cNvSpPr/>
          <p:nvPr/>
        </p:nvSpPr>
        <p:spPr>
          <a:xfrm>
            <a:off x="8539805" y="1870244"/>
            <a:ext cx="3315583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F6F2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Responsible AI</a:t>
            </a:r>
            <a:endParaRPr lang="en-US"/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BE7AEA47-0CB6-D1FA-105D-DA9E65D5AA0E}"/>
              </a:ext>
            </a:extLst>
          </p:cNvPr>
          <p:cNvSpPr/>
          <p:nvPr/>
        </p:nvSpPr>
        <p:spPr>
          <a:xfrm>
            <a:off x="8539804" y="2286765"/>
            <a:ext cx="406400" cy="19050"/>
          </a:xfrm>
          <a:prstGeom prst="rect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2C76D499-4A96-441F-517B-7494B845450B}"/>
              </a:ext>
            </a:extLst>
          </p:cNvPr>
          <p:cNvSpPr/>
          <p:nvPr/>
        </p:nvSpPr>
        <p:spPr>
          <a:xfrm>
            <a:off x="8539804" y="2547115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6F6B24F9-F62B-07A1-4734-7C316CD7BA75}"/>
              </a:ext>
            </a:extLst>
          </p:cNvPr>
          <p:cNvSpPr/>
          <p:nvPr/>
        </p:nvSpPr>
        <p:spPr>
          <a:xfrm>
            <a:off x="8717604" y="2470915"/>
            <a:ext cx="2679348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Human oversight in the loop</a:t>
            </a:r>
            <a:endParaRPr lang="en-US" sz="1500"/>
          </a:p>
        </p:txBody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77CA48DB-6E84-3460-E1AD-960084B11344}"/>
              </a:ext>
            </a:extLst>
          </p:cNvPr>
          <p:cNvSpPr/>
          <p:nvPr/>
        </p:nvSpPr>
        <p:spPr>
          <a:xfrm>
            <a:off x="8539804" y="2959865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6BA90587-A5CB-57AA-D4BE-54B3629DB178}"/>
              </a:ext>
            </a:extLst>
          </p:cNvPr>
          <p:cNvSpPr/>
          <p:nvPr/>
        </p:nvSpPr>
        <p:spPr>
          <a:xfrm>
            <a:off x="8717605" y="2883665"/>
            <a:ext cx="2921457" cy="520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Transparency in AI-assisted answers</a:t>
            </a:r>
            <a:endParaRPr lang="en-US" sz="150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656A9780-2B04-5310-C988-09E6C8A24429}"/>
              </a:ext>
            </a:extLst>
          </p:cNvPr>
          <p:cNvSpPr/>
          <p:nvPr/>
        </p:nvSpPr>
        <p:spPr>
          <a:xfrm>
            <a:off x="8539804" y="3620265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DC926E37-CB8C-F82A-0B54-8F1CACA81ECE}"/>
              </a:ext>
            </a:extLst>
          </p:cNvPr>
          <p:cNvSpPr/>
          <p:nvPr/>
        </p:nvSpPr>
        <p:spPr>
          <a:xfrm>
            <a:off x="8717604" y="3544065"/>
            <a:ext cx="2233836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Configurable guardrails</a:t>
            </a:r>
            <a:endParaRPr lang="en-US" sz="1500"/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119AF4C8-6A6A-513D-F6AA-ECFC5EBE2F9D}"/>
              </a:ext>
            </a:extLst>
          </p:cNvPr>
          <p:cNvSpPr/>
          <p:nvPr/>
        </p:nvSpPr>
        <p:spPr>
          <a:xfrm>
            <a:off x="8539804" y="4033015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C31885EC-030F-1CC6-C42C-B8FFD19CA360}"/>
              </a:ext>
            </a:extLst>
          </p:cNvPr>
          <p:cNvSpPr/>
          <p:nvPr/>
        </p:nvSpPr>
        <p:spPr>
          <a:xfrm>
            <a:off x="8717605" y="3956815"/>
            <a:ext cx="2323931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Continuous optimization</a:t>
            </a:r>
            <a:endParaRPr lang="en-US" sz="1500"/>
          </a:p>
        </p:txBody>
      </p:sp>
      <p:sp>
        <p:nvSpPr>
          <p:cNvPr id="79" name="Shape 32">
            <a:extLst>
              <a:ext uri="{FF2B5EF4-FFF2-40B4-BE49-F238E27FC236}">
                <a16:creationId xmlns:a16="http://schemas.microsoft.com/office/drawing/2014/main" id="{D20D1BF9-B2C4-3F8F-FDA0-D9847D9882B3}"/>
              </a:ext>
            </a:extLst>
          </p:cNvPr>
          <p:cNvSpPr/>
          <p:nvPr/>
        </p:nvSpPr>
        <p:spPr>
          <a:xfrm>
            <a:off x="885971" y="6036490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80" name="Text 2">
            <a:extLst>
              <a:ext uri="{FF2B5EF4-FFF2-40B4-BE49-F238E27FC236}">
                <a16:creationId xmlns:a16="http://schemas.microsoft.com/office/drawing/2014/main" id="{2A60AF49-DFB2-C9BB-2864-670D6AE4DF4E}"/>
              </a:ext>
            </a:extLst>
          </p:cNvPr>
          <p:cNvSpPr/>
          <p:nvPr/>
        </p:nvSpPr>
        <p:spPr>
          <a:xfrm>
            <a:off x="885971" y="1213805"/>
            <a:ext cx="12014200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Controls, oversight, and transparency built into every Compass interaction.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653234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8AF5-F6F3-E448-20C8-D611CA37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1F1C2A-7330-66AA-6532-10F29E05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How we measure the return</a:t>
            </a:r>
            <a:endParaRPr lang="en-US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01E258E4-318D-E9AD-09DA-05FEEEB7DC81}"/>
              </a:ext>
            </a:extLst>
          </p:cNvPr>
          <p:cNvSpPr/>
          <p:nvPr/>
        </p:nvSpPr>
        <p:spPr>
          <a:xfrm>
            <a:off x="906466" y="1185860"/>
            <a:ext cx="12014200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Targets are set against your current baselines during discovery.</a:t>
            </a:r>
            <a:endParaRPr lang="en-US" sz="140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10FCED90-DBE4-12F7-213F-8B60A17E8EF8}"/>
              </a:ext>
            </a:extLst>
          </p:cNvPr>
          <p:cNvSpPr/>
          <p:nvPr/>
        </p:nvSpPr>
        <p:spPr>
          <a:xfrm>
            <a:off x="906466" y="1582090"/>
            <a:ext cx="2635250" cy="4823470"/>
          </a:xfrm>
          <a:prstGeom prst="roundRect">
            <a:avLst>
              <a:gd name="adj" fmla="val 337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2518764A-6E2E-2A30-83A6-D955B1460A3B}"/>
              </a:ext>
            </a:extLst>
          </p:cNvPr>
          <p:cNvSpPr/>
          <p:nvPr/>
        </p:nvSpPr>
        <p:spPr>
          <a:xfrm>
            <a:off x="1109666" y="2172640"/>
            <a:ext cx="2451735" cy="26288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1700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experience</a:t>
            </a:r>
            <a:endParaRPr lang="en-US" sz="170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9CCBD42E-87D4-4CB9-ECEF-ADE391CFBFC8}"/>
              </a:ext>
            </a:extLst>
          </p:cNvPr>
          <p:cNvSpPr/>
          <p:nvPr/>
        </p:nvSpPr>
        <p:spPr>
          <a:xfrm>
            <a:off x="1109666" y="2549820"/>
            <a:ext cx="355600" cy="19050"/>
          </a:xfrm>
          <a:prstGeom prst="rect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356FA45E-F638-26EA-9E11-9586EEFBDC83}"/>
              </a:ext>
            </a:extLst>
          </p:cNvPr>
          <p:cNvSpPr/>
          <p:nvPr/>
        </p:nvSpPr>
        <p:spPr>
          <a:xfrm>
            <a:off x="1109666" y="270857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CSAT and NPS</a:t>
            </a:r>
            <a:endParaRPr lang="en-US" sz="140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254F0FA5-677A-26A6-CFEA-058A4406B8CD}"/>
              </a:ext>
            </a:extLst>
          </p:cNvPr>
          <p:cNvSpPr/>
          <p:nvPr/>
        </p:nvSpPr>
        <p:spPr>
          <a:xfrm>
            <a:off x="1109666" y="307940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Time to first response</a:t>
            </a:r>
            <a:endParaRPr lang="en-US" sz="140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F0ACF634-92BD-6E90-2AC9-AAF057F4DDB2}"/>
              </a:ext>
            </a:extLst>
          </p:cNvPr>
          <p:cNvSpPr/>
          <p:nvPr/>
        </p:nvSpPr>
        <p:spPr>
          <a:xfrm>
            <a:off x="1109666" y="345023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Effort per resolved issue</a:t>
            </a:r>
            <a:endParaRPr lang="en-US" sz="140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F8959380-79BA-17E8-222A-8D673D971911}"/>
              </a:ext>
            </a:extLst>
          </p:cNvPr>
          <p:cNvSpPr/>
          <p:nvPr/>
        </p:nvSpPr>
        <p:spPr>
          <a:xfrm>
            <a:off x="3668716" y="1582090"/>
            <a:ext cx="2635250" cy="4823470"/>
          </a:xfrm>
          <a:prstGeom prst="roundRect">
            <a:avLst>
              <a:gd name="adj" fmla="val 337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46F6FBAE-55E2-ADF1-A159-02A5A8CA2DF9}"/>
              </a:ext>
            </a:extLst>
          </p:cNvPr>
          <p:cNvSpPr/>
          <p:nvPr/>
        </p:nvSpPr>
        <p:spPr>
          <a:xfrm>
            <a:off x="3871916" y="2172640"/>
            <a:ext cx="2451735" cy="26288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1700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 productivity</a:t>
            </a:r>
            <a:endParaRPr lang="en-US" sz="170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DD6D285F-2596-F5AA-485C-43ACB795577F}"/>
              </a:ext>
            </a:extLst>
          </p:cNvPr>
          <p:cNvSpPr/>
          <p:nvPr/>
        </p:nvSpPr>
        <p:spPr>
          <a:xfrm>
            <a:off x="3871916" y="2549820"/>
            <a:ext cx="355600" cy="1905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63525996-77F8-2376-CE67-311EBAF3A5D0}"/>
              </a:ext>
            </a:extLst>
          </p:cNvPr>
          <p:cNvSpPr/>
          <p:nvPr/>
        </p:nvSpPr>
        <p:spPr>
          <a:xfrm>
            <a:off x="3871916" y="270857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Average handle time</a:t>
            </a:r>
            <a:endParaRPr lang="en-US" sz="140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7A5B3F4-11D4-5BC3-EFEC-213212FF9691}"/>
              </a:ext>
            </a:extLst>
          </p:cNvPr>
          <p:cNvSpPr/>
          <p:nvPr/>
        </p:nvSpPr>
        <p:spPr>
          <a:xfrm>
            <a:off x="3871916" y="307940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First-contact resolution</a:t>
            </a:r>
            <a:endParaRPr lang="en-US" sz="140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EA32F18D-1CE1-797F-5B42-AB56364D11B3}"/>
              </a:ext>
            </a:extLst>
          </p:cNvPr>
          <p:cNvSpPr/>
          <p:nvPr/>
        </p:nvSpPr>
        <p:spPr>
          <a:xfrm>
            <a:off x="3871917" y="3450230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Time to proficiency for new hires</a:t>
            </a:r>
            <a:endParaRPr lang="en-US" sz="140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13EAF005-BE99-891B-8E83-7F7F4D20E0D6}"/>
              </a:ext>
            </a:extLst>
          </p:cNvPr>
          <p:cNvSpPr/>
          <p:nvPr/>
        </p:nvSpPr>
        <p:spPr>
          <a:xfrm>
            <a:off x="6430966" y="1582090"/>
            <a:ext cx="2635250" cy="4823470"/>
          </a:xfrm>
          <a:prstGeom prst="roundRect">
            <a:avLst>
              <a:gd name="adj" fmla="val 337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AA418FBD-0209-95F1-532F-C9CCCE109508}"/>
              </a:ext>
            </a:extLst>
          </p:cNvPr>
          <p:cNvSpPr/>
          <p:nvPr/>
        </p:nvSpPr>
        <p:spPr>
          <a:xfrm>
            <a:off x="6634167" y="2172640"/>
            <a:ext cx="2295715" cy="5003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1700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Operational efficiency</a:t>
            </a:r>
            <a:endParaRPr lang="en-US" sz="170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44002E05-F707-0CAF-62D5-673D934071A5}"/>
              </a:ext>
            </a:extLst>
          </p:cNvPr>
          <p:cNvSpPr/>
          <p:nvPr/>
        </p:nvSpPr>
        <p:spPr>
          <a:xfrm>
            <a:off x="6634166" y="2558697"/>
            <a:ext cx="355600" cy="19050"/>
          </a:xfrm>
          <a:prstGeom prst="rect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C8808E06-F4C8-1DCA-FC25-5294D8F3A643}"/>
              </a:ext>
            </a:extLst>
          </p:cNvPr>
          <p:cNvSpPr/>
          <p:nvPr/>
        </p:nvSpPr>
        <p:spPr>
          <a:xfrm>
            <a:off x="6634167" y="2717443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Automation and containment rate</a:t>
            </a:r>
            <a:endParaRPr lang="en-US" sz="1400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1184CFF2-D446-99D8-91B4-1204A713007C}"/>
              </a:ext>
            </a:extLst>
          </p:cNvPr>
          <p:cNvSpPr/>
          <p:nvPr/>
        </p:nvSpPr>
        <p:spPr>
          <a:xfrm>
            <a:off x="6634166" y="3319404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Cost per interaction</a:t>
            </a:r>
            <a:endParaRPr lang="en-US" sz="140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C9673596-385D-3B1B-B4C3-F30B68EE990B}"/>
              </a:ext>
            </a:extLst>
          </p:cNvPr>
          <p:cNvSpPr/>
          <p:nvPr/>
        </p:nvSpPr>
        <p:spPr>
          <a:xfrm>
            <a:off x="6634166" y="3690234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Workforce utilization</a:t>
            </a:r>
            <a:endParaRPr lang="en-US" sz="140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D548BD63-3123-1013-48FD-25F4514DA9C4}"/>
              </a:ext>
            </a:extLst>
          </p:cNvPr>
          <p:cNvSpPr/>
          <p:nvPr/>
        </p:nvSpPr>
        <p:spPr>
          <a:xfrm>
            <a:off x="9193216" y="1582090"/>
            <a:ext cx="2635250" cy="4823470"/>
          </a:xfrm>
          <a:prstGeom prst="roundRect">
            <a:avLst>
              <a:gd name="adj" fmla="val 3373"/>
            </a:avLst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BDDF95FD-B2BA-D52F-938F-0C503EDAB9A7}"/>
              </a:ext>
            </a:extLst>
          </p:cNvPr>
          <p:cNvSpPr/>
          <p:nvPr/>
        </p:nvSpPr>
        <p:spPr>
          <a:xfrm>
            <a:off x="9396417" y="2172640"/>
            <a:ext cx="2295715" cy="5003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1700" b="1" kern="0" spc="-30">
                <a:solidFill>
                  <a:srgbClr val="F6F2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Organizational impact</a:t>
            </a:r>
            <a:endParaRPr lang="en-US" sz="1700"/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970802F3-4163-6434-E646-4A80E12738F2}"/>
              </a:ext>
            </a:extLst>
          </p:cNvPr>
          <p:cNvSpPr/>
          <p:nvPr/>
        </p:nvSpPr>
        <p:spPr>
          <a:xfrm>
            <a:off x="9396416" y="2558695"/>
            <a:ext cx="355600" cy="19050"/>
          </a:xfrm>
          <a:prstGeom prst="rect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AD0C0D74-B965-2DA9-A91F-B1BA2F07ADF6}"/>
              </a:ext>
            </a:extLst>
          </p:cNvPr>
          <p:cNvSpPr/>
          <p:nvPr/>
        </p:nvSpPr>
        <p:spPr>
          <a:xfrm>
            <a:off x="9396417" y="2717447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Capacity to absorb peak demand</a:t>
            </a:r>
            <a:endParaRPr lang="en-US" sz="1400"/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2B4303E1-196C-CF92-F03C-DCBBA5BEC194}"/>
              </a:ext>
            </a:extLst>
          </p:cNvPr>
          <p:cNvSpPr/>
          <p:nvPr/>
        </p:nvSpPr>
        <p:spPr>
          <a:xfrm>
            <a:off x="9396417" y="3319408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Consistency across channels</a:t>
            </a:r>
            <a:endParaRPr lang="en-US" sz="1400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27E8A6AF-43D0-58B9-8207-1289C0BFF50E}"/>
              </a:ext>
            </a:extLst>
          </p:cNvPr>
          <p:cNvSpPr/>
          <p:nvPr/>
        </p:nvSpPr>
        <p:spPr>
          <a:xfrm>
            <a:off x="9396417" y="3749916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Reallocation of service resources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36767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506A4-921B-1C4B-2B6F-B0989376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65EA2C-249E-D01D-A6F7-79BE27D5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Implementation approach</a:t>
            </a:r>
            <a:endParaRPr lang="en-US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EBE59800-DBCA-6839-4ECE-ECDA59E3586B}"/>
              </a:ext>
            </a:extLst>
          </p:cNvPr>
          <p:cNvSpPr/>
          <p:nvPr/>
        </p:nvSpPr>
        <p:spPr>
          <a:xfrm>
            <a:off x="713232" y="1647062"/>
            <a:ext cx="10771632" cy="3282696"/>
          </a:xfrm>
          <a:prstGeom prst="roundRect">
            <a:avLst>
              <a:gd name="adj" fmla="val 5570"/>
            </a:avLst>
          </a:prstGeom>
          <a:solidFill>
            <a:srgbClr val="FFFFFF">
              <a:alpha val="94000"/>
            </a:srgbClr>
          </a:solidFill>
          <a:ln w="13970">
            <a:solidFill>
              <a:srgbClr val="E3EBF8"/>
            </a:solidFill>
            <a:prstDash val="solid"/>
          </a:ln>
          <a:effectLst>
            <a:outerShdw blurRad="30480" dist="50800" dir="2700000" algn="bl" rotWithShape="0">
              <a:srgbClr val="AFC5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224B1B00-D8B3-13E3-0D93-7121E15A8EFB}"/>
              </a:ext>
            </a:extLst>
          </p:cNvPr>
          <p:cNvSpPr/>
          <p:nvPr/>
        </p:nvSpPr>
        <p:spPr>
          <a:xfrm>
            <a:off x="1600200" y="2749183"/>
            <a:ext cx="8732520" cy="0"/>
          </a:xfrm>
          <a:prstGeom prst="line">
            <a:avLst/>
          </a:prstGeom>
          <a:noFill/>
          <a:ln w="27940">
            <a:solidFill>
              <a:srgbClr val="A9C7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3B70A4F8-11C9-8130-4FCB-3D823465271F}"/>
              </a:ext>
            </a:extLst>
          </p:cNvPr>
          <p:cNvSpPr/>
          <p:nvPr/>
        </p:nvSpPr>
        <p:spPr>
          <a:xfrm>
            <a:off x="1600200" y="2749183"/>
            <a:ext cx="8732520" cy="0"/>
          </a:xfrm>
          <a:prstGeom prst="line">
            <a:avLst/>
          </a:prstGeom>
          <a:noFill/>
          <a:ln w="10160">
            <a:solidFill>
              <a:srgbClr val="2563FF">
                <a:alpha val="6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E258F9CF-E2FA-EE37-1D30-DD44E0D91BDD}"/>
              </a:ext>
            </a:extLst>
          </p:cNvPr>
          <p:cNvSpPr/>
          <p:nvPr/>
        </p:nvSpPr>
        <p:spPr>
          <a:xfrm>
            <a:off x="960120" y="1994534"/>
            <a:ext cx="2286000" cy="26243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8"/>
            </a:solidFill>
            <a:prstDash val="solid"/>
          </a:ln>
          <a:effectLst>
            <a:outerShdw blurRad="25400" dist="50800" dir="2700000" algn="bl" rotWithShape="0">
              <a:srgbClr val="B8C8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4495EEB8-958E-0076-DA00-44FA507FAD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424" y="2159126"/>
            <a:ext cx="429768" cy="429768"/>
          </a:xfrm>
          <a:prstGeom prst="rect">
            <a:avLst/>
          </a:prstGeom>
        </p:spPr>
      </p:pic>
      <p:sp>
        <p:nvSpPr>
          <p:cNvPr id="32" name="Text 10">
            <a:extLst>
              <a:ext uri="{FF2B5EF4-FFF2-40B4-BE49-F238E27FC236}">
                <a16:creationId xmlns:a16="http://schemas.microsoft.com/office/drawing/2014/main" id="{8AD27715-4D4A-8360-0051-4D52FABDD0AD}"/>
              </a:ext>
            </a:extLst>
          </p:cNvPr>
          <p:cNvSpPr/>
          <p:nvPr/>
        </p:nvSpPr>
        <p:spPr>
          <a:xfrm>
            <a:off x="1600200" y="225056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>
                <a:solidFill>
                  <a:srgbClr val="6B7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87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C74CDDEB-2F6E-4211-1379-592ABD7483BB}"/>
              </a:ext>
            </a:extLst>
          </p:cNvPr>
          <p:cNvSpPr/>
          <p:nvPr/>
        </p:nvSpPr>
        <p:spPr>
          <a:xfrm>
            <a:off x="1600200" y="247916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155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779EBC3B-8103-D226-B24A-3B6CF56C2745}"/>
              </a:ext>
            </a:extLst>
          </p:cNvPr>
          <p:cNvSpPr/>
          <p:nvPr/>
        </p:nvSpPr>
        <p:spPr>
          <a:xfrm>
            <a:off x="1161288" y="2966489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on the highest-value starting point.</a:t>
            </a:r>
            <a:endParaRPr lang="en-US" sz="97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83BB4B37-64B3-711A-FA99-06A884976E3B}"/>
              </a:ext>
            </a:extLst>
          </p:cNvPr>
          <p:cNvSpPr/>
          <p:nvPr/>
        </p:nvSpPr>
        <p:spPr>
          <a:xfrm>
            <a:off x="1179576" y="35334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BADD0A23-0D32-4233-EE75-23CE8E397C50}"/>
              </a:ext>
            </a:extLst>
          </p:cNvPr>
          <p:cNvSpPr/>
          <p:nvPr/>
        </p:nvSpPr>
        <p:spPr>
          <a:xfrm>
            <a:off x="1316736" y="34785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objectives</a:t>
            </a:r>
            <a:endParaRPr lang="en-US" sz="93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B4A14090-5ECE-58A0-5A00-725383CC4C21}"/>
              </a:ext>
            </a:extLst>
          </p:cNvPr>
          <p:cNvSpPr/>
          <p:nvPr/>
        </p:nvSpPr>
        <p:spPr>
          <a:xfrm>
            <a:off x="1179576" y="37620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99B7A852-F664-2D42-BA64-984607888B52}"/>
              </a:ext>
            </a:extLst>
          </p:cNvPr>
          <p:cNvSpPr/>
          <p:nvPr/>
        </p:nvSpPr>
        <p:spPr>
          <a:xfrm>
            <a:off x="1316736" y="37071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prioritization</a:t>
            </a:r>
            <a:endParaRPr lang="en-US" sz="93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B07BAAF7-31D4-2D47-F54E-E3104C5D5109}"/>
              </a:ext>
            </a:extLst>
          </p:cNvPr>
          <p:cNvSpPr/>
          <p:nvPr/>
        </p:nvSpPr>
        <p:spPr>
          <a:xfrm>
            <a:off x="1179576" y="39906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EAC3E646-0BE1-775C-1723-9977EEF16B61}"/>
              </a:ext>
            </a:extLst>
          </p:cNvPr>
          <p:cNvSpPr/>
          <p:nvPr/>
        </p:nvSpPr>
        <p:spPr>
          <a:xfrm>
            <a:off x="1316736" y="39357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metrics and baselines</a:t>
            </a:r>
            <a:endParaRPr lang="en-US" sz="93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D67B252A-6AB2-4C99-238E-2E2F5CE38759}"/>
              </a:ext>
            </a:extLst>
          </p:cNvPr>
          <p:cNvSpPr/>
          <p:nvPr/>
        </p:nvSpPr>
        <p:spPr>
          <a:xfrm>
            <a:off x="1143000" y="4231051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EE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B95B0479-518E-98E6-804B-4769ABDEA95E}"/>
              </a:ext>
            </a:extLst>
          </p:cNvPr>
          <p:cNvSpPr/>
          <p:nvPr/>
        </p:nvSpPr>
        <p:spPr>
          <a:xfrm>
            <a:off x="1179576" y="4295059"/>
            <a:ext cx="16916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launch scope</a:t>
            </a:r>
            <a:endParaRPr lang="en-US" sz="83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199AC277-EC52-F768-4384-B9F51AE21F52}"/>
              </a:ext>
            </a:extLst>
          </p:cNvPr>
          <p:cNvSpPr/>
          <p:nvPr/>
        </p:nvSpPr>
        <p:spPr>
          <a:xfrm>
            <a:off x="3703320" y="1994534"/>
            <a:ext cx="2286000" cy="26243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8"/>
            </a:solidFill>
            <a:prstDash val="solid"/>
          </a:ln>
          <a:effectLst>
            <a:outerShdw blurRad="25400" dist="50800" dir="2700000" algn="bl" rotWithShape="0">
              <a:srgbClr val="B8C8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71630C77-7C9D-58F9-668F-B0C23604C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9624" y="2159126"/>
            <a:ext cx="429768" cy="429768"/>
          </a:xfrm>
          <a:prstGeom prst="rect">
            <a:avLst/>
          </a:prstGeom>
        </p:spPr>
      </p:pic>
      <p:sp>
        <p:nvSpPr>
          <p:cNvPr id="45" name="Text 24">
            <a:extLst>
              <a:ext uri="{FF2B5EF4-FFF2-40B4-BE49-F238E27FC236}">
                <a16:creationId xmlns:a16="http://schemas.microsoft.com/office/drawing/2014/main" id="{8DC48B18-6826-823D-916F-4BF483570D75}"/>
              </a:ext>
            </a:extLst>
          </p:cNvPr>
          <p:cNvSpPr/>
          <p:nvPr/>
        </p:nvSpPr>
        <p:spPr>
          <a:xfrm>
            <a:off x="4343400" y="225056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>
                <a:solidFill>
                  <a:srgbClr val="6B7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870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6B5AE8DE-CDEA-D17B-0D49-63A6EC158F07}"/>
              </a:ext>
            </a:extLst>
          </p:cNvPr>
          <p:cNvSpPr/>
          <p:nvPr/>
        </p:nvSpPr>
        <p:spPr>
          <a:xfrm>
            <a:off x="4343400" y="247916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550"/>
          </a:p>
        </p:txBody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E2624CE3-AA11-C53B-372F-6F1C2056BE6A}"/>
              </a:ext>
            </a:extLst>
          </p:cNvPr>
          <p:cNvSpPr/>
          <p:nvPr/>
        </p:nvSpPr>
        <p:spPr>
          <a:xfrm>
            <a:off x="3904488" y="2966489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knowledge and design the workflow.</a:t>
            </a:r>
            <a:endParaRPr lang="en-US" sz="970"/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C4072D12-0338-5C1A-85F3-15E91852723D}"/>
              </a:ext>
            </a:extLst>
          </p:cNvPr>
          <p:cNvSpPr/>
          <p:nvPr/>
        </p:nvSpPr>
        <p:spPr>
          <a:xfrm>
            <a:off x="3922776" y="35334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B1F572C0-A419-8F05-B2AF-633D20B9DD9A}"/>
              </a:ext>
            </a:extLst>
          </p:cNvPr>
          <p:cNvSpPr/>
          <p:nvPr/>
        </p:nvSpPr>
        <p:spPr>
          <a:xfrm>
            <a:off x="4059936" y="34785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integration</a:t>
            </a:r>
            <a:endParaRPr lang="en-US" sz="93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2661FFA-077A-D723-41A1-9AE5966B5635}"/>
              </a:ext>
            </a:extLst>
          </p:cNvPr>
          <p:cNvSpPr/>
          <p:nvPr/>
        </p:nvSpPr>
        <p:spPr>
          <a:xfrm>
            <a:off x="3922776" y="37620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0">
            <a:extLst>
              <a:ext uri="{FF2B5EF4-FFF2-40B4-BE49-F238E27FC236}">
                <a16:creationId xmlns:a16="http://schemas.microsoft.com/office/drawing/2014/main" id="{AFCE5F9D-8574-A5E0-7D20-93F46A43B72E}"/>
              </a:ext>
            </a:extLst>
          </p:cNvPr>
          <p:cNvSpPr/>
          <p:nvPr/>
        </p:nvSpPr>
        <p:spPr>
          <a:xfrm>
            <a:off x="4059936" y="37071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setup</a:t>
            </a:r>
            <a:endParaRPr lang="en-US" sz="930"/>
          </a:p>
        </p:txBody>
      </p:sp>
      <p:sp>
        <p:nvSpPr>
          <p:cNvPr id="52" name="Shape 31">
            <a:extLst>
              <a:ext uri="{FF2B5EF4-FFF2-40B4-BE49-F238E27FC236}">
                <a16:creationId xmlns:a16="http://schemas.microsoft.com/office/drawing/2014/main" id="{1E801DDD-BD5C-F8AF-9B4B-66CD4717642B}"/>
              </a:ext>
            </a:extLst>
          </p:cNvPr>
          <p:cNvSpPr/>
          <p:nvPr/>
        </p:nvSpPr>
        <p:spPr>
          <a:xfrm>
            <a:off x="3922776" y="39906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2">
            <a:extLst>
              <a:ext uri="{FF2B5EF4-FFF2-40B4-BE49-F238E27FC236}">
                <a16:creationId xmlns:a16="http://schemas.microsoft.com/office/drawing/2014/main" id="{072C1A89-5F84-9EFE-214B-399482A70AF4}"/>
              </a:ext>
            </a:extLst>
          </p:cNvPr>
          <p:cNvSpPr/>
          <p:nvPr/>
        </p:nvSpPr>
        <p:spPr>
          <a:xfrm>
            <a:off x="4059936" y="39357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 tuning</a:t>
            </a:r>
            <a:endParaRPr lang="en-US" sz="930"/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0ADBB417-7E06-7578-5B49-72D099BF8620}"/>
              </a:ext>
            </a:extLst>
          </p:cNvPr>
          <p:cNvSpPr/>
          <p:nvPr/>
        </p:nvSpPr>
        <p:spPr>
          <a:xfrm>
            <a:off x="3837253" y="4267626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EE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83BBD907-BCFE-6C3C-4B22-0161E5131476}"/>
              </a:ext>
            </a:extLst>
          </p:cNvPr>
          <p:cNvSpPr/>
          <p:nvPr/>
        </p:nvSpPr>
        <p:spPr>
          <a:xfrm>
            <a:off x="3928693" y="4354493"/>
            <a:ext cx="1691640" cy="114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Compass experience</a:t>
            </a:r>
            <a:endParaRPr lang="en-US" sz="830"/>
          </a:p>
        </p:txBody>
      </p:sp>
      <p:sp>
        <p:nvSpPr>
          <p:cNvPr id="56" name="Shape 35">
            <a:extLst>
              <a:ext uri="{FF2B5EF4-FFF2-40B4-BE49-F238E27FC236}">
                <a16:creationId xmlns:a16="http://schemas.microsoft.com/office/drawing/2014/main" id="{BFAF4C91-B562-CE60-1757-F2D8CE0F0575}"/>
              </a:ext>
            </a:extLst>
          </p:cNvPr>
          <p:cNvSpPr/>
          <p:nvPr/>
        </p:nvSpPr>
        <p:spPr>
          <a:xfrm>
            <a:off x="6446520" y="1994534"/>
            <a:ext cx="2286000" cy="2624328"/>
          </a:xfrm>
          <a:prstGeom prst="roundRect">
            <a:avLst>
              <a:gd name="adj" fmla="val 6400"/>
            </a:avLst>
          </a:prstGeom>
          <a:solidFill>
            <a:srgbClr val="F8F9FF"/>
          </a:solidFill>
          <a:ln w="12700">
            <a:solidFill>
              <a:srgbClr val="BFD0FF"/>
            </a:solidFill>
            <a:prstDash val="solid"/>
          </a:ln>
          <a:effectLst>
            <a:outerShdw blurRad="25400" dist="50800" dir="2700000" algn="bl" rotWithShape="0">
              <a:srgbClr val="B8C8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37">
            <a:extLst>
              <a:ext uri="{FF2B5EF4-FFF2-40B4-BE49-F238E27FC236}">
                <a16:creationId xmlns:a16="http://schemas.microsoft.com/office/drawing/2014/main" id="{4F0150A4-674E-688F-5969-7391E1992E14}"/>
              </a:ext>
            </a:extLst>
          </p:cNvPr>
          <p:cNvSpPr/>
          <p:nvPr/>
        </p:nvSpPr>
        <p:spPr>
          <a:xfrm>
            <a:off x="7242048" y="2703463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A3FB4BA4-3987-D9AC-DBA9-BE47AD171F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2824" y="2159126"/>
            <a:ext cx="429768" cy="429768"/>
          </a:xfrm>
          <a:prstGeom prst="rect">
            <a:avLst/>
          </a:prstGeom>
        </p:spPr>
      </p:pic>
      <p:sp>
        <p:nvSpPr>
          <p:cNvPr id="59" name="Text 38">
            <a:extLst>
              <a:ext uri="{FF2B5EF4-FFF2-40B4-BE49-F238E27FC236}">
                <a16:creationId xmlns:a16="http://schemas.microsoft.com/office/drawing/2014/main" id="{5639CD74-5EEA-D1DC-3592-FAD4766018E5}"/>
              </a:ext>
            </a:extLst>
          </p:cNvPr>
          <p:cNvSpPr/>
          <p:nvPr/>
        </p:nvSpPr>
        <p:spPr>
          <a:xfrm>
            <a:off x="7086600" y="225056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870"/>
          </a:p>
        </p:txBody>
      </p:sp>
      <p:sp>
        <p:nvSpPr>
          <p:cNvPr id="60" name="Text 39">
            <a:extLst>
              <a:ext uri="{FF2B5EF4-FFF2-40B4-BE49-F238E27FC236}">
                <a16:creationId xmlns:a16="http://schemas.microsoft.com/office/drawing/2014/main" id="{34D721EF-5844-D24A-8C15-051AD5D5D2DE}"/>
              </a:ext>
            </a:extLst>
          </p:cNvPr>
          <p:cNvSpPr/>
          <p:nvPr/>
        </p:nvSpPr>
        <p:spPr>
          <a:xfrm>
            <a:off x="7086600" y="247916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550"/>
          </a:p>
        </p:txBody>
      </p:sp>
      <p:sp>
        <p:nvSpPr>
          <p:cNvPr id="61" name="Text 40">
            <a:extLst>
              <a:ext uri="{FF2B5EF4-FFF2-40B4-BE49-F238E27FC236}">
                <a16:creationId xmlns:a16="http://schemas.microsoft.com/office/drawing/2014/main" id="{BABCE7B2-33FB-D9FC-F246-BDE003FDA0F7}"/>
              </a:ext>
            </a:extLst>
          </p:cNvPr>
          <p:cNvSpPr/>
          <p:nvPr/>
        </p:nvSpPr>
        <p:spPr>
          <a:xfrm>
            <a:off x="6647688" y="2966489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safely, learn fast, optimize in production.</a:t>
            </a:r>
            <a:endParaRPr lang="en-US" sz="970"/>
          </a:p>
        </p:txBody>
      </p:sp>
      <p:sp>
        <p:nvSpPr>
          <p:cNvPr id="62" name="Shape 41">
            <a:extLst>
              <a:ext uri="{FF2B5EF4-FFF2-40B4-BE49-F238E27FC236}">
                <a16:creationId xmlns:a16="http://schemas.microsoft.com/office/drawing/2014/main" id="{5552EC31-17D3-0A4C-9CF2-94CD515AD155}"/>
              </a:ext>
            </a:extLst>
          </p:cNvPr>
          <p:cNvSpPr/>
          <p:nvPr/>
        </p:nvSpPr>
        <p:spPr>
          <a:xfrm>
            <a:off x="6665976" y="35334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42">
            <a:extLst>
              <a:ext uri="{FF2B5EF4-FFF2-40B4-BE49-F238E27FC236}">
                <a16:creationId xmlns:a16="http://schemas.microsoft.com/office/drawing/2014/main" id="{93DD712A-9E98-5C05-7FB0-C4DEF9F52AA8}"/>
              </a:ext>
            </a:extLst>
          </p:cNvPr>
          <p:cNvSpPr/>
          <p:nvPr/>
        </p:nvSpPr>
        <p:spPr>
          <a:xfrm>
            <a:off x="6803136" y="34785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production rollout</a:t>
            </a:r>
            <a:endParaRPr lang="en-US" sz="930"/>
          </a:p>
        </p:txBody>
      </p:sp>
      <p:sp>
        <p:nvSpPr>
          <p:cNvPr id="64" name="Shape 43">
            <a:extLst>
              <a:ext uri="{FF2B5EF4-FFF2-40B4-BE49-F238E27FC236}">
                <a16:creationId xmlns:a16="http://schemas.microsoft.com/office/drawing/2014/main" id="{A419B528-5056-AB70-735C-A335846F6297}"/>
              </a:ext>
            </a:extLst>
          </p:cNvPr>
          <p:cNvSpPr/>
          <p:nvPr/>
        </p:nvSpPr>
        <p:spPr>
          <a:xfrm>
            <a:off x="6665976" y="37620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44">
            <a:extLst>
              <a:ext uri="{FF2B5EF4-FFF2-40B4-BE49-F238E27FC236}">
                <a16:creationId xmlns:a16="http://schemas.microsoft.com/office/drawing/2014/main" id="{113AC458-A846-BE24-302A-2B0CCE4205A2}"/>
              </a:ext>
            </a:extLst>
          </p:cNvPr>
          <p:cNvSpPr/>
          <p:nvPr/>
        </p:nvSpPr>
        <p:spPr>
          <a:xfrm>
            <a:off x="6803136" y="37071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feedback</a:t>
            </a:r>
            <a:endParaRPr lang="en-US" sz="930"/>
          </a:p>
        </p:txBody>
      </p:sp>
      <p:sp>
        <p:nvSpPr>
          <p:cNvPr id="66" name="Shape 45">
            <a:extLst>
              <a:ext uri="{FF2B5EF4-FFF2-40B4-BE49-F238E27FC236}">
                <a16:creationId xmlns:a16="http://schemas.microsoft.com/office/drawing/2014/main" id="{3A99102B-8F1B-253B-18BF-F8E7D99F8C3A}"/>
              </a:ext>
            </a:extLst>
          </p:cNvPr>
          <p:cNvSpPr/>
          <p:nvPr/>
        </p:nvSpPr>
        <p:spPr>
          <a:xfrm>
            <a:off x="6665976" y="39906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46">
            <a:extLst>
              <a:ext uri="{FF2B5EF4-FFF2-40B4-BE49-F238E27FC236}">
                <a16:creationId xmlns:a16="http://schemas.microsoft.com/office/drawing/2014/main" id="{7BE2D7B7-6DE0-C26C-9B73-A8439FC03B1C}"/>
              </a:ext>
            </a:extLst>
          </p:cNvPr>
          <p:cNvSpPr/>
          <p:nvPr/>
        </p:nvSpPr>
        <p:spPr>
          <a:xfrm>
            <a:off x="6803136" y="39357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optimization</a:t>
            </a:r>
            <a:endParaRPr lang="en-US" sz="930"/>
          </a:p>
        </p:txBody>
      </p:sp>
      <p:sp>
        <p:nvSpPr>
          <p:cNvPr id="68" name="Shape 47">
            <a:extLst>
              <a:ext uri="{FF2B5EF4-FFF2-40B4-BE49-F238E27FC236}">
                <a16:creationId xmlns:a16="http://schemas.microsoft.com/office/drawing/2014/main" id="{62A60882-DF44-6E33-464A-AA8E017D3C84}"/>
              </a:ext>
            </a:extLst>
          </p:cNvPr>
          <p:cNvSpPr/>
          <p:nvPr/>
        </p:nvSpPr>
        <p:spPr>
          <a:xfrm>
            <a:off x="6665976" y="4267626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EE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48">
            <a:extLst>
              <a:ext uri="{FF2B5EF4-FFF2-40B4-BE49-F238E27FC236}">
                <a16:creationId xmlns:a16="http://schemas.microsoft.com/office/drawing/2014/main" id="{58D54591-DF4F-7350-09E9-CEA4576F2ED4}"/>
              </a:ext>
            </a:extLst>
          </p:cNvPr>
          <p:cNvSpPr/>
          <p:nvPr/>
        </p:nvSpPr>
        <p:spPr>
          <a:xfrm>
            <a:off x="6757416" y="4354493"/>
            <a:ext cx="1691640" cy="17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results</a:t>
            </a:r>
            <a:endParaRPr lang="en-US" sz="830"/>
          </a:p>
        </p:txBody>
      </p:sp>
      <p:sp>
        <p:nvSpPr>
          <p:cNvPr id="70" name="Shape 49">
            <a:extLst>
              <a:ext uri="{FF2B5EF4-FFF2-40B4-BE49-F238E27FC236}">
                <a16:creationId xmlns:a16="http://schemas.microsoft.com/office/drawing/2014/main" id="{D41603B5-A220-A051-2C53-4AC19C3EE12E}"/>
              </a:ext>
            </a:extLst>
          </p:cNvPr>
          <p:cNvSpPr/>
          <p:nvPr/>
        </p:nvSpPr>
        <p:spPr>
          <a:xfrm>
            <a:off x="9189720" y="1994534"/>
            <a:ext cx="2286000" cy="26243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8"/>
            </a:solidFill>
            <a:prstDash val="solid"/>
          </a:ln>
          <a:effectLst>
            <a:outerShdw blurRad="25400" dist="50800" dir="2700000" algn="bl" rotWithShape="0">
              <a:srgbClr val="B8C8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97B7D96E-77DB-4212-7C93-C6C6F64ED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6024" y="2159126"/>
            <a:ext cx="429768" cy="429768"/>
          </a:xfrm>
          <a:prstGeom prst="rect">
            <a:avLst/>
          </a:prstGeom>
        </p:spPr>
      </p:pic>
      <p:sp>
        <p:nvSpPr>
          <p:cNvPr id="72" name="Text 52">
            <a:extLst>
              <a:ext uri="{FF2B5EF4-FFF2-40B4-BE49-F238E27FC236}">
                <a16:creationId xmlns:a16="http://schemas.microsoft.com/office/drawing/2014/main" id="{08314504-C5E6-CB63-D437-A27AB5F284EC}"/>
              </a:ext>
            </a:extLst>
          </p:cNvPr>
          <p:cNvSpPr/>
          <p:nvPr/>
        </p:nvSpPr>
        <p:spPr>
          <a:xfrm>
            <a:off x="9829800" y="225056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>
                <a:solidFill>
                  <a:srgbClr val="6B7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870"/>
          </a:p>
        </p:txBody>
      </p:sp>
      <p:sp>
        <p:nvSpPr>
          <p:cNvPr id="73" name="Text 53">
            <a:extLst>
              <a:ext uri="{FF2B5EF4-FFF2-40B4-BE49-F238E27FC236}">
                <a16:creationId xmlns:a16="http://schemas.microsoft.com/office/drawing/2014/main" id="{80034F04-5845-F9D9-627B-D1A6FA12BBF9}"/>
              </a:ext>
            </a:extLst>
          </p:cNvPr>
          <p:cNvSpPr/>
          <p:nvPr/>
        </p:nvSpPr>
        <p:spPr>
          <a:xfrm>
            <a:off x="9829800" y="247916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550"/>
          </a:p>
        </p:txBody>
      </p:sp>
      <p:sp>
        <p:nvSpPr>
          <p:cNvPr id="74" name="Text 54">
            <a:extLst>
              <a:ext uri="{FF2B5EF4-FFF2-40B4-BE49-F238E27FC236}">
                <a16:creationId xmlns:a16="http://schemas.microsoft.com/office/drawing/2014/main" id="{363E6C7D-53A7-E66E-B709-982E9721DE50}"/>
              </a:ext>
            </a:extLst>
          </p:cNvPr>
          <p:cNvSpPr/>
          <p:nvPr/>
        </p:nvSpPr>
        <p:spPr>
          <a:xfrm>
            <a:off x="9390888" y="2966489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across the enterprise with governance.</a:t>
            </a:r>
            <a:endParaRPr lang="en-US" sz="970"/>
          </a:p>
        </p:txBody>
      </p:sp>
      <p:sp>
        <p:nvSpPr>
          <p:cNvPr id="75" name="Shape 55">
            <a:extLst>
              <a:ext uri="{FF2B5EF4-FFF2-40B4-BE49-F238E27FC236}">
                <a16:creationId xmlns:a16="http://schemas.microsoft.com/office/drawing/2014/main" id="{80644478-F143-0B9E-85A2-9CD0A2EC0812}"/>
              </a:ext>
            </a:extLst>
          </p:cNvPr>
          <p:cNvSpPr/>
          <p:nvPr/>
        </p:nvSpPr>
        <p:spPr>
          <a:xfrm>
            <a:off x="9409176" y="35334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6">
            <a:extLst>
              <a:ext uri="{FF2B5EF4-FFF2-40B4-BE49-F238E27FC236}">
                <a16:creationId xmlns:a16="http://schemas.microsoft.com/office/drawing/2014/main" id="{E8C59079-72E6-C964-A3C4-C0498BCCDB57}"/>
              </a:ext>
            </a:extLst>
          </p:cNvPr>
          <p:cNvSpPr/>
          <p:nvPr/>
        </p:nvSpPr>
        <p:spPr>
          <a:xfrm>
            <a:off x="9546336" y="34785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deployment</a:t>
            </a:r>
            <a:endParaRPr lang="en-US" sz="930"/>
          </a:p>
        </p:txBody>
      </p:sp>
      <p:sp>
        <p:nvSpPr>
          <p:cNvPr id="77" name="Shape 57">
            <a:extLst>
              <a:ext uri="{FF2B5EF4-FFF2-40B4-BE49-F238E27FC236}">
                <a16:creationId xmlns:a16="http://schemas.microsoft.com/office/drawing/2014/main" id="{2D5B80EA-8185-9256-3484-7CCFEC4BCF61}"/>
              </a:ext>
            </a:extLst>
          </p:cNvPr>
          <p:cNvSpPr/>
          <p:nvPr/>
        </p:nvSpPr>
        <p:spPr>
          <a:xfrm>
            <a:off x="9409176" y="37620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58">
            <a:extLst>
              <a:ext uri="{FF2B5EF4-FFF2-40B4-BE49-F238E27FC236}">
                <a16:creationId xmlns:a16="http://schemas.microsoft.com/office/drawing/2014/main" id="{4D735582-DC07-6926-D67E-8FBDC43CE838}"/>
              </a:ext>
            </a:extLst>
          </p:cNvPr>
          <p:cNvSpPr/>
          <p:nvPr/>
        </p:nvSpPr>
        <p:spPr>
          <a:xfrm>
            <a:off x="9546336" y="37071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use cases</a:t>
            </a:r>
            <a:endParaRPr lang="en-US" sz="930"/>
          </a:p>
        </p:txBody>
      </p:sp>
      <p:sp>
        <p:nvSpPr>
          <p:cNvPr id="79" name="Shape 59">
            <a:extLst>
              <a:ext uri="{FF2B5EF4-FFF2-40B4-BE49-F238E27FC236}">
                <a16:creationId xmlns:a16="http://schemas.microsoft.com/office/drawing/2014/main" id="{66F51835-F6D6-ED1F-77AD-B8A93AC4FE22}"/>
              </a:ext>
            </a:extLst>
          </p:cNvPr>
          <p:cNvSpPr/>
          <p:nvPr/>
        </p:nvSpPr>
        <p:spPr>
          <a:xfrm>
            <a:off x="9409176" y="39906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60">
            <a:extLst>
              <a:ext uri="{FF2B5EF4-FFF2-40B4-BE49-F238E27FC236}">
                <a16:creationId xmlns:a16="http://schemas.microsoft.com/office/drawing/2014/main" id="{135E0278-4535-FC9F-6424-580A9FD478ED}"/>
              </a:ext>
            </a:extLst>
          </p:cNvPr>
          <p:cNvSpPr/>
          <p:nvPr/>
        </p:nvSpPr>
        <p:spPr>
          <a:xfrm>
            <a:off x="9546336" y="39357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</a:t>
            </a:r>
            <a:endParaRPr lang="en-US" sz="930"/>
          </a:p>
        </p:txBody>
      </p:sp>
      <p:sp>
        <p:nvSpPr>
          <p:cNvPr id="81" name="Shape 61">
            <a:extLst>
              <a:ext uri="{FF2B5EF4-FFF2-40B4-BE49-F238E27FC236}">
                <a16:creationId xmlns:a16="http://schemas.microsoft.com/office/drawing/2014/main" id="{EA8F3B8A-6C4C-2B9A-AAD5-01F2BD176C77}"/>
              </a:ext>
            </a:extLst>
          </p:cNvPr>
          <p:cNvSpPr/>
          <p:nvPr/>
        </p:nvSpPr>
        <p:spPr>
          <a:xfrm>
            <a:off x="9390888" y="4264398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F3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62">
            <a:extLst>
              <a:ext uri="{FF2B5EF4-FFF2-40B4-BE49-F238E27FC236}">
                <a16:creationId xmlns:a16="http://schemas.microsoft.com/office/drawing/2014/main" id="{1C1A7488-6CC9-C556-132B-1557585D83E0}"/>
              </a:ext>
            </a:extLst>
          </p:cNvPr>
          <p:cNvSpPr/>
          <p:nvPr/>
        </p:nvSpPr>
        <p:spPr>
          <a:xfrm>
            <a:off x="9482328" y="4351265"/>
            <a:ext cx="1691640" cy="1723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operating model</a:t>
            </a:r>
            <a:endParaRPr lang="en-US" sz="830"/>
          </a:p>
        </p:txBody>
      </p:sp>
      <p:sp>
        <p:nvSpPr>
          <p:cNvPr id="83" name="Shape 63">
            <a:extLst>
              <a:ext uri="{FF2B5EF4-FFF2-40B4-BE49-F238E27FC236}">
                <a16:creationId xmlns:a16="http://schemas.microsoft.com/office/drawing/2014/main" id="{0CB0A545-2F1E-AD23-824C-FC61FB2532A9}"/>
              </a:ext>
            </a:extLst>
          </p:cNvPr>
          <p:cNvSpPr/>
          <p:nvPr/>
        </p:nvSpPr>
        <p:spPr>
          <a:xfrm>
            <a:off x="713232" y="5101776"/>
            <a:ext cx="10771632" cy="594360"/>
          </a:xfrm>
          <a:prstGeom prst="roundRect">
            <a:avLst>
              <a:gd name="adj" fmla="val 23077"/>
            </a:avLst>
          </a:prstGeom>
          <a:solidFill>
            <a:srgbClr val="151A44"/>
          </a:solidFill>
          <a:ln w="12700">
            <a:solidFill>
              <a:srgbClr val="151A44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B8C8F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64">
            <a:extLst>
              <a:ext uri="{FF2B5EF4-FFF2-40B4-BE49-F238E27FC236}">
                <a16:creationId xmlns:a16="http://schemas.microsoft.com/office/drawing/2014/main" id="{D9363E75-4002-D7B0-1F5F-9F14880310CA}"/>
              </a:ext>
            </a:extLst>
          </p:cNvPr>
          <p:cNvSpPr/>
          <p:nvPr/>
        </p:nvSpPr>
        <p:spPr>
          <a:xfrm>
            <a:off x="960120" y="52389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right use cases</a:t>
            </a:r>
            <a:endParaRPr lang="en-US" sz="1040"/>
          </a:p>
        </p:txBody>
      </p:sp>
      <p:sp>
        <p:nvSpPr>
          <p:cNvPr id="85" name="Text 65">
            <a:extLst>
              <a:ext uri="{FF2B5EF4-FFF2-40B4-BE49-F238E27FC236}">
                <a16:creationId xmlns:a16="http://schemas.microsoft.com/office/drawing/2014/main" id="{D62F99F0-05A2-85DA-CF68-CC1706E04F24}"/>
              </a:ext>
            </a:extLst>
          </p:cNvPr>
          <p:cNvSpPr/>
          <p:nvPr/>
        </p:nvSpPr>
        <p:spPr>
          <a:xfrm>
            <a:off x="960120" y="5430960"/>
            <a:ext cx="2057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BFC9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780"/>
          </a:p>
        </p:txBody>
      </p:sp>
      <p:sp>
        <p:nvSpPr>
          <p:cNvPr id="86" name="Shape 66">
            <a:extLst>
              <a:ext uri="{FF2B5EF4-FFF2-40B4-BE49-F238E27FC236}">
                <a16:creationId xmlns:a16="http://schemas.microsoft.com/office/drawing/2014/main" id="{3B7C64DC-E653-8313-6B57-781BCA948363}"/>
              </a:ext>
            </a:extLst>
          </p:cNvPr>
          <p:cNvSpPr/>
          <p:nvPr/>
        </p:nvSpPr>
        <p:spPr>
          <a:xfrm>
            <a:off x="3291840" y="5248080"/>
            <a:ext cx="0" cy="256032"/>
          </a:xfrm>
          <a:prstGeom prst="line">
            <a:avLst/>
          </a:prstGeom>
          <a:noFill/>
          <a:ln w="10160">
            <a:solidFill>
              <a:srgbClr val="5361A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67">
            <a:extLst>
              <a:ext uri="{FF2B5EF4-FFF2-40B4-BE49-F238E27FC236}">
                <a16:creationId xmlns:a16="http://schemas.microsoft.com/office/drawing/2014/main" id="{2E39CC98-5904-9E1E-9353-B59D7ED3D531}"/>
              </a:ext>
            </a:extLst>
          </p:cNvPr>
          <p:cNvSpPr/>
          <p:nvPr/>
        </p:nvSpPr>
        <p:spPr>
          <a:xfrm>
            <a:off x="3566160" y="52389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for real workflows</a:t>
            </a:r>
            <a:endParaRPr lang="en-US" sz="1040"/>
          </a:p>
        </p:txBody>
      </p:sp>
      <p:sp>
        <p:nvSpPr>
          <p:cNvPr id="88" name="Text 68">
            <a:extLst>
              <a:ext uri="{FF2B5EF4-FFF2-40B4-BE49-F238E27FC236}">
                <a16:creationId xmlns:a16="http://schemas.microsoft.com/office/drawing/2014/main" id="{878B116B-E9F0-FABE-0CD3-CAC33ED928B1}"/>
              </a:ext>
            </a:extLst>
          </p:cNvPr>
          <p:cNvSpPr/>
          <p:nvPr/>
        </p:nvSpPr>
        <p:spPr>
          <a:xfrm>
            <a:off x="3566160" y="5430960"/>
            <a:ext cx="2057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BFC9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780"/>
          </a:p>
        </p:txBody>
      </p:sp>
      <p:sp>
        <p:nvSpPr>
          <p:cNvPr id="89" name="Shape 69">
            <a:extLst>
              <a:ext uri="{FF2B5EF4-FFF2-40B4-BE49-F238E27FC236}">
                <a16:creationId xmlns:a16="http://schemas.microsoft.com/office/drawing/2014/main" id="{418DBEBE-857D-1863-0126-9FD2BC587B48}"/>
              </a:ext>
            </a:extLst>
          </p:cNvPr>
          <p:cNvSpPr/>
          <p:nvPr/>
        </p:nvSpPr>
        <p:spPr>
          <a:xfrm>
            <a:off x="5897880" y="5248080"/>
            <a:ext cx="0" cy="256032"/>
          </a:xfrm>
          <a:prstGeom prst="line">
            <a:avLst/>
          </a:prstGeom>
          <a:noFill/>
          <a:ln w="10160">
            <a:solidFill>
              <a:srgbClr val="5361A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70">
            <a:extLst>
              <a:ext uri="{FF2B5EF4-FFF2-40B4-BE49-F238E27FC236}">
                <a16:creationId xmlns:a16="http://schemas.microsoft.com/office/drawing/2014/main" id="{9290CCCB-B4F6-F7EE-20D1-2330D1D1E28D}"/>
              </a:ext>
            </a:extLst>
          </p:cNvPr>
          <p:cNvSpPr/>
          <p:nvPr/>
        </p:nvSpPr>
        <p:spPr>
          <a:xfrm>
            <a:off x="6172200" y="52389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outcomes in production</a:t>
            </a:r>
            <a:endParaRPr lang="en-US" sz="1040"/>
          </a:p>
        </p:txBody>
      </p:sp>
      <p:sp>
        <p:nvSpPr>
          <p:cNvPr id="91" name="Text 71">
            <a:extLst>
              <a:ext uri="{FF2B5EF4-FFF2-40B4-BE49-F238E27FC236}">
                <a16:creationId xmlns:a16="http://schemas.microsoft.com/office/drawing/2014/main" id="{6DE0606A-13FE-963A-E27A-1F43DE3D3088}"/>
              </a:ext>
            </a:extLst>
          </p:cNvPr>
          <p:cNvSpPr/>
          <p:nvPr/>
        </p:nvSpPr>
        <p:spPr>
          <a:xfrm>
            <a:off x="6172200" y="5430960"/>
            <a:ext cx="2057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BFC9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780"/>
          </a:p>
        </p:txBody>
      </p:sp>
      <p:sp>
        <p:nvSpPr>
          <p:cNvPr id="92" name="Shape 72">
            <a:extLst>
              <a:ext uri="{FF2B5EF4-FFF2-40B4-BE49-F238E27FC236}">
                <a16:creationId xmlns:a16="http://schemas.microsoft.com/office/drawing/2014/main" id="{B3F6CD0D-84C8-2B30-5FB1-808390380ABB}"/>
              </a:ext>
            </a:extLst>
          </p:cNvPr>
          <p:cNvSpPr/>
          <p:nvPr/>
        </p:nvSpPr>
        <p:spPr>
          <a:xfrm>
            <a:off x="8503920" y="5248080"/>
            <a:ext cx="0" cy="256032"/>
          </a:xfrm>
          <a:prstGeom prst="line">
            <a:avLst/>
          </a:prstGeom>
          <a:noFill/>
          <a:ln w="10160">
            <a:solidFill>
              <a:srgbClr val="5361A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73">
            <a:extLst>
              <a:ext uri="{FF2B5EF4-FFF2-40B4-BE49-F238E27FC236}">
                <a16:creationId xmlns:a16="http://schemas.microsoft.com/office/drawing/2014/main" id="{1010E73E-D164-E916-D53E-7B85AFD7EA23}"/>
              </a:ext>
            </a:extLst>
          </p:cNvPr>
          <p:cNvSpPr/>
          <p:nvPr/>
        </p:nvSpPr>
        <p:spPr>
          <a:xfrm>
            <a:off x="8778240" y="52389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what works</a:t>
            </a:r>
            <a:endParaRPr lang="en-US" sz="1040"/>
          </a:p>
        </p:txBody>
      </p:sp>
      <p:sp>
        <p:nvSpPr>
          <p:cNvPr id="94" name="Text 74">
            <a:extLst>
              <a:ext uri="{FF2B5EF4-FFF2-40B4-BE49-F238E27FC236}">
                <a16:creationId xmlns:a16="http://schemas.microsoft.com/office/drawing/2014/main" id="{5F5C9590-B226-2F80-8840-23CC2ED9605A}"/>
              </a:ext>
            </a:extLst>
          </p:cNvPr>
          <p:cNvSpPr/>
          <p:nvPr/>
        </p:nvSpPr>
        <p:spPr>
          <a:xfrm>
            <a:off x="8778240" y="5430960"/>
            <a:ext cx="2057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BFC9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780"/>
          </a:p>
        </p:txBody>
      </p:sp>
    </p:spTree>
    <p:extLst>
      <p:ext uri="{BB962C8B-B14F-4D97-AF65-F5344CB8AC3E}">
        <p14:creationId xmlns:p14="http://schemas.microsoft.com/office/powerpoint/2010/main" val="2697229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466B38-F576-8A3C-4BE8-315845C55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779" y="2155595"/>
            <a:ext cx="8483600" cy="786295"/>
          </a:xfrm>
        </p:spPr>
        <p:txBody>
          <a:bodyPr/>
          <a:lstStyle/>
          <a:p>
            <a:r>
              <a:rPr lang="en-US"/>
              <a:t>Where do we go from here?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E30038C-4BCD-72A5-D384-DCD361300D1A}"/>
              </a:ext>
            </a:extLst>
          </p:cNvPr>
          <p:cNvSpPr/>
          <p:nvPr/>
        </p:nvSpPr>
        <p:spPr>
          <a:xfrm>
            <a:off x="83616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DD241FD-A8B5-C932-5F37-06FCBE9CD60B}"/>
              </a:ext>
            </a:extLst>
          </p:cNvPr>
          <p:cNvSpPr/>
          <p:nvPr/>
        </p:nvSpPr>
        <p:spPr>
          <a:xfrm>
            <a:off x="83616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01</a:t>
            </a:r>
            <a:endParaRPr lang="en-US" sz="1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4A904A3-0A0C-95FC-F4AA-4EFBD235A799}"/>
              </a:ext>
            </a:extLst>
          </p:cNvPr>
          <p:cNvSpPr/>
          <p:nvPr/>
        </p:nvSpPr>
        <p:spPr>
          <a:xfrm>
            <a:off x="836168" y="4123298"/>
            <a:ext cx="2082485" cy="505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Executive strategy session</a:t>
            </a:r>
            <a:endParaRPr lang="en-US" sz="14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BFAF242-6D1A-4187-4944-EEE07079BEDD}"/>
              </a:ext>
            </a:extLst>
          </p:cNvPr>
          <p:cNvSpPr/>
          <p:nvPr/>
        </p:nvSpPr>
        <p:spPr>
          <a:xfrm>
            <a:off x="306119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3B65091-3012-61B5-D59C-0A0F82953C1E}"/>
              </a:ext>
            </a:extLst>
          </p:cNvPr>
          <p:cNvSpPr/>
          <p:nvPr/>
        </p:nvSpPr>
        <p:spPr>
          <a:xfrm>
            <a:off x="306119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02</a:t>
            </a:r>
            <a:endParaRPr lang="en-US" sz="12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66BBA71-EBE8-165B-C021-D340DECF7E86}"/>
              </a:ext>
            </a:extLst>
          </p:cNvPr>
          <p:cNvSpPr/>
          <p:nvPr/>
        </p:nvSpPr>
        <p:spPr>
          <a:xfrm>
            <a:off x="3061198" y="4123298"/>
            <a:ext cx="2082485" cy="505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Customer service assessment</a:t>
            </a:r>
            <a:endParaRPr lang="en-US" sz="14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1042B99-3A82-1EB6-5F07-827E880D0245}"/>
              </a:ext>
            </a:extLst>
          </p:cNvPr>
          <p:cNvSpPr/>
          <p:nvPr/>
        </p:nvSpPr>
        <p:spPr>
          <a:xfrm>
            <a:off x="528622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EC41297-3C4D-8FD7-30BC-62C93F32C8AF}"/>
              </a:ext>
            </a:extLst>
          </p:cNvPr>
          <p:cNvSpPr/>
          <p:nvPr/>
        </p:nvSpPr>
        <p:spPr>
          <a:xfrm>
            <a:off x="528622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03</a:t>
            </a:r>
            <a:endParaRPr lang="en-US" sz="12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71E6BCF-C8C1-F1AC-BB3F-D2DA774F4D5A}"/>
              </a:ext>
            </a:extLst>
          </p:cNvPr>
          <p:cNvSpPr/>
          <p:nvPr/>
        </p:nvSpPr>
        <p:spPr>
          <a:xfrm>
            <a:off x="5286228" y="4123298"/>
            <a:ext cx="2082485" cy="505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Use case prioritization workshop</a:t>
            </a:r>
            <a:endParaRPr lang="en-US" sz="14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BE344AF-5DFF-BA75-168E-F3010D5E50AD}"/>
              </a:ext>
            </a:extLst>
          </p:cNvPr>
          <p:cNvSpPr/>
          <p:nvPr/>
        </p:nvSpPr>
        <p:spPr>
          <a:xfrm>
            <a:off x="751125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2712A14-D6A1-4066-9F89-2B5EF7FB9B93}"/>
              </a:ext>
            </a:extLst>
          </p:cNvPr>
          <p:cNvSpPr/>
          <p:nvPr/>
        </p:nvSpPr>
        <p:spPr>
          <a:xfrm>
            <a:off x="751125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04</a:t>
            </a:r>
            <a:endParaRPr lang="en-US" sz="12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5A52A66-317D-FD01-0330-BC670975CC33}"/>
              </a:ext>
            </a:extLst>
          </p:cNvPr>
          <p:cNvSpPr/>
          <p:nvPr/>
        </p:nvSpPr>
        <p:spPr>
          <a:xfrm>
            <a:off x="7511258" y="4123298"/>
            <a:ext cx="2224013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Solution demonstration</a:t>
            </a:r>
            <a:endParaRPr lang="en-US" sz="14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C4C2713-57F9-0F1E-5FD3-712F0891E8CB}"/>
              </a:ext>
            </a:extLst>
          </p:cNvPr>
          <p:cNvSpPr/>
          <p:nvPr/>
        </p:nvSpPr>
        <p:spPr>
          <a:xfrm>
            <a:off x="973628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26A6621-C1B9-53B8-608E-B31A530A9618}"/>
              </a:ext>
            </a:extLst>
          </p:cNvPr>
          <p:cNvSpPr/>
          <p:nvPr/>
        </p:nvSpPr>
        <p:spPr>
          <a:xfrm>
            <a:off x="973628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05</a:t>
            </a:r>
            <a:endParaRPr lang="en-US" sz="12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88DCD11-8BA7-9C57-0DE7-C27F9A683887}"/>
              </a:ext>
            </a:extLst>
          </p:cNvPr>
          <p:cNvSpPr/>
          <p:nvPr/>
        </p:nvSpPr>
        <p:spPr>
          <a:xfrm>
            <a:off x="9736288" y="4123298"/>
            <a:ext cx="2224013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Pilot program definition</a:t>
            </a:r>
            <a:endParaRPr lang="en-US" sz="140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998D1B8B-5D6C-AF32-FDE5-A6D32B35B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229" y="6362700"/>
            <a:ext cx="930771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96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title"/>
          <p:cNvSpPr txBox="1"/>
          <p:nvPr/>
        </p:nvSpPr>
        <p:spPr>
          <a:xfrm>
            <a:off x="786384" y="393192"/>
            <a:ext cx="9966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1D224B"/>
                </a:solidFill>
                <a:latin typeface="Geist"/>
                <a:ea typeface="Geist"/>
                <a:cs typeface="Geist"/>
              </a:rPr>
              <a:t>A platform engineered for confident conversations</a:t>
            </a:r>
            <a:endParaRPr lang="en-US" sz="2800"/>
          </a:p>
        </p:txBody>
      </p:sp>
      <p:sp>
        <p:nvSpPr>
          <p:cNvPr id="3" name="Slide subtitle"/>
          <p:cNvSpPr txBox="1"/>
          <p:nvPr/>
        </p:nvSpPr>
        <p:spPr>
          <a:xfrm>
            <a:off x="795528" y="96012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400">
                <a:solidFill>
                  <a:srgbClr val="4A5578"/>
                </a:solidFill>
                <a:latin typeface="Geist"/>
                <a:ea typeface="Geist"/>
                <a:cs typeface="Geist"/>
              </a:rPr>
              <a:t>Compass connects member channels, intelligent orchestration, enterprise data, and live escalation in one extensible foundation.</a:t>
            </a:r>
            <a:endParaRPr lang="en-US" sz="1400"/>
          </a:p>
        </p:txBody>
      </p:sp>
      <p:sp>
        <p:nvSpPr>
          <p:cNvPr id="4" name="Header accent"/>
          <p:cNvSpPr/>
          <p:nvPr/>
        </p:nvSpPr>
        <p:spPr>
          <a:xfrm>
            <a:off x="804672" y="1426464"/>
            <a:ext cx="512064" cy="41148"/>
          </a:xfrm>
          <a:prstGeom prst="rect">
            <a:avLst/>
          </a:prstGeom>
          <a:solidFill>
            <a:srgbClr val="ED49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Architecture backdrop"/>
          <p:cNvSpPr txBox="1"/>
          <p:nvPr/>
        </p:nvSpPr>
        <p:spPr>
          <a:xfrm>
            <a:off x="749808" y="1700784"/>
            <a:ext cx="10716768" cy="4453128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8890">
            <a:solidFill>
              <a:srgbClr val="E3E9F3"/>
            </a:solidFill>
            <a:prstDash val="solid"/>
            <a:round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>
                <a:solidFill>
                  <a:srgbClr val="1D224B"/>
                </a:solidFill>
                <a:latin typeface="Geist"/>
                <a:ea typeface="Geist"/>
                <a:cs typeface="Geist"/>
              </a:rPr>
              <a:t/>
            </a:r>
            <a:endParaRPr lang="en-US" sz="1200"/>
          </a:p>
        </p:txBody>
      </p:sp>
      <p:sp>
        <p:nvSpPr>
          <p:cNvPr id="6" name="Channels label"/>
          <p:cNvSpPr txBox="1"/>
          <p:nvPr/>
        </p:nvSpPr>
        <p:spPr>
          <a:xfrm>
            <a:off x="960120" y="190195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850" b="1" spc="65">
                <a:solidFill>
                  <a:srgbClr val="436DB3"/>
                </a:solidFill>
                <a:latin typeface="Geist"/>
                <a:ea typeface="Geist"/>
                <a:cs typeface="Geist"/>
              </a:rPr>
              <a:t>CUSTOMER / CHANNELS</a:t>
            </a:r>
            <a:endParaRPr lang="en-US" sz="850"/>
          </a:p>
        </p:txBody>
      </p:sp>
      <p:sp>
        <p:nvSpPr>
          <p:cNvPr id="7" name="Customer channel container"/>
          <p:cNvSpPr txBox="1"/>
          <p:nvPr/>
        </p:nvSpPr>
        <p:spPr>
          <a:xfrm>
            <a:off x="932688" y="2185416"/>
            <a:ext cx="2560320" cy="2670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4"/>
            </a:solidFill>
            <a:prstDash val="solid"/>
            <a:round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>
                <a:solidFill>
                  <a:srgbClr val="1D224B"/>
                </a:solidFill>
                <a:latin typeface="Geist"/>
                <a:ea typeface="Geist"/>
                <a:cs typeface="Geist"/>
              </a:rPr>
              <a:t/>
            </a:r>
            <a:endParaRPr lang="en-US" sz="1200"/>
          </a:p>
        </p:txBody>
      </p:sp>
      <p:sp>
        <p:nvSpPr>
          <p:cNvPr id="8" name="Customer portal"/>
          <p:cNvSpPr txBox="1"/>
          <p:nvPr/>
        </p:nvSpPr>
        <p:spPr>
          <a:xfrm>
            <a:off x="1143000" y="2432304"/>
            <a:ext cx="1060704" cy="429768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8890">
            <a:solidFill>
              <a:srgbClr val="C6D7EF"/>
            </a:solidFill>
            <a:prstDash val="solid"/>
            <a:round/>
          </a:ln>
        </p:spPr>
        <p:txBody>
          <a:bodyPr wrap="square" lIns="45720" tIns="25146" rIns="45720" bIns="25146" anchor="ctr">
            <a:normAutofit/>
          </a:bodyPr>
          <a:lstStyle/>
          <a:p>
            <a:pPr algn="c">
              <a:buNone/>
            </a:pPr>
            <a:r>
              <a:rPr lang="en-US" sz="950" b="1">
                <a:solidFill>
                  <a:srgbClr val="1D224B"/>
                </a:solidFill>
                <a:latin typeface="Geist"/>
                <a:ea typeface="Geist"/>
                <a:cs typeface="Geist"/>
              </a:rPr>
              <a:t>Customer
Portal</a:t>
            </a:r>
            <a:endParaRPr lang="en-US" sz="950"/>
          </a:p>
        </p:txBody>
      </p:sp>
      <p:sp>
        <p:nvSpPr>
          <p:cNvPr id="9" name="Stellarus portal"/>
          <p:cNvSpPr txBox="1"/>
          <p:nvPr/>
        </p:nvSpPr>
        <p:spPr>
          <a:xfrm>
            <a:off x="2212848" y="2432304"/>
            <a:ext cx="1060704" cy="429768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8890">
            <a:solidFill>
              <a:srgbClr val="C6D7EF"/>
            </a:solidFill>
            <a:prstDash val="solid"/>
            <a:round/>
          </a:ln>
        </p:spPr>
        <p:txBody>
          <a:bodyPr wrap="square" lIns="45720" tIns="25146" rIns="45720" bIns="25146" anchor="ctr">
            <a:normAutofit/>
          </a:bodyPr>
          <a:lstStyle/>
          <a:p>
            <a:pPr algn="c">
              <a:buNone/>
            </a:pPr>
            <a:r>
              <a:rPr lang="en-US" sz="900" b="1">
                <a:solidFill>
                  <a:srgbClr val="1D224B"/>
                </a:solidFill>
                <a:latin typeface="Geist"/>
                <a:ea typeface="Geist"/>
                <a:cs typeface="Geist"/>
              </a:rPr>
              <a:t>Stellarus
Portal</a:t>
            </a:r>
            <a:endParaRPr lang="en-US" sz="900"/>
          </a:p>
        </p:txBody>
      </p:sp>
      <p:sp>
        <p:nvSpPr>
          <p:cNvPr id="10" name="Custom UI"/>
          <p:cNvSpPr txBox="1"/>
          <p:nvPr/>
        </p:nvSpPr>
        <p:spPr>
          <a:xfrm>
            <a:off x="1170432" y="3127248"/>
            <a:ext cx="1014984" cy="310896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>
            <a:noFill/>
          </a:ln>
        </p:spPr>
        <p:txBody>
          <a:bodyPr wrap="square" lIns="36576" tIns="20117" rIns="36576" bIns="20117" anchor="ctr">
            <a:normAutofit/>
          </a:bodyPr>
          <a:lstStyle/>
          <a:p>
            <a:pPr algn="c">
              <a:buNone/>
            </a:pPr>
            <a:r>
              <a:rPr lang="en-US" sz="950">
                <a:solidFill>
                  <a:srgbClr val="4A5578"/>
                </a:solidFill>
                <a:latin typeface="Geist"/>
                <a:ea typeface="Geist"/>
                <a:cs typeface="Geist"/>
              </a:rPr>
              <a:t>Custom UI</a:t>
            </a:r>
            <a:endParaRPr lang="en-US" sz="950"/>
          </a:p>
        </p:txBody>
      </p:sp>
      <p:sp>
        <p:nvSpPr>
          <p:cNvPr id="11" name="Stellarus UI"/>
          <p:cNvSpPr txBox="1"/>
          <p:nvPr/>
        </p:nvSpPr>
        <p:spPr>
          <a:xfrm>
            <a:off x="2240280" y="3127248"/>
            <a:ext cx="1014984" cy="310896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>
            <a:noFill/>
          </a:ln>
        </p:spPr>
        <p:txBody>
          <a:bodyPr wrap="square" lIns="36576" tIns="20117" rIns="36576" bIns="20117" anchor="ctr">
            <a:normAutofit/>
          </a:bodyPr>
          <a:lstStyle/>
          <a:p>
            <a:pPr algn="c">
              <a:buNone/>
            </a:pPr>
            <a:r>
              <a:rPr lang="en-US" sz="950">
                <a:solidFill>
                  <a:srgbClr val="4A5578"/>
                </a:solidFill>
                <a:latin typeface="Geist"/>
                <a:ea typeface="Geist"/>
                <a:cs typeface="Geist"/>
              </a:rPr>
              <a:t>Stellarus UI</a:t>
            </a:r>
            <a:endParaRPr lang="en-US" sz="950"/>
          </a:p>
        </p:txBody>
      </p:sp>
      <p:cxnSp>
        <p:nvCxnSpPr>
          <p:cNvPr id="12" name="Custom UI connection"/>
          <p:cNvCxnSpPr/>
          <p:nvPr/>
        </p:nvCxnSpPr>
        <p:spPr>
          <a:xfrm>
            <a:off x="1677924" y="2862072"/>
            <a:ext cx="0" cy="246888"/>
          </a:xfrm>
          <a:prstGeom prst="line">
            <a:avLst/>
          </a:prstGeom>
          <a:ln w="13970">
            <a:solidFill>
              <a:srgbClr val="A9BEDD"/>
            </a:solidFill>
            <a:prstDash val="solid"/>
          </a:ln>
        </p:spPr>
      </p:cxnSp>
      <p:cxnSp>
        <p:nvCxnSpPr>
          <p:cNvPr id="13" name="Stellarus UI connection"/>
          <p:cNvCxnSpPr/>
          <p:nvPr/>
        </p:nvCxnSpPr>
        <p:spPr>
          <a:xfrm>
            <a:off x="2747772" y="2862072"/>
            <a:ext cx="0" cy="246888"/>
          </a:xfrm>
          <a:prstGeom prst="line">
            <a:avLst/>
          </a:prstGeom>
          <a:ln w="13970">
            <a:solidFill>
              <a:srgbClr val="A9BEDD"/>
            </a:solidFill>
            <a:prstDash val="solid"/>
          </a:ln>
        </p:spPr>
      </p:cxnSp>
      <p:sp>
        <p:nvSpPr>
          <p:cNvPr id="14" name="Stellarus SDK"/>
          <p:cNvSpPr txBox="1"/>
          <p:nvPr/>
        </p:nvSpPr>
        <p:spPr>
          <a:xfrm>
            <a:off x="1179576" y="3895344"/>
            <a:ext cx="2084832" cy="493776"/>
          </a:xfrm>
          <a:prstGeom prst="roundRect">
            <a:avLst>
              <a:gd name="adj" fmla="val 12000"/>
            </a:avLst>
          </a:prstGeom>
          <a:solidFill>
            <a:srgbClr val="436DB3"/>
          </a:solidFill>
          <a:ln>
            <a:noFill/>
          </a:ln>
        </p:spPr>
        <p:txBody>
          <a:bodyPr wrap="square" lIns="45720" tIns="25146" rIns="45720" bIns="25146" anchor="ctr">
            <a:normAutofit/>
          </a:bodyPr>
          <a:lstStyle/>
          <a:p>
            <a:pPr algn="c">
              <a:buNone/>
            </a:pPr>
            <a:r>
              <a:rPr lang="en-US" sz="1200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Stellarus SDK</a:t>
            </a:r>
            <a:endParaRPr lang="en-US" sz="1200"/>
          </a:p>
        </p:txBody>
      </p:sp>
      <p:cxnSp>
        <p:nvCxnSpPr>
          <p:cNvPr id="15" name="Portal to SDK"/>
          <p:cNvCxnSpPr/>
          <p:nvPr/>
        </p:nvCxnSpPr>
        <p:spPr>
          <a:xfrm>
            <a:off x="1677924" y="3438144"/>
            <a:ext cx="548640" cy="457200"/>
          </a:xfrm>
          <a:prstGeom prst="line">
            <a:avLst/>
          </a:prstGeom>
          <a:ln w="19050">
            <a:solidFill>
              <a:srgbClr val="436DB3"/>
            </a:solidFill>
            <a:prstDash val="solid"/>
            <a:tailEnd type="triangle" w="med" len="med"/>
          </a:ln>
        </p:spPr>
      </p:cxnSp>
      <p:cxnSp>
        <p:nvCxnSpPr>
          <p:cNvPr id="16" name="Portal to SDK 2"/>
          <p:cNvCxnSpPr/>
          <p:nvPr/>
        </p:nvCxnSpPr>
        <p:spPr>
          <a:xfrm>
            <a:off x="2747772" y="3438144"/>
            <a:ext cx="-530352" cy="457200"/>
          </a:xfrm>
          <a:prstGeom prst="line">
            <a:avLst/>
          </a:prstGeom>
          <a:ln w="19050">
            <a:solidFill>
              <a:srgbClr val="436DB3"/>
            </a:solidFill>
            <a:prstDash val="solid"/>
            <a:tailEnd type="triangle" w="med" len="med"/>
          </a:ln>
        </p:spPr>
      </p:cxnSp>
      <p:sp>
        <p:nvSpPr>
          <p:cNvPr id="17" name="Platform label"/>
          <p:cNvSpPr txBox="1"/>
          <p:nvPr/>
        </p:nvSpPr>
        <p:spPr>
          <a:xfrm>
            <a:off x="3849624" y="190195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850" b="1" spc="65">
                <a:solidFill>
                  <a:srgbClr val="436DB3"/>
                </a:solidFill>
                <a:latin typeface="Geist"/>
                <a:ea typeface="Geist"/>
                <a:cs typeface="Geist"/>
              </a:rPr>
              <a:t>STELLARUS PLATFORM</a:t>
            </a:r>
            <a:endParaRPr lang="en-US" sz="850"/>
          </a:p>
        </p:txBody>
      </p:sp>
      <p:sp>
        <p:nvSpPr>
          <p:cNvPr id="18" name="Platform container"/>
          <p:cNvSpPr txBox="1"/>
          <p:nvPr/>
        </p:nvSpPr>
        <p:spPr>
          <a:xfrm>
            <a:off x="3813048" y="2185416"/>
            <a:ext cx="5486400" cy="3602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6D7EF"/>
            </a:solidFill>
            <a:prstDash val="solid"/>
            <a:round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>
                <a:solidFill>
                  <a:srgbClr val="1D224B"/>
                </a:solidFill>
                <a:latin typeface="Geist"/>
                <a:ea typeface="Geist"/>
                <a:cs typeface="Geist"/>
              </a:rPr>
              <a:t/>
            </a:r>
            <a:endParaRPr lang="en-US" sz="1200"/>
          </a:p>
        </p:txBody>
      </p:sp>
      <p:sp>
        <p:nvSpPr>
          <p:cNvPr id="19" name="Authentication and customer config"/>
          <p:cNvSpPr txBox="1"/>
          <p:nvPr/>
        </p:nvSpPr>
        <p:spPr>
          <a:xfrm>
            <a:off x="4069080" y="2441448"/>
            <a:ext cx="4983480" cy="448056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8890">
            <a:solidFill>
              <a:srgbClr val="C6D7EF"/>
            </a:solidFill>
            <a:prstDash val="solid"/>
            <a:round/>
          </a:ln>
        </p:spPr>
        <p:txBody>
          <a:bodyPr wrap="square" lIns="45720" tIns="25146" rIns="45720" bIns="25146" anchor="ctr">
            <a:normAutofit/>
          </a:bodyPr>
          <a:lstStyle/>
          <a:p>
            <a:pPr algn="c">
              <a:buNone/>
            </a:pPr>
            <a:r>
              <a:rPr lang="en-US" sz="1200" b="1">
                <a:solidFill>
                  <a:srgbClr val="1D224B"/>
                </a:solidFill>
                <a:latin typeface="Geist"/>
                <a:ea typeface="Geist"/>
                <a:cs typeface="Geist"/>
              </a:rPr>
              <a:t>Auth &amp; customer configuration</a:t>
            </a:r>
            <a:endParaRPr lang="en-US" sz="1200"/>
          </a:p>
        </p:txBody>
      </p:sp>
      <p:sp>
        <p:nvSpPr>
          <p:cNvPr id="20" name="Chat broker"/>
          <p:cNvSpPr txBox="1"/>
          <p:nvPr/>
        </p:nvSpPr>
        <p:spPr>
          <a:xfrm>
            <a:off x="4069080" y="3182112"/>
            <a:ext cx="4983480" cy="932688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8890">
            <a:solidFill>
              <a:srgbClr val="B8CBE7"/>
            </a:solidFill>
            <a:prstDash val="solid"/>
            <a:round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>
                <a:solidFill>
                  <a:srgbClr val="1D224B"/>
                </a:solidFill>
                <a:latin typeface="Geist"/>
                <a:ea typeface="Geist"/>
                <a:cs typeface="Geist"/>
              </a:rPr>
              <a:t/>
            </a:r>
            <a:endParaRPr lang="en-US" sz="1200"/>
          </a:p>
        </p:txBody>
      </p:sp>
      <p:sp>
        <p:nvSpPr>
          <p:cNvPr id="21" name="Chat broker title"/>
          <p:cNvSpPr txBox="1"/>
          <p:nvPr/>
        </p:nvSpPr>
        <p:spPr>
          <a:xfrm>
            <a:off x="4297680" y="333756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1D224B"/>
                </a:solidFill>
                <a:latin typeface="Geist"/>
                <a:ea typeface="Geist"/>
                <a:cs typeface="Geist"/>
              </a:rPr>
              <a:t>Chat broker</a:t>
            </a:r>
            <a:endParaRPr lang="en-US" sz="1100"/>
          </a:p>
        </p:txBody>
      </p:sp>
      <p:sp>
        <p:nvSpPr>
          <p:cNvPr id="22" name="Data enrichment"/>
          <p:cNvSpPr txBox="1"/>
          <p:nvPr/>
        </p:nvSpPr>
        <p:spPr>
          <a:xfrm>
            <a:off x="5623560" y="3337560"/>
            <a:ext cx="1481328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8E3F4"/>
            </a:solidFill>
            <a:prstDash val="solid"/>
            <a:round/>
          </a:ln>
        </p:spPr>
        <p:txBody>
          <a:bodyPr wrap="square" lIns="36576" tIns="20117" rIns="36576" bIns="20117" anchor="ctr">
            <a:normAutofit/>
          </a:bodyPr>
          <a:lstStyle/>
          <a:p>
            <a:pPr algn="c">
              <a:buNone/>
            </a:pPr>
            <a:r>
              <a:rPr lang="en-US" sz="1030">
                <a:solidFill>
                  <a:srgbClr val="4A5578"/>
                </a:solidFill>
                <a:latin typeface="Geist"/>
                <a:ea typeface="Geist"/>
                <a:cs typeface="Geist"/>
              </a:rPr>
              <a:t>Data
enrichment</a:t>
            </a:r>
            <a:endParaRPr lang="en-US" sz="1030"/>
          </a:p>
        </p:txBody>
      </p:sp>
      <p:sp>
        <p:nvSpPr>
          <p:cNvPr id="23" name="Conversation management"/>
          <p:cNvSpPr txBox="1"/>
          <p:nvPr/>
        </p:nvSpPr>
        <p:spPr>
          <a:xfrm>
            <a:off x="7287768" y="3337560"/>
            <a:ext cx="153619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8E3F4"/>
            </a:solidFill>
            <a:prstDash val="solid"/>
            <a:round/>
          </a:ln>
        </p:spPr>
        <p:txBody>
          <a:bodyPr wrap="square" lIns="36576" tIns="20117" rIns="36576" bIns="20117" anchor="ctr">
            <a:normAutofit/>
          </a:bodyPr>
          <a:lstStyle/>
          <a:p>
            <a:pPr algn="c">
              <a:buNone/>
            </a:pPr>
            <a:r>
              <a:rPr lang="en-US" sz="950">
                <a:solidFill>
                  <a:srgbClr val="4A5578"/>
                </a:solidFill>
                <a:latin typeface="Geist"/>
                <a:ea typeface="Geist"/>
                <a:cs typeface="Geist"/>
              </a:rPr>
              <a:t>Conversation
management</a:t>
            </a:r>
            <a:endParaRPr lang="en-US" sz="950"/>
          </a:p>
        </p:txBody>
      </p:sp>
      <p:cxnSp>
        <p:nvCxnSpPr>
          <p:cNvPr id="24" name="Auth to broker"/>
          <p:cNvCxnSpPr/>
          <p:nvPr/>
        </p:nvCxnSpPr>
        <p:spPr>
          <a:xfrm>
            <a:off x="6565392" y="2889504"/>
            <a:ext cx="0" cy="292608"/>
          </a:xfrm>
          <a:prstGeom prst="line">
            <a:avLst/>
          </a:prstGeom>
          <a:ln w="19050">
            <a:solidFill>
              <a:srgbClr val="436DB3"/>
            </a:solidFill>
            <a:prstDash val="solid"/>
            <a:tailEnd type="triangle" w="med" len="med"/>
          </a:ln>
        </p:spPr>
      </p:cxnSp>
      <p:cxnSp>
        <p:nvCxnSpPr>
          <p:cNvPr id="25" name="Broker detail"/>
          <p:cNvCxnSpPr/>
          <p:nvPr/>
        </p:nvCxnSpPr>
        <p:spPr>
          <a:xfrm>
            <a:off x="5532120" y="3538728"/>
            <a:ext cx="91440" cy="0"/>
          </a:xfrm>
          <a:prstGeom prst="line">
            <a:avLst/>
          </a:prstGeom>
          <a:ln w="10160">
            <a:solidFill>
              <a:srgbClr val="8AA6D0"/>
            </a:solidFill>
            <a:prstDash val="solid"/>
          </a:ln>
        </p:spPr>
      </p:cxnSp>
      <p:cxnSp>
        <p:nvCxnSpPr>
          <p:cNvPr id="26" name="Broker detail 2"/>
          <p:cNvCxnSpPr/>
          <p:nvPr/>
        </p:nvCxnSpPr>
        <p:spPr>
          <a:xfrm>
            <a:off x="7104888" y="3538728"/>
            <a:ext cx="182880" cy="0"/>
          </a:xfrm>
          <a:prstGeom prst="line">
            <a:avLst/>
          </a:prstGeom>
          <a:ln w="10160">
            <a:solidFill>
              <a:srgbClr val="8AA6D0"/>
            </a:solidFill>
            <a:prstDash val="solid"/>
          </a:ln>
        </p:spPr>
      </p:cxnSp>
      <p:sp>
        <p:nvSpPr>
          <p:cNvPr id="27" name="Stellarus AI"/>
          <p:cNvSpPr txBox="1"/>
          <p:nvPr/>
        </p:nvSpPr>
        <p:spPr>
          <a:xfrm>
            <a:off x="4069080" y="4489704"/>
            <a:ext cx="2331720" cy="969264"/>
          </a:xfrm>
          <a:prstGeom prst="roundRect">
            <a:avLst>
              <a:gd name="adj" fmla="val 12000"/>
            </a:avLst>
          </a:prstGeom>
          <a:solidFill>
            <a:srgbClr val="F9FBFE"/>
          </a:solidFill>
          <a:ln w="10160">
            <a:solidFill>
              <a:srgbClr val="D8E3F4"/>
            </a:solidFill>
            <a:prstDash val="solid"/>
            <a:round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>
                <a:solidFill>
                  <a:srgbClr val="1D224B"/>
                </a:solidFill>
                <a:latin typeface="Geist"/>
                <a:ea typeface="Geist"/>
                <a:cs typeface="Geist"/>
              </a:rPr>
              <a:t/>
            </a:r>
            <a:endParaRPr lang="en-US" sz="1200"/>
          </a:p>
        </p:txBody>
      </p:sp>
      <p:sp>
        <p:nvSpPr>
          <p:cNvPr id="28" name="Stellarus AI title"/>
          <p:cNvSpPr txBox="1"/>
          <p:nvPr/>
        </p:nvSpPr>
        <p:spPr>
          <a:xfrm>
            <a:off x="4279392" y="465429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1D224B"/>
                </a:solidFill>
                <a:latin typeface="Geist"/>
                <a:ea typeface="Geist"/>
                <a:cs typeface="Geist"/>
              </a:rPr>
              <a:t>Stellarus AI</a:t>
            </a:r>
            <a:endParaRPr lang="en-US" sz="1100"/>
          </a:p>
        </p:txBody>
      </p:sp>
      <p:sp>
        <p:nvSpPr>
          <p:cNvPr id="29" name="AI services"/>
          <p:cNvSpPr txBox="1"/>
          <p:nvPr/>
        </p:nvSpPr>
        <p:spPr>
          <a:xfrm>
            <a:off x="4279392" y="494690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960">
                <a:solidFill>
                  <a:srgbClr val="4A5578"/>
                </a:solidFill>
                <a:latin typeface="Geist"/>
                <a:ea typeface="Geist"/>
                <a:cs typeface="Geist"/>
              </a:rPr>
              <a:t>Sierra.ai  •  CSR agent</a:t>
            </a:r>
            <a:endParaRPr lang="en-US" sz="960"/>
          </a:p>
        </p:txBody>
      </p:sp>
      <p:sp>
        <p:nvSpPr>
          <p:cNvPr id="30" name="Member agent future"/>
          <p:cNvSpPr txBox="1"/>
          <p:nvPr/>
        </p:nvSpPr>
        <p:spPr>
          <a:xfrm>
            <a:off x="4279392" y="521208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820" i="1">
                <a:solidFill>
                  <a:srgbClr val="86909F"/>
                </a:solidFill>
                <a:latin typeface="Geist"/>
                <a:ea typeface="Geist"/>
                <a:cs typeface="Geist"/>
              </a:rPr>
              <a:t>Member agent · future</a:t>
            </a:r>
            <a:endParaRPr lang="en-US" sz="820"/>
          </a:p>
        </p:txBody>
      </p:sp>
      <p:sp>
        <p:nvSpPr>
          <p:cNvPr id="31" name="Data services"/>
          <p:cNvSpPr txBox="1"/>
          <p:nvPr/>
        </p:nvSpPr>
        <p:spPr>
          <a:xfrm>
            <a:off x="6720840" y="4489704"/>
            <a:ext cx="2331720" cy="969264"/>
          </a:xfrm>
          <a:prstGeom prst="roundRect">
            <a:avLst>
              <a:gd name="adj" fmla="val 12000"/>
            </a:avLst>
          </a:prstGeom>
          <a:solidFill>
            <a:srgbClr val="F9FBFE"/>
          </a:solidFill>
          <a:ln w="10160">
            <a:solidFill>
              <a:srgbClr val="D8E3F4"/>
            </a:solidFill>
            <a:prstDash val="solid"/>
            <a:round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>
                <a:solidFill>
                  <a:srgbClr val="1D224B"/>
                </a:solidFill>
                <a:latin typeface="Geist"/>
                <a:ea typeface="Geist"/>
                <a:cs typeface="Geist"/>
              </a:rPr>
              <a:t/>
            </a:r>
            <a:endParaRPr lang="en-US" sz="1200"/>
          </a:p>
        </p:txBody>
      </p:sp>
      <p:sp>
        <p:nvSpPr>
          <p:cNvPr id="32" name="Data services title"/>
          <p:cNvSpPr txBox="1"/>
          <p:nvPr/>
        </p:nvSpPr>
        <p:spPr>
          <a:xfrm>
            <a:off x="6931152" y="465429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1D224B"/>
                </a:solidFill>
                <a:latin typeface="Geist"/>
                <a:ea typeface="Geist"/>
                <a:cs typeface="Geist"/>
              </a:rPr>
              <a:t>Data services</a:t>
            </a:r>
            <a:endParaRPr lang="en-US" sz="1100"/>
          </a:p>
        </p:txBody>
      </p:sp>
      <p:sp>
        <p:nvSpPr>
          <p:cNvPr id="33" name="Data service content"/>
          <p:cNvSpPr txBox="1"/>
          <p:nvPr/>
        </p:nvSpPr>
        <p:spPr>
          <a:xfrm>
            <a:off x="6931152" y="4946904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960">
                <a:solidFill>
                  <a:srgbClr val="4A5578"/>
                </a:solidFill>
                <a:latin typeface="Geist"/>
                <a:ea typeface="Geist"/>
                <a:cs typeface="Geist"/>
              </a:rPr>
              <a:t>Benefis service</a:t>
            </a:r>
            <a:endParaRPr lang="en-US" sz="960"/>
          </a:p>
        </p:txBody>
      </p:sp>
      <p:sp>
        <p:nvSpPr>
          <p:cNvPr id="34" name="Extensible data services"/>
          <p:cNvSpPr txBox="1"/>
          <p:nvPr/>
        </p:nvSpPr>
        <p:spPr>
          <a:xfrm>
            <a:off x="6931152" y="5212080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820" i="1">
                <a:solidFill>
                  <a:srgbClr val="86909F"/>
                </a:solidFill>
                <a:latin typeface="Geist"/>
                <a:ea typeface="Geist"/>
                <a:cs typeface="Geist"/>
              </a:rPr>
              <a:t>Extensible data · future</a:t>
            </a:r>
            <a:endParaRPr lang="en-US" sz="820"/>
          </a:p>
        </p:txBody>
      </p:sp>
      <p:cxnSp>
        <p:nvCxnSpPr>
          <p:cNvPr id="35" name="Broker to AI"/>
          <p:cNvCxnSpPr/>
          <p:nvPr/>
        </p:nvCxnSpPr>
        <p:spPr>
          <a:xfrm>
            <a:off x="5212080" y="4114800"/>
            <a:ext cx="0" cy="374904"/>
          </a:xfrm>
          <a:prstGeom prst="line">
            <a:avLst/>
          </a:prstGeom>
          <a:ln w="19050">
            <a:solidFill>
              <a:srgbClr val="436DB3"/>
            </a:solidFill>
            <a:prstDash val="solid"/>
            <a:tailEnd type="triangle" w="med" len="med"/>
          </a:ln>
        </p:spPr>
      </p:cxnSp>
      <p:cxnSp>
        <p:nvCxnSpPr>
          <p:cNvPr id="36" name="Broker to data"/>
          <p:cNvCxnSpPr/>
          <p:nvPr/>
        </p:nvCxnSpPr>
        <p:spPr>
          <a:xfrm>
            <a:off x="7882128" y="4114800"/>
            <a:ext cx="0" cy="374904"/>
          </a:xfrm>
          <a:prstGeom prst="line">
            <a:avLst/>
          </a:prstGeom>
          <a:ln w="19050">
            <a:solidFill>
              <a:srgbClr val="436DB3"/>
            </a:solidFill>
            <a:prstDash val="solid"/>
            <a:tailEnd type="triangle" w="med" len="med"/>
          </a:ln>
        </p:spPr>
      </p:cxnSp>
      <p:cxnSp>
        <p:nvCxnSpPr>
          <p:cNvPr id="37" name="SDK to platform"/>
          <p:cNvCxnSpPr/>
          <p:nvPr/>
        </p:nvCxnSpPr>
        <p:spPr>
          <a:xfrm>
            <a:off x="3264408" y="4133088"/>
            <a:ext cx="548640" cy="0"/>
          </a:xfrm>
          <a:prstGeom prst="line">
            <a:avLst/>
          </a:prstGeom>
          <a:ln w="25400">
            <a:solidFill>
              <a:srgbClr val="436DB3"/>
            </a:solidFill>
            <a:prstDash val="solid"/>
            <a:tailEnd type="triangle" w="med" len="med"/>
          </a:ln>
        </p:spPr>
      </p:cxnSp>
      <p:sp>
        <p:nvSpPr>
          <p:cNvPr id="38" name="CCaaS label"/>
          <p:cNvSpPr txBox="1"/>
          <p:nvPr/>
        </p:nvSpPr>
        <p:spPr>
          <a:xfrm>
            <a:off x="9601200" y="190195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850" b="1" spc="65">
                <a:solidFill>
                  <a:srgbClr val="436DB3"/>
                </a:solidFill>
                <a:latin typeface="Geist"/>
                <a:ea typeface="Geist"/>
                <a:cs typeface="Geist"/>
              </a:rPr>
              <a:t>HUMAN HANDOFF</a:t>
            </a:r>
            <a:endParaRPr lang="en-US" sz="850"/>
          </a:p>
        </p:txBody>
      </p:sp>
      <p:sp>
        <p:nvSpPr>
          <p:cNvPr id="39" name="Customer CCaaS"/>
          <p:cNvSpPr txBox="1"/>
          <p:nvPr/>
        </p:nvSpPr>
        <p:spPr>
          <a:xfrm>
            <a:off x="9601200" y="3246120"/>
            <a:ext cx="1353312" cy="1078992"/>
          </a:xfrm>
          <a:prstGeom prst="roundRect">
            <a:avLst>
              <a:gd name="adj" fmla="val 12000"/>
            </a:avLst>
          </a:prstGeom>
          <a:solidFill>
            <a:srgbClr val="FFF4F4"/>
          </a:solidFill>
          <a:ln w="11430">
            <a:solidFill>
              <a:srgbClr val="EDB3B3"/>
            </a:solidFill>
            <a:prstDash val="solid"/>
            <a:round/>
          </a:ln>
        </p:spPr>
        <p:txBody>
          <a:bodyPr wrap="square" lIns="64008" tIns="35204" rIns="64008" bIns="35204" anchor="ctr">
            <a:normAutofit/>
          </a:bodyPr>
          <a:lstStyle/>
          <a:p>
            <a:pPr algn="c">
              <a:buNone/>
            </a:pPr>
            <a:r>
              <a:rPr lang="en-US" sz="1100" b="1">
                <a:solidFill>
                  <a:srgbClr val="1D224B"/>
                </a:solidFill>
                <a:latin typeface="Geist"/>
                <a:ea typeface="Geist"/>
                <a:cs typeface="Geist"/>
              </a:rPr>
              <a:t>Customer CCaaS
(e.g., Genesys)</a:t>
            </a:r>
            <a:endParaRPr lang="en-US" sz="1100"/>
          </a:p>
        </p:txBody>
      </p:sp>
      <p:cxnSp>
        <p:nvCxnSpPr>
          <p:cNvPr id="40" name="Escalations connector"/>
          <p:cNvCxnSpPr/>
          <p:nvPr/>
        </p:nvCxnSpPr>
        <p:spPr>
          <a:xfrm>
            <a:off x="9299448" y="3767328"/>
            <a:ext cx="301752" cy="0"/>
          </a:xfrm>
          <a:prstGeom prst="line">
            <a:avLst/>
          </a:prstGeom>
          <a:ln w="22860">
            <a:solidFill>
              <a:srgbClr val="ED4949"/>
            </a:solidFill>
            <a:prstDash val="solid"/>
            <a:tailEnd type="triangle" w="med" len="med"/>
          </a:ln>
        </p:spPr>
      </p:cxnSp>
      <p:sp>
        <p:nvSpPr>
          <p:cNvPr id="41" name="Escalations label"/>
          <p:cNvSpPr txBox="1"/>
          <p:nvPr/>
        </p:nvSpPr>
        <p:spPr>
          <a:xfrm>
            <a:off x="9125712" y="3401568"/>
            <a:ext cx="60350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">
              <a:buNone/>
            </a:pPr>
            <a:r>
              <a:rPr lang="en-US" sz="780" b="1">
                <a:solidFill>
                  <a:srgbClr val="C54141"/>
                </a:solidFill>
                <a:latin typeface="Geist"/>
                <a:ea typeface="Geist"/>
                <a:cs typeface="Geist"/>
              </a:rPr>
              <a:t>Escalations</a:t>
            </a:r>
            <a:endParaRPr lang="en-US" sz="780"/>
          </a:p>
        </p:txBody>
      </p:sp>
      <p:sp>
        <p:nvSpPr>
          <p:cNvPr id="42" name="Footer accent"/>
          <p:cNvSpPr/>
          <p:nvPr/>
        </p:nvSpPr>
        <p:spPr>
          <a:xfrm>
            <a:off x="978408" y="5715000"/>
            <a:ext cx="347472" cy="32004"/>
          </a:xfrm>
          <a:prstGeom prst="rect">
            <a:avLst/>
          </a:prstGeom>
          <a:solidFill>
            <a:srgbClr val="ED49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Architecture takeaway"/>
          <p:cNvSpPr txBox="1"/>
          <p:nvPr/>
        </p:nvSpPr>
        <p:spPr>
          <a:xfrm>
            <a:off x="1426464" y="5586984"/>
            <a:ext cx="90708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150">
                <a:solidFill>
                  <a:srgbClr val="4A5578"/>
                </a:solidFill>
                <a:latin typeface="Geist"/>
                <a:ea typeface="Geist"/>
                <a:cs typeface="Geist"/>
              </a:rPr>
              <a:t>A reusable core lets Compass scale across channels, customers, and service moments without losing the context that makes interactions feel personal.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ellarus ">
      <a:dk1>
        <a:srgbClr val="000000"/>
      </a:dk1>
      <a:lt1>
        <a:srgbClr val="FFFFFF"/>
      </a:lt1>
      <a:dk2>
        <a:srgbClr val="07275E"/>
      </a:dk2>
      <a:lt2>
        <a:srgbClr val="ECECEC"/>
      </a:lt2>
      <a:accent1>
        <a:srgbClr val="ED4949"/>
      </a:accent1>
      <a:accent2>
        <a:srgbClr val="436DB3"/>
      </a:accent2>
      <a:accent3>
        <a:srgbClr val="BED0ED"/>
      </a:accent3>
      <a:accent4>
        <a:srgbClr val="5C1B53"/>
      </a:accent4>
      <a:accent5>
        <a:srgbClr val="F6F2EE"/>
      </a:accent5>
      <a:accent6>
        <a:srgbClr val="ECECEC"/>
      </a:accent6>
      <a:hlink>
        <a:srgbClr val="426CB1"/>
      </a:hlink>
      <a:folHlink>
        <a:srgbClr val="436DB3"/>
      </a:folHlink>
    </a:clrScheme>
    <a:fontScheme name="Geist">
      <a:majorFont>
        <a:latin typeface="Geist"/>
        <a:ea typeface=""/>
        <a:cs typeface=""/>
      </a:majorFont>
      <a:minorFont>
        <a:latin typeface="Geis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96d04f-fa6d-4cb7-a4c6-44bb43b890c2" xsi:nil="true"/>
    <lcf76f155ced4ddcb4097134ff3c332f xmlns="bb4fe14b-287d-4952-ba6c-2654bbe3e69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28E74FE038C84289F5B36E30206C88" ma:contentTypeVersion="10" ma:contentTypeDescription="Create a new document." ma:contentTypeScope="" ma:versionID="4b5f9019ddfd5df904b864b26652cfa8">
  <xsd:schema xmlns:xsd="http://www.w3.org/2001/XMLSchema" xmlns:xs="http://www.w3.org/2001/XMLSchema" xmlns:p="http://schemas.microsoft.com/office/2006/metadata/properties" xmlns:ns2="bb4fe14b-287d-4952-ba6c-2654bbe3e69d" xmlns:ns3="ae96d04f-fa6d-4cb7-a4c6-44bb43b890c2" targetNamespace="http://schemas.microsoft.com/office/2006/metadata/properties" ma:root="true" ma:fieldsID="fac7653618caf13f82d23f2ed7d55d67" ns2:_="" ns3:_="">
    <xsd:import namespace="bb4fe14b-287d-4952-ba6c-2654bbe3e69d"/>
    <xsd:import namespace="ae96d04f-fa6d-4cb7-a4c6-44bb43b890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4fe14b-287d-4952-ba6c-2654bbe3e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17d4224-802a-4f39-af5d-1b2d989a72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6d04f-fa6d-4cb7-a4c6-44bb43b890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703b270-adcc-456d-919d-4439b5c85a09}" ma:internalName="TaxCatchAll" ma:showField="CatchAllData" ma:web="ae96d04f-fa6d-4cb7-a4c6-44bb43b890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0A6679-0748-460A-8F3A-C3420D8DBE92}">
  <ds:schemaRefs>
    <ds:schemaRef ds:uri="http://purl.org/dc/terms/"/>
    <ds:schemaRef ds:uri="http://www.w3.org/XML/1998/namespace"/>
    <ds:schemaRef ds:uri="http://purl.org/dc/elements/1.1/"/>
    <ds:schemaRef ds:uri="ae96d04f-fa6d-4cb7-a4c6-44bb43b890c2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bb4fe14b-287d-4952-ba6c-2654bbe3e69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B1C888E-7C3F-4469-B57D-8EA7D8E892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FCF9AC-C6CF-403A-95F7-F1DDE96F959B}">
  <ds:schemaRefs>
    <ds:schemaRef ds:uri="ae96d04f-fa6d-4cb7-a4c6-44bb43b890c2"/>
    <ds:schemaRef ds:uri="bb4fe14b-287d-4952-ba6c-2654bbe3e6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1164</Words>
  <Application>Microsoft Macintosh PowerPoint</Application>
  <PresentationFormat>Widescreen</PresentationFormat>
  <Paragraphs>330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Arial</vt:lpstr>
      <vt:lpstr>Courier New</vt:lpstr>
      <vt:lpstr>Geist</vt:lpstr>
      <vt:lpstr>Geist Light</vt:lpstr>
      <vt:lpstr>Geist Medium</vt:lpstr>
      <vt:lpstr>Outfit</vt:lpstr>
      <vt:lpstr>Urbane Medium</vt:lpstr>
      <vt:lpstr>Urbane Thin</vt:lpstr>
      <vt:lpstr>Wingdings</vt:lpstr>
      <vt:lpstr>Office Theme</vt:lpstr>
      <vt:lpstr>Compass Conversational AI</vt:lpstr>
      <vt:lpstr>PowerPoint Presentation</vt:lpstr>
      <vt:lpstr>Business impact: The cost of inefficient experience</vt:lpstr>
      <vt:lpstr>Exceptional member experience delivered at scale</vt:lpstr>
      <vt:lpstr>Solution: Compass CSR Assist</vt:lpstr>
      <vt:lpstr>Solution: Compass Voice</vt:lpstr>
      <vt:lpstr>Solution: Compass Chat</vt:lpstr>
      <vt:lpstr>Member journey with Compass after new diagnosis</vt:lpstr>
      <vt:lpstr>How it works together</vt:lpstr>
      <vt:lpstr>Why Compass</vt:lpstr>
      <vt:lpstr>Enterprise grade trust</vt:lpstr>
      <vt:lpstr>How we measure the return</vt:lpstr>
      <vt:lpstr>Implementation approach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 Reisman</dc:creator>
  <cp:lastModifiedBy>Jackson, Jason</cp:lastModifiedBy>
  <cp:revision>2</cp:revision>
  <dcterms:created xsi:type="dcterms:W3CDTF">2025-04-10T18:21:09Z</dcterms:created>
  <dcterms:modified xsi:type="dcterms:W3CDTF">2026-07-30T23:27:27Z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945780-1936-46cd-acc9-ec07e70d412b_Enabled">
    <vt:lpwstr>true</vt:lpwstr>
  </property>
  <property fmtid="{D5CDD505-2E9C-101B-9397-08002B2CF9AE}" pid="3" name="MSIP_Label_fb945780-1936-46cd-acc9-ec07e70d412b_SetDate">
    <vt:lpwstr>2025-04-12T23:21:09Z</vt:lpwstr>
  </property>
  <property fmtid="{D5CDD505-2E9C-101B-9397-08002B2CF9AE}" pid="4" name="MSIP_Label_fb945780-1936-46cd-acc9-ec07e70d412b_Method">
    <vt:lpwstr>Standard</vt:lpwstr>
  </property>
  <property fmtid="{D5CDD505-2E9C-101B-9397-08002B2CF9AE}" pid="5" name="MSIP_Label_fb945780-1936-46cd-acc9-ec07e70d412b_Name">
    <vt:lpwstr>Internal</vt:lpwstr>
  </property>
  <property fmtid="{D5CDD505-2E9C-101B-9397-08002B2CF9AE}" pid="6" name="MSIP_Label_fb945780-1936-46cd-acc9-ec07e70d412b_SiteId">
    <vt:lpwstr>7a08bc6b-7e6a-415c-812a-c0f701799201</vt:lpwstr>
  </property>
  <property fmtid="{D5CDD505-2E9C-101B-9397-08002B2CF9AE}" pid="7" name="MSIP_Label_fb945780-1936-46cd-acc9-ec07e70d412b_ActionId">
    <vt:lpwstr>41cfe920-c513-40fc-b096-06253bbf623b</vt:lpwstr>
  </property>
  <property fmtid="{D5CDD505-2E9C-101B-9397-08002B2CF9AE}" pid="8" name="MSIP_Label_fb945780-1936-46cd-acc9-ec07e70d412b_ContentBits">
    <vt:lpwstr>0</vt:lpwstr>
  </property>
  <property fmtid="{D5CDD505-2E9C-101B-9397-08002B2CF9AE}" pid="9" name="MSIP_Label_fb945780-1936-46cd-acc9-ec07e70d412b_Tag">
    <vt:lpwstr>10, 3, 0, 1</vt:lpwstr>
  </property>
  <property fmtid="{D5CDD505-2E9C-101B-9397-08002B2CF9AE}" pid="10" name="ContentTypeId">
    <vt:lpwstr>0x010100C928E74FE038C84289F5B36E30206C88</vt:lpwstr>
  </property>
  <property fmtid="{D5CDD505-2E9C-101B-9397-08002B2CF9AE}" pid="11" name="MediaServiceImageTags">
    <vt:lpwstr/>
  </property>
</Properties>
</file>