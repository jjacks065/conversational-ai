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68"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663A54-1791-438A-A670-6BB7373EE28F}" v="3" dt="2026-06-04T21:15:09.6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59" autoAdjust="0"/>
    <p:restoredTop sz="96247" autoAdjust="0"/>
  </p:normalViewPr>
  <p:slideViewPr>
    <p:cSldViewPr snapToGrid="0" snapToObjects="1">
      <p:cViewPr varScale="1">
        <p:scale>
          <a:sx n="111" d="100"/>
          <a:sy n="111" d="100"/>
        </p:scale>
        <p:origin x="43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dirty="0">
                <a:solidFill>
                  <a:srgbClr val="FFFFFF"/>
                </a:solidFill>
                <a:latin typeface="Calibri"/>
              </a:rPr>
              <a:t>Member Chat Overview Phase 1</a:t>
            </a:r>
            <a:r>
              <a:rPr lang="en-US" sz="1400" b="1" dirty="0">
                <a:solidFill>
                  <a:srgbClr val="FFFFFF"/>
                </a:solidFill>
                <a:latin typeface="Calibri"/>
              </a:rPr>
              <a:t>: Live Chat Transfer</a:t>
            </a:r>
          </a:p>
          <a:p>
            <a:pPr algn="ctr">
              <a:spcBef>
                <a:spcPts val="0"/>
              </a:spcBef>
              <a:spcAft>
                <a:spcPts val="0"/>
              </a:spcAft>
            </a:pPr>
            <a:r>
              <a:rPr lang="en-US" sz="700" dirty="0">
                <a:solidFill>
                  <a:srgbClr val="FFFFFF"/>
                </a:solidFill>
                <a:latin typeface="Calibri"/>
              </a:rPr>
              <a:t>(During Office Hours Only)</a:t>
            </a:r>
            <a:endParaRPr sz="700" dirty="0">
              <a:solidFill>
                <a:srgbClr val="FFFFFF"/>
              </a:solidFill>
              <a:latin typeface="Calibri"/>
            </a:endParaRPr>
          </a:p>
        </p:txBody>
      </p:sp>
      <p:sp>
        <p:nvSpPr>
          <p:cNvPr id="3" name="Rectangle 2"/>
          <p:cNvSpPr/>
          <p:nvPr/>
        </p:nvSpPr>
        <p:spPr>
          <a:xfrm>
            <a:off x="11430000" y="0"/>
            <a:ext cx="76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sp>
        <p:nvSpPr>
          <p:cNvPr id="4" name="Rectangle 3"/>
          <p:cNvSpPr/>
          <p:nvPr/>
        </p:nvSpPr>
        <p:spPr>
          <a:xfrm>
            <a:off x="0" y="50292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2920"/>
            <a:ext cx="640080" cy="18288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dirty="0">
                <a:solidFill>
                  <a:srgbClr val="FFFFFF"/>
                </a:solidFill>
                <a:latin typeface="Calibri"/>
              </a:rPr>
              <a:t>Member Using
</a:t>
            </a:r>
            <a:r>
              <a:rPr lang="en-US" sz="800" b="1" dirty="0">
                <a:solidFill>
                  <a:srgbClr val="FFFFFF"/>
                </a:solidFill>
                <a:latin typeface="Calibri"/>
              </a:rPr>
              <a:t>AI </a:t>
            </a:r>
            <a:r>
              <a:rPr sz="800" b="1" dirty="0">
                <a:solidFill>
                  <a:srgbClr val="FFFFFF"/>
                </a:solidFill>
                <a:latin typeface="Calibri"/>
              </a:rPr>
              <a:t>Chat Bot</a:t>
            </a:r>
          </a:p>
        </p:txBody>
      </p:sp>
      <p:sp>
        <p:nvSpPr>
          <p:cNvPr id="7" name="Rectangle 6"/>
          <p:cNvSpPr/>
          <p:nvPr/>
        </p:nvSpPr>
        <p:spPr>
          <a:xfrm>
            <a:off x="0" y="2331720"/>
            <a:ext cx="640080" cy="438912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dirty="0">
                <a:solidFill>
                  <a:srgbClr val="FFFFFF"/>
                </a:solidFill>
                <a:latin typeface="Calibri"/>
              </a:rPr>
              <a:t>Chat Customer
Care Agent</a:t>
            </a:r>
          </a:p>
        </p:txBody>
      </p:sp>
      <p:sp>
        <p:nvSpPr>
          <p:cNvPr id="8" name="Rectangle 7"/>
          <p:cNvSpPr/>
          <p:nvPr/>
        </p:nvSpPr>
        <p:spPr>
          <a:xfrm>
            <a:off x="0" y="672084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1520" y="1151960"/>
            <a:ext cx="594360" cy="320040"/>
          </a:xfrm>
          <a:prstGeom prst="ellipse">
            <a:avLst/>
          </a:prstGeom>
          <a:solidFill>
            <a:srgbClr val="00B05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800" b="1">
                <a:solidFill>
                  <a:srgbClr val="FFFFFF"/>
                </a:solidFill>
                <a:latin typeface="Calibri"/>
              </a:rPr>
              <a:t>Start</a:t>
            </a:r>
          </a:p>
        </p:txBody>
      </p:sp>
      <p:sp>
        <p:nvSpPr>
          <p:cNvPr id="10" name="Rectangle 9"/>
          <p:cNvSpPr/>
          <p:nvPr/>
        </p:nvSpPr>
        <p:spPr>
          <a:xfrm>
            <a:off x="1744980" y="1078808"/>
            <a:ext cx="1241136" cy="457200"/>
          </a:xfrm>
          <a:prstGeom prst="rect">
            <a:avLst/>
          </a:prstGeom>
          <a:solidFill>
            <a:schemeClr val="accent3">
              <a:lumMod val="75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Member logs into member portal to initiate </a:t>
            </a:r>
            <a:r>
              <a:rPr lang="en-US" sz="700" b="0" dirty="0">
                <a:solidFill>
                  <a:srgbClr val="FFFFFF"/>
                </a:solidFill>
                <a:latin typeface="Calibri"/>
              </a:rPr>
              <a:t>chat </a:t>
            </a:r>
            <a:r>
              <a:rPr sz="700" b="0" dirty="0">
                <a:solidFill>
                  <a:srgbClr val="FFFFFF"/>
                </a:solidFill>
                <a:latin typeface="Calibri"/>
              </a:rPr>
              <a:t>with Blue Shield</a:t>
            </a:r>
            <a:endParaRPr lang="en-US" sz="700" b="0" dirty="0">
              <a:solidFill>
                <a:srgbClr val="FFFFFF"/>
              </a:solidFill>
              <a:latin typeface="Calibri"/>
            </a:endParaRPr>
          </a:p>
          <a:p>
            <a:pPr algn="ctr"/>
            <a:r>
              <a:rPr lang="en-US" sz="700" b="1" dirty="0">
                <a:solidFill>
                  <a:srgbClr val="FFFFFF"/>
                </a:solidFill>
              </a:rPr>
              <a:t>(Sierra AI) </a:t>
            </a:r>
          </a:p>
        </p:txBody>
      </p:sp>
      <p:sp>
        <p:nvSpPr>
          <p:cNvPr id="13" name="Rectangle 12"/>
          <p:cNvSpPr/>
          <p:nvPr/>
        </p:nvSpPr>
        <p:spPr>
          <a:xfrm>
            <a:off x="6023722" y="1066419"/>
            <a:ext cx="1485441"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dirty="0">
                <a:solidFill>
                  <a:srgbClr val="FFFFFF"/>
                </a:solidFill>
                <a:latin typeface="Calibri"/>
              </a:rPr>
              <a:t>Member is connected to a live agent</a:t>
            </a:r>
          </a:p>
          <a:p>
            <a:pPr algn="ctr">
              <a:spcBef>
                <a:spcPts val="0"/>
              </a:spcBef>
              <a:spcAft>
                <a:spcPts val="0"/>
              </a:spcAft>
            </a:pPr>
            <a:r>
              <a:rPr lang="en-US" sz="700" dirty="0">
                <a:solidFill>
                  <a:srgbClr val="FFFFFF"/>
                </a:solidFill>
                <a:latin typeface="Calibri"/>
              </a:rPr>
              <a:t>(Sierra </a:t>
            </a:r>
            <a:r>
              <a:rPr lang="en-US" sz="700" dirty="0">
                <a:solidFill>
                  <a:srgbClr val="FFFFFF"/>
                </a:solidFill>
                <a:latin typeface="Calibri"/>
                <a:sym typeface="Wingdings" panose="05000000000000000000" pitchFamily="2" charset="2"/>
              </a:rPr>
              <a:t> Genesys)</a:t>
            </a:r>
            <a:endParaRPr sz="700" b="0" dirty="0">
              <a:solidFill>
                <a:srgbClr val="FFFFFF"/>
              </a:solidFill>
              <a:latin typeface="Calibri"/>
            </a:endParaRPr>
          </a:p>
        </p:txBody>
      </p:sp>
      <p:cxnSp>
        <p:nvCxnSpPr>
          <p:cNvPr id="14" name="Connector 13"/>
          <p:cNvCxnSpPr>
            <a:cxnSpLocks/>
            <a:stCxn id="9" idx="6"/>
            <a:endCxn id="10" idx="1"/>
          </p:cNvCxnSpPr>
          <p:nvPr/>
        </p:nvCxnSpPr>
        <p:spPr>
          <a:xfrm flipV="1">
            <a:off x="1325880" y="1307408"/>
            <a:ext cx="419100" cy="4572"/>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a:stCxn id="10" idx="3"/>
          </p:cNvCxnSpPr>
          <p:nvPr/>
        </p:nvCxnSpPr>
        <p:spPr>
          <a:xfrm>
            <a:off x="2986116" y="1307408"/>
            <a:ext cx="243330" cy="0"/>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a:cxnSpLocks/>
          </p:cNvCxnSpPr>
          <p:nvPr/>
        </p:nvCxnSpPr>
        <p:spPr>
          <a:xfrm>
            <a:off x="4507343" y="1325880"/>
            <a:ext cx="137160" cy="0"/>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033036" y="3353570"/>
            <a:ext cx="1051560" cy="334097"/>
          </a:xfrm>
          <a:prstGeom prst="roundRect">
            <a:avLst/>
          </a:prstGeom>
          <a:ln w="3175"/>
        </p:spPr>
        <p:style>
          <a:lnRef idx="2">
            <a:schemeClr val="accent6">
              <a:shade val="15000"/>
            </a:schemeClr>
          </a:lnRef>
          <a:fillRef idx="1">
            <a:schemeClr val="accent6"/>
          </a:fillRef>
          <a:effectRef idx="0">
            <a:schemeClr val="accent6"/>
          </a:effectRef>
          <a:fontRef idx="minor">
            <a:schemeClr val="lt1"/>
          </a:fontRef>
        </p:style>
        <p:txBody>
          <a:bodyPr wrap="square" rtlCol="0" anchor="ctr"/>
          <a:lstStyle/>
          <a:p>
            <a:pPr algn="ctr">
              <a:spcBef>
                <a:spcPts val="0"/>
              </a:spcBef>
              <a:spcAft>
                <a:spcPts val="0"/>
              </a:spcAft>
            </a:pPr>
            <a:r>
              <a:rPr sz="700" b="1" dirty="0">
                <a:solidFill>
                  <a:srgbClr val="FFFFFF"/>
                </a:solidFill>
                <a:latin typeface="Calibri"/>
              </a:rPr>
              <a:t>Live Chat with Agent Starts</a:t>
            </a:r>
          </a:p>
        </p:txBody>
      </p:sp>
      <p:sp>
        <p:nvSpPr>
          <p:cNvPr id="22" name="Rectangle 21"/>
          <p:cNvSpPr/>
          <p:nvPr/>
        </p:nvSpPr>
        <p:spPr>
          <a:xfrm>
            <a:off x="832886" y="3902264"/>
            <a:ext cx="105156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Agent log</a:t>
            </a:r>
            <a:r>
              <a:rPr lang="en-US" sz="700" b="0" dirty="0">
                <a:solidFill>
                  <a:srgbClr val="FFFFFF"/>
                </a:solidFill>
                <a:latin typeface="Calibri"/>
              </a:rPr>
              <a:t>s</a:t>
            </a:r>
            <a:r>
              <a:rPr sz="700" b="0" dirty="0">
                <a:solidFill>
                  <a:srgbClr val="FFFFFF"/>
                </a:solidFill>
                <a:latin typeface="Calibri"/>
              </a:rPr>
              <a:t> into </a:t>
            </a:r>
            <a:r>
              <a:rPr sz="700" b="0" dirty="0" err="1">
                <a:solidFill>
                  <a:srgbClr val="FFFFFF"/>
                </a:solidFill>
                <a:latin typeface="Calibri"/>
              </a:rPr>
              <a:t>ShieldAdvisor</a:t>
            </a:r>
            <a:r>
              <a:rPr sz="700" b="0" dirty="0">
                <a:solidFill>
                  <a:srgbClr val="FFFFFF"/>
                </a:solidFill>
                <a:latin typeface="Calibri"/>
              </a:rPr>
              <a:t> Genesys</a:t>
            </a:r>
          </a:p>
        </p:txBody>
      </p:sp>
      <p:sp>
        <p:nvSpPr>
          <p:cNvPr id="23" name="Rectangle 22"/>
          <p:cNvSpPr/>
          <p:nvPr/>
        </p:nvSpPr>
        <p:spPr>
          <a:xfrm>
            <a:off x="2036846" y="3909884"/>
            <a:ext cx="105156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Agent receives chat from the portal and initiates greeting</a:t>
            </a:r>
          </a:p>
        </p:txBody>
      </p:sp>
      <p:sp>
        <p:nvSpPr>
          <p:cNvPr id="24" name="Rectangle 23"/>
          <p:cNvSpPr/>
          <p:nvPr/>
        </p:nvSpPr>
        <p:spPr>
          <a:xfrm>
            <a:off x="3229446" y="3898904"/>
            <a:ext cx="105156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Chat agent confirms who they are speaking with</a:t>
            </a:r>
          </a:p>
        </p:txBody>
      </p:sp>
      <p:cxnSp>
        <p:nvCxnSpPr>
          <p:cNvPr id="25" name="Connector 24"/>
          <p:cNvCxnSpPr/>
          <p:nvPr/>
        </p:nvCxnSpPr>
        <p:spPr>
          <a:xfrm>
            <a:off x="1884446" y="4115624"/>
            <a:ext cx="137160" cy="0"/>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Diamond 26"/>
          <p:cNvSpPr/>
          <p:nvPr/>
        </p:nvSpPr>
        <p:spPr>
          <a:xfrm>
            <a:off x="4430936" y="3809250"/>
            <a:ext cx="1005840" cy="640080"/>
          </a:xfrm>
          <a:prstGeom prst="diamond">
            <a:avLst/>
          </a:prstGeom>
          <a:solidFill>
            <a:schemeClr val="tx2">
              <a:lumMod val="40000"/>
              <a:lumOff val="60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600" b="0" dirty="0">
                <a:solidFill>
                  <a:schemeClr val="tx1"/>
                </a:solidFill>
                <a:latin typeface="Calibri"/>
              </a:rPr>
              <a:t>Member /
Non member</a:t>
            </a:r>
          </a:p>
        </p:txBody>
      </p:sp>
      <p:cxnSp>
        <p:nvCxnSpPr>
          <p:cNvPr id="28" name="Connector 27"/>
          <p:cNvCxnSpPr>
            <a:cxnSpLocks/>
            <a:stCxn id="24" idx="3"/>
            <a:endCxn id="27" idx="1"/>
          </p:cNvCxnSpPr>
          <p:nvPr/>
        </p:nvCxnSpPr>
        <p:spPr>
          <a:xfrm>
            <a:off x="4281006" y="4127504"/>
            <a:ext cx="149930" cy="1786"/>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432980" y="4451095"/>
            <a:ext cx="500436" cy="276999"/>
          </a:xfrm>
          <a:prstGeom prst="rect">
            <a:avLst/>
          </a:prstGeom>
          <a:noFill/>
        </p:spPr>
        <p:txBody>
          <a:bodyPr wrap="square">
            <a:spAutoFit/>
          </a:bodyPr>
          <a:lstStyle/>
          <a:p>
            <a:pPr algn="ctr"/>
            <a:r>
              <a:rPr sz="600" b="1" dirty="0">
                <a:solidFill>
                  <a:schemeClr val="bg1">
                    <a:lumMod val="50000"/>
                  </a:schemeClr>
                </a:solidFill>
                <a:latin typeface="Calibri"/>
              </a:rPr>
              <a:t>Non
member</a:t>
            </a:r>
          </a:p>
        </p:txBody>
      </p:sp>
      <p:sp>
        <p:nvSpPr>
          <p:cNvPr id="30" name="Rectangle 29"/>
          <p:cNvSpPr/>
          <p:nvPr/>
        </p:nvSpPr>
        <p:spPr>
          <a:xfrm>
            <a:off x="4432840" y="4721972"/>
            <a:ext cx="1005840" cy="457200"/>
          </a:xfrm>
          <a:prstGeom prst="rect">
            <a:avLst/>
          </a:prstGeom>
          <a:solidFill>
            <a:schemeClr val="bg1">
              <a:lumMod val="75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chemeClr val="tx1"/>
                </a:solidFill>
                <a:latin typeface="Calibri"/>
              </a:rPr>
              <a:t>Only disclose public information</a:t>
            </a:r>
          </a:p>
        </p:txBody>
      </p:sp>
      <p:sp>
        <p:nvSpPr>
          <p:cNvPr id="31" name="TextBox 30"/>
          <p:cNvSpPr txBox="1"/>
          <p:nvPr/>
        </p:nvSpPr>
        <p:spPr>
          <a:xfrm>
            <a:off x="5344059" y="3953588"/>
            <a:ext cx="460383" cy="184666"/>
          </a:xfrm>
          <a:prstGeom prst="rect">
            <a:avLst/>
          </a:prstGeom>
          <a:noFill/>
        </p:spPr>
        <p:txBody>
          <a:bodyPr wrap="none">
            <a:spAutoFit/>
          </a:bodyPr>
          <a:lstStyle/>
          <a:p>
            <a:pPr algn="ctr"/>
            <a:r>
              <a:rPr sz="600" b="1" dirty="0">
                <a:solidFill>
                  <a:srgbClr val="000000"/>
                </a:solidFill>
                <a:latin typeface="Calibri"/>
              </a:rPr>
              <a:t>Member</a:t>
            </a:r>
          </a:p>
        </p:txBody>
      </p:sp>
      <p:sp>
        <p:nvSpPr>
          <p:cNvPr id="37" name="Rectangle 36"/>
          <p:cNvSpPr/>
          <p:nvPr/>
        </p:nvSpPr>
        <p:spPr>
          <a:xfrm>
            <a:off x="7102074" y="3859081"/>
            <a:ext cx="846622" cy="573657"/>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Assist the member with their inquiry utilizing existing workflow. </a:t>
            </a:r>
          </a:p>
        </p:txBody>
      </p:sp>
      <p:sp>
        <p:nvSpPr>
          <p:cNvPr id="39" name="Diamond 38"/>
          <p:cNvSpPr/>
          <p:nvPr/>
        </p:nvSpPr>
        <p:spPr>
          <a:xfrm>
            <a:off x="8182142" y="3817702"/>
            <a:ext cx="1078464" cy="640080"/>
          </a:xfrm>
          <a:prstGeom prst="diamond">
            <a:avLst/>
          </a:prstGeom>
          <a:solidFill>
            <a:schemeClr val="tx2">
              <a:lumMod val="40000"/>
              <a:lumOff val="60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600" b="0" dirty="0">
                <a:solidFill>
                  <a:schemeClr val="tx1"/>
                </a:solidFill>
                <a:latin typeface="Calibri"/>
              </a:rPr>
              <a:t>Determine if anything else is needed</a:t>
            </a:r>
          </a:p>
        </p:txBody>
      </p:sp>
      <p:cxnSp>
        <p:nvCxnSpPr>
          <p:cNvPr id="40" name="Connector 39"/>
          <p:cNvCxnSpPr>
            <a:cxnSpLocks/>
            <a:stCxn id="37" idx="3"/>
            <a:endCxn id="39" idx="1"/>
          </p:cNvCxnSpPr>
          <p:nvPr/>
        </p:nvCxnSpPr>
        <p:spPr>
          <a:xfrm flipV="1">
            <a:off x="7948696" y="4137742"/>
            <a:ext cx="233446" cy="8168"/>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204726" y="3999312"/>
            <a:ext cx="320040" cy="184666"/>
          </a:xfrm>
          <a:prstGeom prst="rect">
            <a:avLst/>
          </a:prstGeom>
          <a:noFill/>
        </p:spPr>
        <p:txBody>
          <a:bodyPr wrap="square">
            <a:spAutoFit/>
          </a:bodyPr>
          <a:lstStyle/>
          <a:p>
            <a:pPr algn="ctr"/>
            <a:r>
              <a:rPr lang="en-US" sz="600" b="1" dirty="0">
                <a:solidFill>
                  <a:srgbClr val="000000"/>
                </a:solidFill>
                <a:latin typeface="Calibri"/>
              </a:rPr>
              <a:t>NO</a:t>
            </a:r>
            <a:endParaRPr sz="600" b="1" dirty="0">
              <a:solidFill>
                <a:srgbClr val="000000"/>
              </a:solidFill>
              <a:latin typeface="Calibri"/>
            </a:endParaRPr>
          </a:p>
        </p:txBody>
      </p:sp>
      <p:cxnSp>
        <p:nvCxnSpPr>
          <p:cNvPr id="43" name="Connector 42"/>
          <p:cNvCxnSpPr>
            <a:cxnSpLocks/>
            <a:stCxn id="39" idx="3"/>
            <a:endCxn id="124" idx="1"/>
          </p:cNvCxnSpPr>
          <p:nvPr/>
        </p:nvCxnSpPr>
        <p:spPr>
          <a:xfrm>
            <a:off x="9260606" y="4137742"/>
            <a:ext cx="255270" cy="0"/>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554970" y="3886808"/>
            <a:ext cx="690880" cy="50698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Document in </a:t>
            </a:r>
            <a:r>
              <a:rPr sz="700" b="0" dirty="0" err="1">
                <a:solidFill>
                  <a:srgbClr val="FFFFFF"/>
                </a:solidFill>
                <a:latin typeface="Calibri"/>
              </a:rPr>
              <a:t>ShieldAdvisor</a:t>
            </a:r>
            <a:endParaRPr sz="700" b="0" dirty="0">
              <a:solidFill>
                <a:srgbClr val="FFFFFF"/>
              </a:solidFill>
              <a:latin typeface="Calibri"/>
            </a:endParaRPr>
          </a:p>
        </p:txBody>
      </p:sp>
      <p:sp>
        <p:nvSpPr>
          <p:cNvPr id="47" name="Oval 46"/>
          <p:cNvSpPr/>
          <p:nvPr/>
        </p:nvSpPr>
        <p:spPr>
          <a:xfrm>
            <a:off x="11430000" y="3991897"/>
            <a:ext cx="502920" cy="304188"/>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800" b="1">
                <a:solidFill>
                  <a:srgbClr val="FFFFFF"/>
                </a:solidFill>
                <a:latin typeface="Calibri"/>
              </a:rPr>
              <a:t>End</a:t>
            </a:r>
          </a:p>
        </p:txBody>
      </p:sp>
      <p:cxnSp>
        <p:nvCxnSpPr>
          <p:cNvPr id="48" name="Connector 47"/>
          <p:cNvCxnSpPr>
            <a:cxnSpLocks/>
            <a:stCxn id="45" idx="3"/>
            <a:endCxn id="47" idx="2"/>
          </p:cNvCxnSpPr>
          <p:nvPr/>
        </p:nvCxnSpPr>
        <p:spPr>
          <a:xfrm>
            <a:off x="11245850" y="4140298"/>
            <a:ext cx="184150" cy="3693"/>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9F35DF78-33E9-EB61-EFE2-75C592C413DB}"/>
              </a:ext>
            </a:extLst>
          </p:cNvPr>
          <p:cNvSpPr/>
          <p:nvPr/>
        </p:nvSpPr>
        <p:spPr>
          <a:xfrm>
            <a:off x="3213565" y="1074998"/>
            <a:ext cx="1281477" cy="457200"/>
          </a:xfrm>
          <a:prstGeom prst="rect">
            <a:avLst/>
          </a:prstGeom>
          <a:solidFill>
            <a:schemeClr val="accent3">
              <a:lumMod val="75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dirty="0">
                <a:solidFill>
                  <a:srgbClr val="FFFFFF"/>
                </a:solidFill>
                <a:latin typeface="Calibri"/>
              </a:rPr>
              <a:t>AI Chatbot cannot resolve inquiry</a:t>
            </a:r>
          </a:p>
          <a:p>
            <a:pPr algn="ctr"/>
            <a:r>
              <a:rPr lang="en-US" sz="700" b="1" dirty="0">
                <a:solidFill>
                  <a:srgbClr val="FFFFFF"/>
                </a:solidFill>
              </a:rPr>
              <a:t>(Sierra AI) </a:t>
            </a:r>
          </a:p>
        </p:txBody>
      </p:sp>
      <p:sp>
        <p:nvSpPr>
          <p:cNvPr id="52" name="Rectangle 51"/>
          <p:cNvSpPr/>
          <p:nvPr/>
        </p:nvSpPr>
        <p:spPr>
          <a:xfrm>
            <a:off x="4644503" y="1066997"/>
            <a:ext cx="1051560" cy="457200"/>
          </a:xfrm>
          <a:prstGeom prst="rect">
            <a:avLst/>
          </a:prstGeom>
          <a:solidFill>
            <a:schemeClr val="accent3">
              <a:lumMod val="75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dirty="0">
                <a:solidFill>
                  <a:srgbClr val="FFFFFF"/>
                </a:solidFill>
              </a:rPr>
              <a:t>Member given option to connect with live agent</a:t>
            </a:r>
          </a:p>
          <a:p>
            <a:pPr algn="ctr"/>
            <a:r>
              <a:rPr lang="en-US" sz="700" b="1" dirty="0">
                <a:solidFill>
                  <a:srgbClr val="FFFFFF"/>
                </a:solidFill>
              </a:rPr>
              <a:t>(Sierra AI) </a:t>
            </a:r>
          </a:p>
        </p:txBody>
      </p:sp>
      <p:sp>
        <p:nvSpPr>
          <p:cNvPr id="53" name="Rectangle 52">
            <a:extLst>
              <a:ext uri="{FF2B5EF4-FFF2-40B4-BE49-F238E27FC236}">
                <a16:creationId xmlns:a16="http://schemas.microsoft.com/office/drawing/2014/main" id="{D907A269-1ECC-81B4-717C-95A3FC06B213}"/>
              </a:ext>
            </a:extLst>
          </p:cNvPr>
          <p:cNvSpPr/>
          <p:nvPr/>
        </p:nvSpPr>
        <p:spPr>
          <a:xfrm>
            <a:off x="3213565" y="2133234"/>
            <a:ext cx="1281477" cy="626076"/>
          </a:xfrm>
          <a:prstGeom prst="rect">
            <a:avLst/>
          </a:prstGeom>
          <a:solidFill>
            <a:schemeClr val="accent3">
              <a:lumMod val="60000"/>
              <a:lumOff val="40000"/>
            </a:schemeClr>
          </a:solid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1" dirty="0">
                <a:solidFill>
                  <a:schemeClr val="tx1"/>
                </a:solidFill>
              </a:rPr>
              <a:t>Secondary Trigger: </a:t>
            </a:r>
            <a:r>
              <a:rPr lang="en-US" sz="700" dirty="0">
                <a:solidFill>
                  <a:schemeClr val="tx1"/>
                </a:solidFill>
              </a:rPr>
              <a:t>Agent tries 2x to resolve: out of bound question or abuse questions  and determines cannot answer question</a:t>
            </a:r>
            <a:endParaRPr sz="700" dirty="0">
              <a:solidFill>
                <a:schemeClr val="tx1"/>
              </a:solidFill>
              <a:latin typeface="Calibri"/>
            </a:endParaRPr>
          </a:p>
        </p:txBody>
      </p:sp>
      <p:sp>
        <p:nvSpPr>
          <p:cNvPr id="54" name="Rectangle 53">
            <a:extLst>
              <a:ext uri="{FF2B5EF4-FFF2-40B4-BE49-F238E27FC236}">
                <a16:creationId xmlns:a16="http://schemas.microsoft.com/office/drawing/2014/main" id="{49FFF9B5-1BD7-8383-8EAA-2886B00464CC}"/>
              </a:ext>
            </a:extLst>
          </p:cNvPr>
          <p:cNvSpPr/>
          <p:nvPr/>
        </p:nvSpPr>
        <p:spPr>
          <a:xfrm>
            <a:off x="3213565" y="1606921"/>
            <a:ext cx="1281477" cy="457200"/>
          </a:xfrm>
          <a:prstGeom prst="rect">
            <a:avLst/>
          </a:prstGeom>
          <a:solidFill>
            <a:schemeClr val="accent3">
              <a:lumMod val="60000"/>
              <a:lumOff val="40000"/>
            </a:schemeClr>
          </a:solid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1" dirty="0">
                <a:solidFill>
                  <a:schemeClr val="tx1"/>
                </a:solidFill>
              </a:rPr>
              <a:t>Primary Trigger for Live Chat</a:t>
            </a:r>
            <a:r>
              <a:rPr lang="en-US" sz="700" dirty="0">
                <a:solidFill>
                  <a:schemeClr val="tx1"/>
                </a:solidFill>
              </a:rPr>
              <a:t>: Member asks for Live Agent</a:t>
            </a:r>
            <a:endParaRPr sz="700" b="0" dirty="0">
              <a:solidFill>
                <a:schemeClr val="tx1"/>
              </a:solidFill>
              <a:latin typeface="Calibri"/>
            </a:endParaRPr>
          </a:p>
        </p:txBody>
      </p:sp>
      <p:sp>
        <p:nvSpPr>
          <p:cNvPr id="55" name="Rectangle 54">
            <a:extLst>
              <a:ext uri="{FF2B5EF4-FFF2-40B4-BE49-F238E27FC236}">
                <a16:creationId xmlns:a16="http://schemas.microsoft.com/office/drawing/2014/main" id="{81E14939-0EB2-5073-6C1F-4278EB90FFBA}"/>
              </a:ext>
            </a:extLst>
          </p:cNvPr>
          <p:cNvSpPr/>
          <p:nvPr/>
        </p:nvSpPr>
        <p:spPr>
          <a:xfrm>
            <a:off x="4511154" y="2159455"/>
            <a:ext cx="1051560" cy="457200"/>
          </a:xfrm>
          <a:prstGeom prst="rect">
            <a:avLst/>
          </a:prstGeom>
          <a:no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dirty="0">
                <a:solidFill>
                  <a:schemeClr val="tx1"/>
                </a:solidFill>
                <a:latin typeface="Calibri"/>
              </a:rPr>
              <a:t>Out of Bounds: not related to benefits questions at all or what they can self-service on the portal</a:t>
            </a:r>
            <a:endParaRPr sz="700" b="0" dirty="0">
              <a:solidFill>
                <a:schemeClr val="tx1"/>
              </a:solidFill>
              <a:latin typeface="Calibri"/>
            </a:endParaRPr>
          </a:p>
        </p:txBody>
      </p:sp>
      <p:sp>
        <p:nvSpPr>
          <p:cNvPr id="56" name="Rectangle 55">
            <a:extLst>
              <a:ext uri="{FF2B5EF4-FFF2-40B4-BE49-F238E27FC236}">
                <a16:creationId xmlns:a16="http://schemas.microsoft.com/office/drawing/2014/main" id="{BFEE3D84-BA9E-BF14-48BA-C6992140DE1A}"/>
              </a:ext>
            </a:extLst>
          </p:cNvPr>
          <p:cNvSpPr/>
          <p:nvPr/>
        </p:nvSpPr>
        <p:spPr>
          <a:xfrm>
            <a:off x="6023722" y="1642491"/>
            <a:ext cx="1485441" cy="547894"/>
          </a:xfrm>
          <a:prstGeom prst="rect">
            <a:avLst/>
          </a:prstGeom>
          <a:solidFill>
            <a:schemeClr val="tx2">
              <a:lumMod val="40000"/>
              <a:lumOff val="60000"/>
            </a:schemeClr>
          </a:solid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dirty="0">
                <a:solidFill>
                  <a:schemeClr val="tx1"/>
                </a:solidFill>
                <a:latin typeface="Calibri"/>
              </a:rPr>
              <a:t>Member will see “#X in Queue” message, this updates once a minute (similar experience for the Live Chat transfers today – Joy)</a:t>
            </a:r>
            <a:endParaRPr sz="700" b="0" dirty="0">
              <a:solidFill>
                <a:schemeClr val="tx1"/>
              </a:solidFill>
              <a:latin typeface="Calibri"/>
            </a:endParaRPr>
          </a:p>
        </p:txBody>
      </p:sp>
      <p:cxnSp>
        <p:nvCxnSpPr>
          <p:cNvPr id="57" name="Connector 15">
            <a:extLst>
              <a:ext uri="{FF2B5EF4-FFF2-40B4-BE49-F238E27FC236}">
                <a16:creationId xmlns:a16="http://schemas.microsoft.com/office/drawing/2014/main" id="{7A50F23B-1CC3-4DB4-02FC-52E78852A81D}"/>
              </a:ext>
            </a:extLst>
          </p:cNvPr>
          <p:cNvCxnSpPr>
            <a:cxnSpLocks/>
            <a:stCxn id="52" idx="3"/>
            <a:endCxn id="13" idx="1"/>
          </p:cNvCxnSpPr>
          <p:nvPr/>
        </p:nvCxnSpPr>
        <p:spPr>
          <a:xfrm flipV="1">
            <a:off x="5696063" y="1295019"/>
            <a:ext cx="327659" cy="578"/>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A850043C-3CE4-41D9-F3BE-B70EA9AA516F}"/>
              </a:ext>
            </a:extLst>
          </p:cNvPr>
          <p:cNvSpPr/>
          <p:nvPr/>
        </p:nvSpPr>
        <p:spPr>
          <a:xfrm>
            <a:off x="2033036" y="4553058"/>
            <a:ext cx="1051560" cy="693858"/>
          </a:xfrm>
          <a:prstGeom prst="rect">
            <a:avLst/>
          </a:prstGeom>
          <a:solidFill>
            <a:schemeClr val="tx2">
              <a:lumMod val="20000"/>
              <a:lumOff val="80000"/>
            </a:schemeClr>
          </a:solid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0" dirty="0">
                <a:solidFill>
                  <a:schemeClr val="tx1"/>
                </a:solidFill>
                <a:latin typeface="Calibri"/>
              </a:rPr>
              <a:t>Agent will see screen pop-up in Pega </a:t>
            </a:r>
            <a:r>
              <a:rPr lang="en-US" sz="700" b="0" dirty="0" err="1">
                <a:solidFill>
                  <a:schemeClr val="tx1"/>
                </a:solidFill>
                <a:latin typeface="Calibri"/>
              </a:rPr>
              <a:t>ShieldAdvisor</a:t>
            </a:r>
            <a:r>
              <a:rPr lang="en-US" sz="700" b="0" dirty="0">
                <a:solidFill>
                  <a:schemeClr val="tx1"/>
                </a:solidFill>
                <a:latin typeface="Calibri"/>
              </a:rPr>
              <a:t> with Member Information</a:t>
            </a:r>
          </a:p>
          <a:p>
            <a:pPr algn="ctr"/>
            <a:r>
              <a:rPr lang="en-US" sz="700" dirty="0">
                <a:solidFill>
                  <a:schemeClr val="tx1"/>
                </a:solidFill>
              </a:rPr>
              <a:t>(Pega </a:t>
            </a:r>
            <a:r>
              <a:rPr lang="en-US" sz="700" dirty="0" err="1">
                <a:solidFill>
                  <a:schemeClr val="tx1"/>
                </a:solidFill>
              </a:rPr>
              <a:t>ShieldAdvisor</a:t>
            </a:r>
            <a:r>
              <a:rPr lang="en-US" sz="700" dirty="0">
                <a:solidFill>
                  <a:schemeClr val="tx1"/>
                </a:solidFill>
              </a:rPr>
              <a:t>)</a:t>
            </a:r>
          </a:p>
        </p:txBody>
      </p:sp>
      <p:sp>
        <p:nvSpPr>
          <p:cNvPr id="60" name="Rectangle 59">
            <a:extLst>
              <a:ext uri="{FF2B5EF4-FFF2-40B4-BE49-F238E27FC236}">
                <a16:creationId xmlns:a16="http://schemas.microsoft.com/office/drawing/2014/main" id="{D5113114-9E85-2C75-7867-CD16A8AE316A}"/>
              </a:ext>
            </a:extLst>
          </p:cNvPr>
          <p:cNvSpPr/>
          <p:nvPr/>
        </p:nvSpPr>
        <p:spPr>
          <a:xfrm>
            <a:off x="5773092" y="3784303"/>
            <a:ext cx="1005840" cy="707738"/>
          </a:xfrm>
          <a:prstGeom prst="rect">
            <a:avLst/>
          </a:prstGeom>
          <a:solidFill>
            <a:schemeClr val="tx2">
              <a:lumMod val="20000"/>
              <a:lumOff val="80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0" dirty="0">
                <a:solidFill>
                  <a:schemeClr val="tx1"/>
                </a:solidFill>
                <a:latin typeface="Calibri"/>
              </a:rPr>
              <a:t>Agent reviews the summary of the member conversation on </a:t>
            </a:r>
            <a:r>
              <a:rPr lang="en-US" sz="700" b="0" dirty="0">
                <a:solidFill>
                  <a:srgbClr val="FF0000"/>
                </a:solidFill>
                <a:latin typeface="Calibri"/>
              </a:rPr>
              <a:t>Genesys Script Page</a:t>
            </a:r>
          </a:p>
        </p:txBody>
      </p:sp>
      <p:cxnSp>
        <p:nvCxnSpPr>
          <p:cNvPr id="64" name="Straight Connector 63">
            <a:extLst>
              <a:ext uri="{FF2B5EF4-FFF2-40B4-BE49-F238E27FC236}">
                <a16:creationId xmlns:a16="http://schemas.microsoft.com/office/drawing/2014/main" id="{A8B39E6A-A526-8796-7400-5A16537B11CF}"/>
              </a:ext>
            </a:extLst>
          </p:cNvPr>
          <p:cNvCxnSpPr/>
          <p:nvPr/>
        </p:nvCxnSpPr>
        <p:spPr>
          <a:xfrm>
            <a:off x="640080" y="3045823"/>
            <a:ext cx="11551920"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A640C489-90E0-CCC2-6B0C-B20ECD722748}"/>
              </a:ext>
            </a:extLst>
          </p:cNvPr>
          <p:cNvSpPr txBox="1"/>
          <p:nvPr/>
        </p:nvSpPr>
        <p:spPr>
          <a:xfrm>
            <a:off x="5673202" y="1061572"/>
            <a:ext cx="350519" cy="215444"/>
          </a:xfrm>
          <a:prstGeom prst="rect">
            <a:avLst/>
          </a:prstGeom>
          <a:noFill/>
        </p:spPr>
        <p:txBody>
          <a:bodyPr wrap="square">
            <a:spAutoFit/>
          </a:bodyPr>
          <a:lstStyle/>
          <a:p>
            <a:pPr algn="ctr"/>
            <a:r>
              <a:rPr sz="800" b="1" dirty="0">
                <a:solidFill>
                  <a:srgbClr val="000000"/>
                </a:solidFill>
                <a:latin typeface="Calibri"/>
              </a:rPr>
              <a:t>Yes</a:t>
            </a:r>
          </a:p>
        </p:txBody>
      </p:sp>
      <p:cxnSp>
        <p:nvCxnSpPr>
          <p:cNvPr id="70" name="Connector 25">
            <a:extLst>
              <a:ext uri="{FF2B5EF4-FFF2-40B4-BE49-F238E27FC236}">
                <a16:creationId xmlns:a16="http://schemas.microsoft.com/office/drawing/2014/main" id="{D5A15227-4ACA-DA2E-013B-631FBFEBFFBD}"/>
              </a:ext>
            </a:extLst>
          </p:cNvPr>
          <p:cNvCxnSpPr>
            <a:cxnSpLocks/>
            <a:stCxn id="21" idx="2"/>
            <a:endCxn id="23" idx="0"/>
          </p:cNvCxnSpPr>
          <p:nvPr/>
        </p:nvCxnSpPr>
        <p:spPr>
          <a:xfrm>
            <a:off x="2558816" y="3687667"/>
            <a:ext cx="3810" cy="222217"/>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Connector 39">
            <a:extLst>
              <a:ext uri="{FF2B5EF4-FFF2-40B4-BE49-F238E27FC236}">
                <a16:creationId xmlns:a16="http://schemas.microsoft.com/office/drawing/2014/main" id="{04D8BB66-F2C1-9E71-8EF0-2FDF176BF1E8}"/>
              </a:ext>
            </a:extLst>
          </p:cNvPr>
          <p:cNvCxnSpPr>
            <a:cxnSpLocks/>
            <a:stCxn id="27" idx="3"/>
            <a:endCxn id="60" idx="1"/>
          </p:cNvCxnSpPr>
          <p:nvPr/>
        </p:nvCxnSpPr>
        <p:spPr>
          <a:xfrm>
            <a:off x="5436776" y="4129290"/>
            <a:ext cx="336316" cy="8882"/>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2" name="Connector: Elbow 101">
            <a:extLst>
              <a:ext uri="{FF2B5EF4-FFF2-40B4-BE49-F238E27FC236}">
                <a16:creationId xmlns:a16="http://schemas.microsoft.com/office/drawing/2014/main" id="{02A7578E-87D0-949D-72BB-215B6ACBF1ED}"/>
              </a:ext>
            </a:extLst>
          </p:cNvPr>
          <p:cNvCxnSpPr>
            <a:cxnSpLocks/>
            <a:stCxn id="13" idx="3"/>
            <a:endCxn id="21" idx="0"/>
          </p:cNvCxnSpPr>
          <p:nvPr/>
        </p:nvCxnSpPr>
        <p:spPr>
          <a:xfrm flipH="1">
            <a:off x="2558816" y="1295019"/>
            <a:ext cx="4950347" cy="2058551"/>
          </a:xfrm>
          <a:prstGeom prst="bentConnector4">
            <a:avLst>
              <a:gd name="adj1" fmla="val -4618"/>
              <a:gd name="adj2" fmla="val 92106"/>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06" name="Connector 27">
            <a:extLst>
              <a:ext uri="{FF2B5EF4-FFF2-40B4-BE49-F238E27FC236}">
                <a16:creationId xmlns:a16="http://schemas.microsoft.com/office/drawing/2014/main" id="{372DEE11-A4DE-DF45-BAA1-D148D4D18007}"/>
              </a:ext>
            </a:extLst>
          </p:cNvPr>
          <p:cNvCxnSpPr>
            <a:cxnSpLocks/>
            <a:stCxn id="27" idx="2"/>
            <a:endCxn id="30" idx="0"/>
          </p:cNvCxnSpPr>
          <p:nvPr/>
        </p:nvCxnSpPr>
        <p:spPr>
          <a:xfrm>
            <a:off x="4933856" y="4449330"/>
            <a:ext cx="1904" cy="272642"/>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4" name="Rectangle 123">
            <a:extLst>
              <a:ext uri="{FF2B5EF4-FFF2-40B4-BE49-F238E27FC236}">
                <a16:creationId xmlns:a16="http://schemas.microsoft.com/office/drawing/2014/main" id="{4DDD4C53-AD8C-BE26-AA6E-109166961576}"/>
              </a:ext>
            </a:extLst>
          </p:cNvPr>
          <p:cNvSpPr/>
          <p:nvPr/>
        </p:nvSpPr>
        <p:spPr>
          <a:xfrm>
            <a:off x="9515876" y="3883933"/>
            <a:ext cx="854944" cy="507617"/>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0" dirty="0">
                <a:solidFill>
                  <a:srgbClr val="FFFFFF"/>
                </a:solidFill>
                <a:latin typeface="Calibri"/>
              </a:rPr>
              <a:t>Use closing scripting with survey link and close out the chat.</a:t>
            </a:r>
            <a:endParaRPr sz="700" b="0" dirty="0">
              <a:solidFill>
                <a:srgbClr val="FFFFFF"/>
              </a:solidFill>
              <a:latin typeface="Calibri"/>
            </a:endParaRPr>
          </a:p>
        </p:txBody>
      </p:sp>
      <p:cxnSp>
        <p:nvCxnSpPr>
          <p:cNvPr id="134" name="Connector 42">
            <a:extLst>
              <a:ext uri="{FF2B5EF4-FFF2-40B4-BE49-F238E27FC236}">
                <a16:creationId xmlns:a16="http://schemas.microsoft.com/office/drawing/2014/main" id="{CE6307A1-513E-2D0D-6497-EA9D381B810A}"/>
              </a:ext>
            </a:extLst>
          </p:cNvPr>
          <p:cNvCxnSpPr>
            <a:cxnSpLocks/>
            <a:stCxn id="124" idx="3"/>
            <a:endCxn id="45" idx="1"/>
          </p:cNvCxnSpPr>
          <p:nvPr/>
        </p:nvCxnSpPr>
        <p:spPr>
          <a:xfrm>
            <a:off x="10370820" y="4137742"/>
            <a:ext cx="184150" cy="2556"/>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7" name="Connector: Elbow 136">
            <a:extLst>
              <a:ext uri="{FF2B5EF4-FFF2-40B4-BE49-F238E27FC236}">
                <a16:creationId xmlns:a16="http://schemas.microsoft.com/office/drawing/2014/main" id="{D5228393-3939-3382-12A9-101BC71D837E}"/>
              </a:ext>
            </a:extLst>
          </p:cNvPr>
          <p:cNvCxnSpPr>
            <a:cxnSpLocks/>
            <a:stCxn id="30" idx="2"/>
            <a:endCxn id="39" idx="2"/>
          </p:cNvCxnSpPr>
          <p:nvPr/>
        </p:nvCxnSpPr>
        <p:spPr>
          <a:xfrm rot="5400000" flipH="1" flipV="1">
            <a:off x="6467872" y="2925670"/>
            <a:ext cx="721390" cy="3785614"/>
          </a:xfrm>
          <a:prstGeom prst="bentConnector3">
            <a:avLst>
              <a:gd name="adj1" fmla="val -31689"/>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57" name="Connector 39">
            <a:extLst>
              <a:ext uri="{FF2B5EF4-FFF2-40B4-BE49-F238E27FC236}">
                <a16:creationId xmlns:a16="http://schemas.microsoft.com/office/drawing/2014/main" id="{E70C17C9-4D70-155C-7F99-21018729F290}"/>
              </a:ext>
            </a:extLst>
          </p:cNvPr>
          <p:cNvCxnSpPr>
            <a:cxnSpLocks/>
            <a:stCxn id="60" idx="3"/>
            <a:endCxn id="37" idx="1"/>
          </p:cNvCxnSpPr>
          <p:nvPr/>
        </p:nvCxnSpPr>
        <p:spPr>
          <a:xfrm>
            <a:off x="6778932" y="4138172"/>
            <a:ext cx="323142" cy="7738"/>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6" name="Connector 24">
            <a:extLst>
              <a:ext uri="{FF2B5EF4-FFF2-40B4-BE49-F238E27FC236}">
                <a16:creationId xmlns:a16="http://schemas.microsoft.com/office/drawing/2014/main" id="{4DA2F1EA-17B6-1182-1584-650488D42DFE}"/>
              </a:ext>
            </a:extLst>
          </p:cNvPr>
          <p:cNvCxnSpPr>
            <a:cxnSpLocks/>
            <a:stCxn id="23" idx="3"/>
            <a:endCxn id="24" idx="1"/>
          </p:cNvCxnSpPr>
          <p:nvPr/>
        </p:nvCxnSpPr>
        <p:spPr>
          <a:xfrm flipV="1">
            <a:off x="3088406" y="4127504"/>
            <a:ext cx="141040" cy="10980"/>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1" name="Rectangle 180">
            <a:extLst>
              <a:ext uri="{FF2B5EF4-FFF2-40B4-BE49-F238E27FC236}">
                <a16:creationId xmlns:a16="http://schemas.microsoft.com/office/drawing/2014/main" id="{C98334C7-7578-4668-7E01-F7DE7780B902}"/>
              </a:ext>
            </a:extLst>
          </p:cNvPr>
          <p:cNvSpPr/>
          <p:nvPr/>
        </p:nvSpPr>
        <p:spPr>
          <a:xfrm>
            <a:off x="2024492" y="5340358"/>
            <a:ext cx="1051560" cy="880988"/>
          </a:xfrm>
          <a:prstGeom prst="rect">
            <a:avLst/>
          </a:prstGeom>
          <a:solidFill>
            <a:schemeClr val="tx2">
              <a:lumMod val="20000"/>
              <a:lumOff val="80000"/>
            </a:schemeClr>
          </a:solid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0" dirty="0">
                <a:solidFill>
                  <a:schemeClr val="tx1"/>
                </a:solidFill>
                <a:latin typeface="Calibri"/>
              </a:rPr>
              <a:t>If at any point during the conversation the</a:t>
            </a:r>
          </a:p>
          <a:p>
            <a:pPr algn="ctr">
              <a:spcBef>
                <a:spcPts val="0"/>
              </a:spcBef>
              <a:spcAft>
                <a:spcPts val="0"/>
              </a:spcAft>
            </a:pPr>
            <a:r>
              <a:rPr lang="en-US" sz="700" b="0" dirty="0">
                <a:solidFill>
                  <a:schemeClr val="tx1"/>
                </a:solidFill>
                <a:latin typeface="Calibri"/>
              </a:rPr>
              <a:t>member speaks in a different language or</a:t>
            </a:r>
          </a:p>
          <a:p>
            <a:pPr algn="ctr">
              <a:spcBef>
                <a:spcPts val="0"/>
              </a:spcBef>
              <a:spcAft>
                <a:spcPts val="0"/>
              </a:spcAft>
            </a:pPr>
            <a:r>
              <a:rPr lang="en-US" sz="700" b="0" dirty="0">
                <a:solidFill>
                  <a:schemeClr val="tx1"/>
                </a:solidFill>
                <a:latin typeface="Calibri"/>
              </a:rPr>
              <a:t>shows dissatisfaction, refer to corresponding</a:t>
            </a:r>
          </a:p>
          <a:p>
            <a:pPr algn="ctr">
              <a:spcBef>
                <a:spcPts val="0"/>
              </a:spcBef>
              <a:spcAft>
                <a:spcPts val="0"/>
              </a:spcAft>
            </a:pPr>
            <a:r>
              <a:rPr lang="en-US" sz="700" b="0" dirty="0">
                <a:solidFill>
                  <a:schemeClr val="tx1"/>
                </a:solidFill>
                <a:latin typeface="Calibri"/>
              </a:rPr>
              <a:t>process map.</a:t>
            </a:r>
            <a:endParaRPr lang="en-US" sz="700" dirty="0">
              <a:solidFill>
                <a:schemeClr val="tx1"/>
              </a:solidFill>
            </a:endParaRPr>
          </a:p>
        </p:txBody>
      </p:sp>
      <p:sp>
        <p:nvSpPr>
          <p:cNvPr id="183" name="Flowchart: Off-page Connector 182">
            <a:extLst>
              <a:ext uri="{FF2B5EF4-FFF2-40B4-BE49-F238E27FC236}">
                <a16:creationId xmlns:a16="http://schemas.microsoft.com/office/drawing/2014/main" id="{470CDCAF-7518-2E97-1B4D-C69645819573}"/>
              </a:ext>
            </a:extLst>
          </p:cNvPr>
          <p:cNvSpPr/>
          <p:nvPr/>
        </p:nvSpPr>
        <p:spPr>
          <a:xfrm>
            <a:off x="7767152" y="4317476"/>
            <a:ext cx="159719" cy="218330"/>
          </a:xfrm>
          <a:prstGeom prst="flowChartOffpageConnector">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4" name="Flowchart: Off-page Connector 183">
            <a:extLst>
              <a:ext uri="{FF2B5EF4-FFF2-40B4-BE49-F238E27FC236}">
                <a16:creationId xmlns:a16="http://schemas.microsoft.com/office/drawing/2014/main" id="{3D946E74-0524-F7B6-8AD1-810DF7D22E24}"/>
              </a:ext>
            </a:extLst>
          </p:cNvPr>
          <p:cNvSpPr/>
          <p:nvPr/>
        </p:nvSpPr>
        <p:spPr>
          <a:xfrm>
            <a:off x="9414192" y="4310122"/>
            <a:ext cx="159719" cy="218330"/>
          </a:xfrm>
          <a:prstGeom prst="flowChartOffpageConnector">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5" name="Flowchart: Off-page Connector 184">
            <a:extLst>
              <a:ext uri="{FF2B5EF4-FFF2-40B4-BE49-F238E27FC236}">
                <a16:creationId xmlns:a16="http://schemas.microsoft.com/office/drawing/2014/main" id="{1E74D925-9720-1B4D-9E2C-232E326D1999}"/>
              </a:ext>
            </a:extLst>
          </p:cNvPr>
          <p:cNvSpPr/>
          <p:nvPr/>
        </p:nvSpPr>
        <p:spPr>
          <a:xfrm>
            <a:off x="10312785" y="4317476"/>
            <a:ext cx="159719" cy="218330"/>
          </a:xfrm>
          <a:prstGeom prst="flowChartOffpageConnector">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3" name="Connector: Elbow 192">
            <a:extLst>
              <a:ext uri="{FF2B5EF4-FFF2-40B4-BE49-F238E27FC236}">
                <a16:creationId xmlns:a16="http://schemas.microsoft.com/office/drawing/2014/main" id="{93B0617E-976F-E1E5-13FC-21B0924C7537}"/>
              </a:ext>
            </a:extLst>
          </p:cNvPr>
          <p:cNvCxnSpPr>
            <a:stCxn id="39" idx="0"/>
            <a:endCxn id="37" idx="0"/>
          </p:cNvCxnSpPr>
          <p:nvPr/>
        </p:nvCxnSpPr>
        <p:spPr>
          <a:xfrm rot="16200000" flipH="1" flipV="1">
            <a:off x="8102690" y="3240396"/>
            <a:ext cx="41379" cy="1195989"/>
          </a:xfrm>
          <a:prstGeom prst="bentConnector3">
            <a:avLst>
              <a:gd name="adj1" fmla="val -552454"/>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94" name="TextBox 193">
            <a:extLst>
              <a:ext uri="{FF2B5EF4-FFF2-40B4-BE49-F238E27FC236}">
                <a16:creationId xmlns:a16="http://schemas.microsoft.com/office/drawing/2014/main" id="{A4ABBC1E-1215-6717-C996-F28AA61D3157}"/>
              </a:ext>
            </a:extLst>
          </p:cNvPr>
          <p:cNvSpPr txBox="1"/>
          <p:nvPr/>
        </p:nvSpPr>
        <p:spPr>
          <a:xfrm>
            <a:off x="7948696" y="3443398"/>
            <a:ext cx="320040" cy="184666"/>
          </a:xfrm>
          <a:prstGeom prst="rect">
            <a:avLst/>
          </a:prstGeom>
          <a:noFill/>
        </p:spPr>
        <p:txBody>
          <a:bodyPr wrap="square">
            <a:spAutoFit/>
          </a:bodyPr>
          <a:lstStyle/>
          <a:p>
            <a:pPr algn="ctr"/>
            <a:r>
              <a:rPr lang="en-US" sz="600" b="1" dirty="0">
                <a:solidFill>
                  <a:srgbClr val="000000"/>
                </a:solidFill>
                <a:latin typeface="Calibri"/>
              </a:rPr>
              <a:t>YES</a:t>
            </a:r>
            <a:endParaRPr sz="600" b="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0901F-DF8F-275B-F09F-02ED50C8BE8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8EE984B-27DB-7082-D298-F342692EAF94}"/>
              </a:ext>
            </a:extLst>
          </p:cNvPr>
          <p:cNvSpPr/>
          <p:nvPr/>
        </p:nvSpPr>
        <p:spPr>
          <a:xfrm>
            <a:off x="0" y="18152"/>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dirty="0">
                <a:solidFill>
                  <a:srgbClr val="FFFFFF"/>
                </a:solidFill>
                <a:latin typeface="Calibri"/>
              </a:rPr>
              <a:t>Member Chat Overview Phase 1</a:t>
            </a:r>
            <a:r>
              <a:rPr lang="en-US" sz="1400" b="1" dirty="0">
                <a:solidFill>
                  <a:srgbClr val="FFFFFF"/>
                </a:solidFill>
                <a:latin typeface="Calibri"/>
              </a:rPr>
              <a:t>: Callback Assist </a:t>
            </a:r>
          </a:p>
          <a:p>
            <a:pPr algn="ctr">
              <a:spcBef>
                <a:spcPts val="0"/>
              </a:spcBef>
              <a:spcAft>
                <a:spcPts val="0"/>
              </a:spcAft>
            </a:pPr>
            <a:r>
              <a:rPr lang="en-US" sz="700" dirty="0">
                <a:solidFill>
                  <a:srgbClr val="FFFFFF"/>
                </a:solidFill>
                <a:latin typeface="Calibri"/>
              </a:rPr>
              <a:t>(Pilot: Outside Office Hours)</a:t>
            </a:r>
            <a:endParaRPr sz="700" dirty="0">
              <a:solidFill>
                <a:srgbClr val="FFFFFF"/>
              </a:solidFill>
              <a:latin typeface="Calibri"/>
            </a:endParaRPr>
          </a:p>
        </p:txBody>
      </p:sp>
      <p:sp>
        <p:nvSpPr>
          <p:cNvPr id="3" name="Rectangle 2">
            <a:extLst>
              <a:ext uri="{FF2B5EF4-FFF2-40B4-BE49-F238E27FC236}">
                <a16:creationId xmlns:a16="http://schemas.microsoft.com/office/drawing/2014/main" id="{8BFA45E6-0468-5775-CB1E-BCF20349CBE1}"/>
              </a:ext>
            </a:extLst>
          </p:cNvPr>
          <p:cNvSpPr/>
          <p:nvPr/>
        </p:nvSpPr>
        <p:spPr>
          <a:xfrm>
            <a:off x="11430000" y="9525"/>
            <a:ext cx="761695" cy="379562"/>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sp>
        <p:nvSpPr>
          <p:cNvPr id="4" name="Rectangle 3">
            <a:extLst>
              <a:ext uri="{FF2B5EF4-FFF2-40B4-BE49-F238E27FC236}">
                <a16:creationId xmlns:a16="http://schemas.microsoft.com/office/drawing/2014/main" id="{C9CE137E-A6C9-EA14-58E8-F9F1945164AE}"/>
              </a:ext>
            </a:extLst>
          </p:cNvPr>
          <p:cNvSpPr/>
          <p:nvPr/>
        </p:nvSpPr>
        <p:spPr>
          <a:xfrm>
            <a:off x="0" y="531495"/>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C50437C9-9D34-20E6-BC6B-14803C25C630}"/>
              </a:ext>
            </a:extLst>
          </p:cNvPr>
          <p:cNvSpPr/>
          <p:nvPr/>
        </p:nvSpPr>
        <p:spPr>
          <a:xfrm>
            <a:off x="0" y="531495"/>
            <a:ext cx="640080" cy="18288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dirty="0">
                <a:solidFill>
                  <a:srgbClr val="FFFFFF"/>
                </a:solidFill>
                <a:latin typeface="Calibri"/>
              </a:rPr>
              <a:t>Member Using
</a:t>
            </a:r>
            <a:r>
              <a:rPr lang="en-US" sz="800" b="1" dirty="0">
                <a:solidFill>
                  <a:srgbClr val="FFFFFF"/>
                </a:solidFill>
                <a:latin typeface="Calibri"/>
              </a:rPr>
              <a:t>AI </a:t>
            </a:r>
            <a:r>
              <a:rPr sz="800" b="1" dirty="0">
                <a:solidFill>
                  <a:srgbClr val="FFFFFF"/>
                </a:solidFill>
                <a:latin typeface="Calibri"/>
              </a:rPr>
              <a:t>Chat Bot</a:t>
            </a:r>
          </a:p>
        </p:txBody>
      </p:sp>
      <p:sp>
        <p:nvSpPr>
          <p:cNvPr id="6" name="Rectangle 5">
            <a:extLst>
              <a:ext uri="{FF2B5EF4-FFF2-40B4-BE49-F238E27FC236}">
                <a16:creationId xmlns:a16="http://schemas.microsoft.com/office/drawing/2014/main" id="{82A293E6-83D4-4F9B-BC6E-1ED678ADFFB7}"/>
              </a:ext>
            </a:extLst>
          </p:cNvPr>
          <p:cNvSpPr/>
          <p:nvPr/>
        </p:nvSpPr>
        <p:spPr>
          <a:xfrm>
            <a:off x="-1" y="3257542"/>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C4697965-4C80-E404-FC4E-32FCB25D2945}"/>
              </a:ext>
            </a:extLst>
          </p:cNvPr>
          <p:cNvSpPr/>
          <p:nvPr/>
        </p:nvSpPr>
        <p:spPr>
          <a:xfrm>
            <a:off x="0" y="2360295"/>
            <a:ext cx="640080" cy="438912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dirty="0">
                <a:solidFill>
                  <a:srgbClr val="FFFFFF"/>
                </a:solidFill>
                <a:latin typeface="Calibri"/>
              </a:rPr>
              <a:t>Chat Customer
Care Agent</a:t>
            </a:r>
          </a:p>
        </p:txBody>
      </p:sp>
      <p:sp>
        <p:nvSpPr>
          <p:cNvPr id="8" name="Rectangle 7">
            <a:extLst>
              <a:ext uri="{FF2B5EF4-FFF2-40B4-BE49-F238E27FC236}">
                <a16:creationId xmlns:a16="http://schemas.microsoft.com/office/drawing/2014/main" id="{EBDED9E2-529A-3CBD-FF3B-0C5A266FDEDF}"/>
              </a:ext>
            </a:extLst>
          </p:cNvPr>
          <p:cNvSpPr/>
          <p:nvPr/>
        </p:nvSpPr>
        <p:spPr>
          <a:xfrm>
            <a:off x="0" y="6749415"/>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a:extLst>
              <a:ext uri="{FF2B5EF4-FFF2-40B4-BE49-F238E27FC236}">
                <a16:creationId xmlns:a16="http://schemas.microsoft.com/office/drawing/2014/main" id="{84A4BF4B-7D65-8C0D-555A-EA0F4D1E77D9}"/>
              </a:ext>
            </a:extLst>
          </p:cNvPr>
          <p:cNvSpPr/>
          <p:nvPr/>
        </p:nvSpPr>
        <p:spPr>
          <a:xfrm>
            <a:off x="731520" y="1180535"/>
            <a:ext cx="594360" cy="320040"/>
          </a:xfrm>
          <a:prstGeom prst="ellipse">
            <a:avLst/>
          </a:prstGeom>
          <a:solidFill>
            <a:srgbClr val="00B05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800" b="1">
                <a:solidFill>
                  <a:srgbClr val="FFFFFF"/>
                </a:solidFill>
                <a:latin typeface="Calibri"/>
              </a:rPr>
              <a:t>Start</a:t>
            </a:r>
          </a:p>
        </p:txBody>
      </p:sp>
      <p:sp>
        <p:nvSpPr>
          <p:cNvPr id="18" name="Rectangle 17">
            <a:extLst>
              <a:ext uri="{FF2B5EF4-FFF2-40B4-BE49-F238E27FC236}">
                <a16:creationId xmlns:a16="http://schemas.microsoft.com/office/drawing/2014/main" id="{9F47064C-6191-DCCB-1537-DD2793A66944}"/>
              </a:ext>
            </a:extLst>
          </p:cNvPr>
          <p:cNvSpPr/>
          <p:nvPr/>
        </p:nvSpPr>
        <p:spPr>
          <a:xfrm>
            <a:off x="1744980" y="1072876"/>
            <a:ext cx="1241136" cy="531211"/>
          </a:xfrm>
          <a:prstGeom prst="rect">
            <a:avLst/>
          </a:prstGeom>
          <a:solidFill>
            <a:schemeClr val="accent3">
              <a:lumMod val="75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Member logs into member portal to initiate </a:t>
            </a:r>
            <a:r>
              <a:rPr lang="en-US" sz="700" b="0" dirty="0">
                <a:solidFill>
                  <a:srgbClr val="FFFFFF"/>
                </a:solidFill>
                <a:latin typeface="Calibri"/>
              </a:rPr>
              <a:t>chat </a:t>
            </a:r>
            <a:r>
              <a:rPr sz="700" b="0" dirty="0">
                <a:solidFill>
                  <a:srgbClr val="FFFFFF"/>
                </a:solidFill>
                <a:latin typeface="Calibri"/>
              </a:rPr>
              <a:t>with Blue Shield</a:t>
            </a:r>
            <a:endParaRPr lang="en-US" sz="700" b="0" dirty="0">
              <a:solidFill>
                <a:srgbClr val="FFFFFF"/>
              </a:solidFill>
              <a:latin typeface="Calibri"/>
            </a:endParaRPr>
          </a:p>
          <a:p>
            <a:pPr algn="ctr"/>
            <a:r>
              <a:rPr lang="en-US" sz="700" b="1" dirty="0">
                <a:solidFill>
                  <a:srgbClr val="FFFFFF"/>
                </a:solidFill>
              </a:rPr>
              <a:t>(Sierra AI) </a:t>
            </a:r>
          </a:p>
        </p:txBody>
      </p:sp>
      <p:sp>
        <p:nvSpPr>
          <p:cNvPr id="32" name="Rectangle 31">
            <a:extLst>
              <a:ext uri="{FF2B5EF4-FFF2-40B4-BE49-F238E27FC236}">
                <a16:creationId xmlns:a16="http://schemas.microsoft.com/office/drawing/2014/main" id="{8377D979-49A3-8DB9-C889-E9CAC2C0ECAA}"/>
              </a:ext>
            </a:extLst>
          </p:cNvPr>
          <p:cNvSpPr/>
          <p:nvPr/>
        </p:nvSpPr>
        <p:spPr>
          <a:xfrm>
            <a:off x="6334272" y="1060489"/>
            <a:ext cx="1485441" cy="531211"/>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dirty="0">
                <a:solidFill>
                  <a:srgbClr val="FFFFFF"/>
                </a:solidFill>
                <a:latin typeface="Calibri"/>
              </a:rPr>
              <a:t>Member is connected to a live agent</a:t>
            </a:r>
          </a:p>
          <a:p>
            <a:pPr algn="ctr">
              <a:spcBef>
                <a:spcPts val="0"/>
              </a:spcBef>
              <a:spcAft>
                <a:spcPts val="0"/>
              </a:spcAft>
            </a:pPr>
            <a:r>
              <a:rPr lang="en-US" sz="700" dirty="0">
                <a:solidFill>
                  <a:srgbClr val="FFFFFF"/>
                </a:solidFill>
                <a:latin typeface="Calibri"/>
              </a:rPr>
              <a:t>(Sierra </a:t>
            </a:r>
            <a:r>
              <a:rPr lang="en-US" sz="700" dirty="0">
                <a:solidFill>
                  <a:srgbClr val="FFFFFF"/>
                </a:solidFill>
                <a:latin typeface="Calibri"/>
                <a:sym typeface="Wingdings" panose="05000000000000000000" pitchFamily="2" charset="2"/>
              </a:rPr>
              <a:t> Genesys)</a:t>
            </a:r>
            <a:endParaRPr sz="700" b="0" dirty="0">
              <a:solidFill>
                <a:srgbClr val="FFFFFF"/>
              </a:solidFill>
              <a:latin typeface="Calibri"/>
            </a:endParaRPr>
          </a:p>
        </p:txBody>
      </p:sp>
      <p:cxnSp>
        <p:nvCxnSpPr>
          <p:cNvPr id="35" name="Connector 13">
            <a:extLst>
              <a:ext uri="{FF2B5EF4-FFF2-40B4-BE49-F238E27FC236}">
                <a16:creationId xmlns:a16="http://schemas.microsoft.com/office/drawing/2014/main" id="{4EED428A-1244-E50D-CB88-1A57879ACF15}"/>
              </a:ext>
            </a:extLst>
          </p:cNvPr>
          <p:cNvCxnSpPr>
            <a:cxnSpLocks/>
            <a:stCxn id="17" idx="6"/>
            <a:endCxn id="18" idx="1"/>
          </p:cNvCxnSpPr>
          <p:nvPr/>
        </p:nvCxnSpPr>
        <p:spPr>
          <a:xfrm flipV="1">
            <a:off x="1325880" y="1338482"/>
            <a:ext cx="419100" cy="2073"/>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14">
            <a:extLst>
              <a:ext uri="{FF2B5EF4-FFF2-40B4-BE49-F238E27FC236}">
                <a16:creationId xmlns:a16="http://schemas.microsoft.com/office/drawing/2014/main" id="{1A3AE1EA-3A15-395E-F9AD-331309F9B320}"/>
              </a:ext>
            </a:extLst>
          </p:cNvPr>
          <p:cNvCxnSpPr>
            <a:cxnSpLocks/>
            <a:stCxn id="18" idx="3"/>
            <a:endCxn id="50" idx="1"/>
          </p:cNvCxnSpPr>
          <p:nvPr/>
        </p:nvCxnSpPr>
        <p:spPr>
          <a:xfrm flipV="1">
            <a:off x="2986116" y="1334674"/>
            <a:ext cx="227449" cy="3808"/>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15">
            <a:extLst>
              <a:ext uri="{FF2B5EF4-FFF2-40B4-BE49-F238E27FC236}">
                <a16:creationId xmlns:a16="http://schemas.microsoft.com/office/drawing/2014/main" id="{5FEE3D31-CC36-A8AE-EDA2-B1B98C3E69F8}"/>
              </a:ext>
            </a:extLst>
          </p:cNvPr>
          <p:cNvCxnSpPr>
            <a:cxnSpLocks/>
            <a:stCxn id="50" idx="3"/>
            <a:endCxn id="58" idx="1"/>
          </p:cNvCxnSpPr>
          <p:nvPr/>
        </p:nvCxnSpPr>
        <p:spPr>
          <a:xfrm flipV="1">
            <a:off x="4495042" y="1326673"/>
            <a:ext cx="212800" cy="8001"/>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ectangle 49">
            <a:extLst>
              <a:ext uri="{FF2B5EF4-FFF2-40B4-BE49-F238E27FC236}">
                <a16:creationId xmlns:a16="http://schemas.microsoft.com/office/drawing/2014/main" id="{DE834269-2738-0C08-4907-382FC80EE16E}"/>
              </a:ext>
            </a:extLst>
          </p:cNvPr>
          <p:cNvSpPr/>
          <p:nvPr/>
        </p:nvSpPr>
        <p:spPr>
          <a:xfrm>
            <a:off x="3213565" y="1069068"/>
            <a:ext cx="1281477" cy="531211"/>
          </a:xfrm>
          <a:prstGeom prst="rect">
            <a:avLst/>
          </a:prstGeom>
          <a:solidFill>
            <a:schemeClr val="accent3">
              <a:lumMod val="75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dirty="0">
                <a:solidFill>
                  <a:srgbClr val="FFFFFF"/>
                </a:solidFill>
                <a:latin typeface="Calibri"/>
              </a:rPr>
              <a:t>AI Chatbot cannot resolve inquiry</a:t>
            </a:r>
          </a:p>
          <a:p>
            <a:pPr algn="ctr"/>
            <a:r>
              <a:rPr lang="en-US" sz="700" b="1" dirty="0">
                <a:solidFill>
                  <a:srgbClr val="FFFFFF"/>
                </a:solidFill>
              </a:rPr>
              <a:t>(Sierra AI) </a:t>
            </a:r>
          </a:p>
        </p:txBody>
      </p:sp>
      <p:sp>
        <p:nvSpPr>
          <p:cNvPr id="58" name="Rectangle 57">
            <a:extLst>
              <a:ext uri="{FF2B5EF4-FFF2-40B4-BE49-F238E27FC236}">
                <a16:creationId xmlns:a16="http://schemas.microsoft.com/office/drawing/2014/main" id="{AD0A826B-1C9E-38B4-B260-1B1B7EC5DECF}"/>
              </a:ext>
            </a:extLst>
          </p:cNvPr>
          <p:cNvSpPr/>
          <p:nvPr/>
        </p:nvSpPr>
        <p:spPr>
          <a:xfrm>
            <a:off x="4707842" y="1061067"/>
            <a:ext cx="1344818" cy="531211"/>
          </a:xfrm>
          <a:prstGeom prst="rect">
            <a:avLst/>
          </a:prstGeom>
          <a:solidFill>
            <a:schemeClr val="accent3">
              <a:lumMod val="75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dirty="0">
                <a:solidFill>
                  <a:srgbClr val="FFFFFF"/>
                </a:solidFill>
              </a:rPr>
              <a:t>Member given option to connect with agent via call back (within 24 Business Hours)</a:t>
            </a:r>
          </a:p>
          <a:p>
            <a:pPr algn="ctr"/>
            <a:r>
              <a:rPr lang="en-US" sz="700" b="1" dirty="0">
                <a:solidFill>
                  <a:srgbClr val="FFFFFF"/>
                </a:solidFill>
              </a:rPr>
              <a:t>(Sierra AI) </a:t>
            </a:r>
          </a:p>
        </p:txBody>
      </p:sp>
      <p:sp>
        <p:nvSpPr>
          <p:cNvPr id="63" name="Rectangle 62">
            <a:extLst>
              <a:ext uri="{FF2B5EF4-FFF2-40B4-BE49-F238E27FC236}">
                <a16:creationId xmlns:a16="http://schemas.microsoft.com/office/drawing/2014/main" id="{B663C93C-FB63-0F13-6639-F32E9AC13C6F}"/>
              </a:ext>
            </a:extLst>
          </p:cNvPr>
          <p:cNvSpPr/>
          <p:nvPr/>
        </p:nvSpPr>
        <p:spPr>
          <a:xfrm>
            <a:off x="3213565" y="2446480"/>
            <a:ext cx="1281477" cy="626076"/>
          </a:xfrm>
          <a:prstGeom prst="rect">
            <a:avLst/>
          </a:prstGeom>
          <a:solidFill>
            <a:schemeClr val="accent3">
              <a:lumMod val="60000"/>
              <a:lumOff val="40000"/>
            </a:schemeClr>
          </a:solid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1" dirty="0">
                <a:solidFill>
                  <a:schemeClr val="tx1"/>
                </a:solidFill>
              </a:rPr>
              <a:t>Secondary Trigger: </a:t>
            </a:r>
            <a:r>
              <a:rPr lang="en-US" sz="700" dirty="0">
                <a:solidFill>
                  <a:schemeClr val="tx1"/>
                </a:solidFill>
              </a:rPr>
              <a:t>Agent tries 2x to resolve: out of bound question or abuse questions  and determines cannot answer question</a:t>
            </a:r>
            <a:endParaRPr sz="700" dirty="0">
              <a:solidFill>
                <a:schemeClr val="tx1"/>
              </a:solidFill>
              <a:latin typeface="Calibri"/>
            </a:endParaRPr>
          </a:p>
        </p:txBody>
      </p:sp>
      <p:sp>
        <p:nvSpPr>
          <p:cNvPr id="64" name="Rectangle 63">
            <a:extLst>
              <a:ext uri="{FF2B5EF4-FFF2-40B4-BE49-F238E27FC236}">
                <a16:creationId xmlns:a16="http://schemas.microsoft.com/office/drawing/2014/main" id="{C86A2F27-C7BF-0804-B1C5-B6E86BCA2B16}"/>
              </a:ext>
            </a:extLst>
          </p:cNvPr>
          <p:cNvSpPr/>
          <p:nvPr/>
        </p:nvSpPr>
        <p:spPr>
          <a:xfrm>
            <a:off x="3213565" y="1739014"/>
            <a:ext cx="1281477" cy="567298"/>
          </a:xfrm>
          <a:prstGeom prst="rect">
            <a:avLst/>
          </a:prstGeom>
          <a:solidFill>
            <a:schemeClr val="accent3">
              <a:lumMod val="60000"/>
              <a:lumOff val="40000"/>
            </a:schemeClr>
          </a:solid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1" dirty="0">
                <a:solidFill>
                  <a:schemeClr val="tx1"/>
                </a:solidFill>
              </a:rPr>
              <a:t>Primary Trigger for Live Chat</a:t>
            </a:r>
            <a:r>
              <a:rPr lang="en-US" sz="700" dirty="0">
                <a:solidFill>
                  <a:schemeClr val="tx1"/>
                </a:solidFill>
              </a:rPr>
              <a:t>: Member asks for Live Agent</a:t>
            </a:r>
            <a:endParaRPr sz="700" b="0" dirty="0">
              <a:solidFill>
                <a:schemeClr val="tx1"/>
              </a:solidFill>
              <a:latin typeface="Calibri"/>
            </a:endParaRPr>
          </a:p>
        </p:txBody>
      </p:sp>
      <p:sp>
        <p:nvSpPr>
          <p:cNvPr id="65" name="Rectangle 64">
            <a:extLst>
              <a:ext uri="{FF2B5EF4-FFF2-40B4-BE49-F238E27FC236}">
                <a16:creationId xmlns:a16="http://schemas.microsoft.com/office/drawing/2014/main" id="{0EA1416A-360F-D9BE-D4AC-3FF55FA16CB9}"/>
              </a:ext>
            </a:extLst>
          </p:cNvPr>
          <p:cNvSpPr/>
          <p:nvPr/>
        </p:nvSpPr>
        <p:spPr>
          <a:xfrm>
            <a:off x="4644502" y="2446820"/>
            <a:ext cx="1344818" cy="625736"/>
          </a:xfrm>
          <a:prstGeom prst="rect">
            <a:avLst/>
          </a:prstGeom>
          <a:no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dirty="0">
                <a:solidFill>
                  <a:schemeClr val="tx1"/>
                </a:solidFill>
                <a:latin typeface="Calibri"/>
              </a:rPr>
              <a:t>Out of Bounds: not related to benefits questions at all or what they can self-service on the portal</a:t>
            </a:r>
            <a:endParaRPr sz="700" b="0" dirty="0">
              <a:solidFill>
                <a:schemeClr val="tx1"/>
              </a:solidFill>
              <a:latin typeface="Calibri"/>
            </a:endParaRPr>
          </a:p>
        </p:txBody>
      </p:sp>
      <p:sp>
        <p:nvSpPr>
          <p:cNvPr id="66" name="Rectangle 65">
            <a:extLst>
              <a:ext uri="{FF2B5EF4-FFF2-40B4-BE49-F238E27FC236}">
                <a16:creationId xmlns:a16="http://schemas.microsoft.com/office/drawing/2014/main" id="{C4F56A74-A1B5-96A2-E34E-EF91BDC7C552}"/>
              </a:ext>
            </a:extLst>
          </p:cNvPr>
          <p:cNvSpPr/>
          <p:nvPr/>
        </p:nvSpPr>
        <p:spPr>
          <a:xfrm>
            <a:off x="6334272" y="1768546"/>
            <a:ext cx="1485441" cy="547894"/>
          </a:xfrm>
          <a:prstGeom prst="rect">
            <a:avLst/>
          </a:prstGeom>
          <a:solidFill>
            <a:schemeClr val="tx2">
              <a:lumMod val="40000"/>
              <a:lumOff val="60000"/>
            </a:schemeClr>
          </a:solid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dirty="0">
                <a:solidFill>
                  <a:schemeClr val="tx1"/>
                </a:solidFill>
                <a:latin typeface="Calibri"/>
              </a:rPr>
              <a:t>Member will see “#X in Queue” message, this updates once a minute (similar experience for the Live Chat transfers today – Joy)</a:t>
            </a:r>
            <a:endParaRPr sz="700" b="0" dirty="0">
              <a:solidFill>
                <a:schemeClr val="tx1"/>
              </a:solidFill>
              <a:latin typeface="Calibri"/>
            </a:endParaRPr>
          </a:p>
        </p:txBody>
      </p:sp>
      <p:cxnSp>
        <p:nvCxnSpPr>
          <p:cNvPr id="67" name="Connector 15">
            <a:extLst>
              <a:ext uri="{FF2B5EF4-FFF2-40B4-BE49-F238E27FC236}">
                <a16:creationId xmlns:a16="http://schemas.microsoft.com/office/drawing/2014/main" id="{436997A9-A3C3-A72B-18B5-1AD6BEF8D132}"/>
              </a:ext>
            </a:extLst>
          </p:cNvPr>
          <p:cNvCxnSpPr>
            <a:cxnSpLocks/>
            <a:stCxn id="58" idx="3"/>
            <a:endCxn id="32" idx="1"/>
          </p:cNvCxnSpPr>
          <p:nvPr/>
        </p:nvCxnSpPr>
        <p:spPr>
          <a:xfrm flipV="1">
            <a:off x="6052660" y="1326095"/>
            <a:ext cx="281612" cy="578"/>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7AE06D69-F726-56A9-C0F9-5DB0AFD2C805}"/>
              </a:ext>
            </a:extLst>
          </p:cNvPr>
          <p:cNvSpPr txBox="1"/>
          <p:nvPr/>
        </p:nvSpPr>
        <p:spPr>
          <a:xfrm>
            <a:off x="6026881" y="1090147"/>
            <a:ext cx="350519" cy="215444"/>
          </a:xfrm>
          <a:prstGeom prst="rect">
            <a:avLst/>
          </a:prstGeom>
          <a:noFill/>
        </p:spPr>
        <p:txBody>
          <a:bodyPr wrap="square">
            <a:spAutoFit/>
          </a:bodyPr>
          <a:lstStyle/>
          <a:p>
            <a:pPr algn="ctr"/>
            <a:r>
              <a:rPr sz="800" b="1" dirty="0">
                <a:solidFill>
                  <a:srgbClr val="000000"/>
                </a:solidFill>
                <a:latin typeface="Calibri"/>
              </a:rPr>
              <a:t>Yes</a:t>
            </a:r>
          </a:p>
        </p:txBody>
      </p:sp>
      <p:cxnSp>
        <p:nvCxnSpPr>
          <p:cNvPr id="80" name="Connector: Elbow 79">
            <a:extLst>
              <a:ext uri="{FF2B5EF4-FFF2-40B4-BE49-F238E27FC236}">
                <a16:creationId xmlns:a16="http://schemas.microsoft.com/office/drawing/2014/main" id="{F3DEC542-5411-8137-A8D9-CEC31C74488A}"/>
              </a:ext>
            </a:extLst>
          </p:cNvPr>
          <p:cNvCxnSpPr>
            <a:cxnSpLocks/>
            <a:stCxn id="32" idx="3"/>
          </p:cNvCxnSpPr>
          <p:nvPr/>
        </p:nvCxnSpPr>
        <p:spPr>
          <a:xfrm flipH="1">
            <a:off x="2460336" y="1326095"/>
            <a:ext cx="5359377" cy="2393556"/>
          </a:xfrm>
          <a:prstGeom prst="bentConnector4">
            <a:avLst>
              <a:gd name="adj1" fmla="val -4265"/>
              <a:gd name="adj2" fmla="val 88577"/>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24" name="Rounded Rectangle 20">
            <a:extLst>
              <a:ext uri="{FF2B5EF4-FFF2-40B4-BE49-F238E27FC236}">
                <a16:creationId xmlns:a16="http://schemas.microsoft.com/office/drawing/2014/main" id="{D802F393-32DE-B3DA-18CF-33204C43DA25}"/>
              </a:ext>
            </a:extLst>
          </p:cNvPr>
          <p:cNvSpPr/>
          <p:nvPr/>
        </p:nvSpPr>
        <p:spPr>
          <a:xfrm>
            <a:off x="1931670" y="3733906"/>
            <a:ext cx="1051560" cy="334097"/>
          </a:xfrm>
          <a:prstGeom prst="roundRect">
            <a:avLst/>
          </a:prstGeom>
          <a:ln w="3175"/>
        </p:spPr>
        <p:style>
          <a:lnRef idx="2">
            <a:schemeClr val="accent6">
              <a:shade val="15000"/>
            </a:schemeClr>
          </a:lnRef>
          <a:fillRef idx="1">
            <a:schemeClr val="accent6"/>
          </a:fillRef>
          <a:effectRef idx="0">
            <a:schemeClr val="accent6"/>
          </a:effectRef>
          <a:fontRef idx="minor">
            <a:schemeClr val="lt1"/>
          </a:fontRef>
        </p:style>
        <p:txBody>
          <a:bodyPr wrap="square" rtlCol="0" anchor="ctr"/>
          <a:lstStyle/>
          <a:p>
            <a:pPr algn="ctr">
              <a:spcBef>
                <a:spcPts val="0"/>
              </a:spcBef>
              <a:spcAft>
                <a:spcPts val="0"/>
              </a:spcAft>
            </a:pPr>
            <a:r>
              <a:rPr sz="700" b="1" dirty="0">
                <a:solidFill>
                  <a:srgbClr val="FFFFFF"/>
                </a:solidFill>
                <a:latin typeface="Calibri"/>
              </a:rPr>
              <a:t>Live Chat with Agent Starts</a:t>
            </a:r>
          </a:p>
        </p:txBody>
      </p:sp>
      <p:sp>
        <p:nvSpPr>
          <p:cNvPr id="125" name="Rectangle 124">
            <a:extLst>
              <a:ext uri="{FF2B5EF4-FFF2-40B4-BE49-F238E27FC236}">
                <a16:creationId xmlns:a16="http://schemas.microsoft.com/office/drawing/2014/main" id="{194A46DD-1E5C-EC9C-DE7A-2BD0B93AA808}"/>
              </a:ext>
            </a:extLst>
          </p:cNvPr>
          <p:cNvSpPr/>
          <p:nvPr/>
        </p:nvSpPr>
        <p:spPr>
          <a:xfrm>
            <a:off x="731520" y="4282600"/>
            <a:ext cx="105156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Agent log</a:t>
            </a:r>
            <a:r>
              <a:rPr lang="en-US" sz="700" b="0" dirty="0">
                <a:solidFill>
                  <a:srgbClr val="FFFFFF"/>
                </a:solidFill>
                <a:latin typeface="Calibri"/>
              </a:rPr>
              <a:t>s</a:t>
            </a:r>
            <a:r>
              <a:rPr sz="700" b="0" dirty="0">
                <a:solidFill>
                  <a:srgbClr val="FFFFFF"/>
                </a:solidFill>
                <a:latin typeface="Calibri"/>
              </a:rPr>
              <a:t> into </a:t>
            </a:r>
            <a:r>
              <a:rPr sz="700" b="0" dirty="0" err="1">
                <a:solidFill>
                  <a:srgbClr val="FFFFFF"/>
                </a:solidFill>
                <a:latin typeface="Calibri"/>
              </a:rPr>
              <a:t>ShieldAdvisor</a:t>
            </a:r>
            <a:r>
              <a:rPr sz="700" b="0" dirty="0">
                <a:solidFill>
                  <a:srgbClr val="FFFFFF"/>
                </a:solidFill>
                <a:latin typeface="Calibri"/>
              </a:rPr>
              <a:t> Genesys</a:t>
            </a:r>
          </a:p>
        </p:txBody>
      </p:sp>
      <p:sp>
        <p:nvSpPr>
          <p:cNvPr id="126" name="Rectangle 125">
            <a:extLst>
              <a:ext uri="{FF2B5EF4-FFF2-40B4-BE49-F238E27FC236}">
                <a16:creationId xmlns:a16="http://schemas.microsoft.com/office/drawing/2014/main" id="{B7B61317-1216-A56A-6B31-ECE266D20793}"/>
              </a:ext>
            </a:extLst>
          </p:cNvPr>
          <p:cNvSpPr/>
          <p:nvPr/>
        </p:nvSpPr>
        <p:spPr>
          <a:xfrm>
            <a:off x="1935480" y="4290220"/>
            <a:ext cx="105156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Agent receives chat from the portal and initiates greeting</a:t>
            </a:r>
          </a:p>
        </p:txBody>
      </p:sp>
      <p:sp>
        <p:nvSpPr>
          <p:cNvPr id="127" name="Rectangle 126">
            <a:extLst>
              <a:ext uri="{FF2B5EF4-FFF2-40B4-BE49-F238E27FC236}">
                <a16:creationId xmlns:a16="http://schemas.microsoft.com/office/drawing/2014/main" id="{F65C2750-6C5B-8C1E-FA58-FDB5144FB534}"/>
              </a:ext>
            </a:extLst>
          </p:cNvPr>
          <p:cNvSpPr/>
          <p:nvPr/>
        </p:nvSpPr>
        <p:spPr>
          <a:xfrm>
            <a:off x="3128080" y="4279240"/>
            <a:ext cx="105156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Chat agent confirms who they are speaking with</a:t>
            </a:r>
          </a:p>
        </p:txBody>
      </p:sp>
      <p:cxnSp>
        <p:nvCxnSpPr>
          <p:cNvPr id="128" name="Connector 24">
            <a:extLst>
              <a:ext uri="{FF2B5EF4-FFF2-40B4-BE49-F238E27FC236}">
                <a16:creationId xmlns:a16="http://schemas.microsoft.com/office/drawing/2014/main" id="{1C4CB374-D417-349E-67A0-7571F12D3846}"/>
              </a:ext>
            </a:extLst>
          </p:cNvPr>
          <p:cNvCxnSpPr/>
          <p:nvPr/>
        </p:nvCxnSpPr>
        <p:spPr>
          <a:xfrm>
            <a:off x="1783080" y="4495960"/>
            <a:ext cx="137160" cy="0"/>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9" name="Diamond 128">
            <a:extLst>
              <a:ext uri="{FF2B5EF4-FFF2-40B4-BE49-F238E27FC236}">
                <a16:creationId xmlns:a16="http://schemas.microsoft.com/office/drawing/2014/main" id="{9B2D4690-3EBB-8016-EA78-B570BE317BDF}"/>
              </a:ext>
            </a:extLst>
          </p:cNvPr>
          <p:cNvSpPr/>
          <p:nvPr/>
        </p:nvSpPr>
        <p:spPr>
          <a:xfrm>
            <a:off x="4329570" y="4189586"/>
            <a:ext cx="1005840" cy="640080"/>
          </a:xfrm>
          <a:prstGeom prst="diamond">
            <a:avLst/>
          </a:prstGeom>
          <a:solidFill>
            <a:schemeClr val="tx2">
              <a:lumMod val="40000"/>
              <a:lumOff val="60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600" b="0" dirty="0">
                <a:solidFill>
                  <a:schemeClr val="tx1"/>
                </a:solidFill>
                <a:latin typeface="Calibri"/>
              </a:rPr>
              <a:t>Member /
Non member</a:t>
            </a:r>
          </a:p>
        </p:txBody>
      </p:sp>
      <p:cxnSp>
        <p:nvCxnSpPr>
          <p:cNvPr id="130" name="Connector 27">
            <a:extLst>
              <a:ext uri="{FF2B5EF4-FFF2-40B4-BE49-F238E27FC236}">
                <a16:creationId xmlns:a16="http://schemas.microsoft.com/office/drawing/2014/main" id="{5F8B7BDE-83AA-597B-2475-54FE8B4EC8D6}"/>
              </a:ext>
            </a:extLst>
          </p:cNvPr>
          <p:cNvCxnSpPr>
            <a:cxnSpLocks/>
            <a:stCxn id="127" idx="3"/>
            <a:endCxn id="129" idx="1"/>
          </p:cNvCxnSpPr>
          <p:nvPr/>
        </p:nvCxnSpPr>
        <p:spPr>
          <a:xfrm>
            <a:off x="4179640" y="4507840"/>
            <a:ext cx="149930" cy="1786"/>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1" name="TextBox 130">
            <a:extLst>
              <a:ext uri="{FF2B5EF4-FFF2-40B4-BE49-F238E27FC236}">
                <a16:creationId xmlns:a16="http://schemas.microsoft.com/office/drawing/2014/main" id="{1272B4BE-1236-5AC4-76B9-89F083982075}"/>
              </a:ext>
            </a:extLst>
          </p:cNvPr>
          <p:cNvSpPr txBox="1"/>
          <p:nvPr/>
        </p:nvSpPr>
        <p:spPr>
          <a:xfrm>
            <a:off x="4331614" y="4831431"/>
            <a:ext cx="500436" cy="276999"/>
          </a:xfrm>
          <a:prstGeom prst="rect">
            <a:avLst/>
          </a:prstGeom>
          <a:noFill/>
        </p:spPr>
        <p:txBody>
          <a:bodyPr wrap="square">
            <a:spAutoFit/>
          </a:bodyPr>
          <a:lstStyle/>
          <a:p>
            <a:pPr algn="ctr"/>
            <a:r>
              <a:rPr sz="600" b="1" dirty="0">
                <a:solidFill>
                  <a:schemeClr val="bg1">
                    <a:lumMod val="50000"/>
                  </a:schemeClr>
                </a:solidFill>
                <a:latin typeface="Calibri"/>
              </a:rPr>
              <a:t>Non
member</a:t>
            </a:r>
          </a:p>
        </p:txBody>
      </p:sp>
      <p:sp>
        <p:nvSpPr>
          <p:cNvPr id="132" name="Rectangle 131">
            <a:extLst>
              <a:ext uri="{FF2B5EF4-FFF2-40B4-BE49-F238E27FC236}">
                <a16:creationId xmlns:a16="http://schemas.microsoft.com/office/drawing/2014/main" id="{F36156B6-6A48-3931-3340-B6A8100AD965}"/>
              </a:ext>
            </a:extLst>
          </p:cNvPr>
          <p:cNvSpPr/>
          <p:nvPr/>
        </p:nvSpPr>
        <p:spPr>
          <a:xfrm>
            <a:off x="4331474" y="5102308"/>
            <a:ext cx="1005840" cy="457200"/>
          </a:xfrm>
          <a:prstGeom prst="rect">
            <a:avLst/>
          </a:prstGeom>
          <a:solidFill>
            <a:schemeClr val="bg1">
              <a:lumMod val="75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chemeClr val="tx1"/>
                </a:solidFill>
                <a:latin typeface="Calibri"/>
              </a:rPr>
              <a:t>Only disclose public information</a:t>
            </a:r>
          </a:p>
        </p:txBody>
      </p:sp>
      <p:sp>
        <p:nvSpPr>
          <p:cNvPr id="133" name="TextBox 132">
            <a:extLst>
              <a:ext uri="{FF2B5EF4-FFF2-40B4-BE49-F238E27FC236}">
                <a16:creationId xmlns:a16="http://schemas.microsoft.com/office/drawing/2014/main" id="{0FA699DC-FBF4-9EF6-76A8-4EFBFC2D6350}"/>
              </a:ext>
            </a:extLst>
          </p:cNvPr>
          <p:cNvSpPr txBox="1"/>
          <p:nvPr/>
        </p:nvSpPr>
        <p:spPr>
          <a:xfrm>
            <a:off x="5242693" y="4333924"/>
            <a:ext cx="460383" cy="184666"/>
          </a:xfrm>
          <a:prstGeom prst="rect">
            <a:avLst/>
          </a:prstGeom>
          <a:noFill/>
        </p:spPr>
        <p:txBody>
          <a:bodyPr wrap="none">
            <a:spAutoFit/>
          </a:bodyPr>
          <a:lstStyle/>
          <a:p>
            <a:pPr algn="ctr"/>
            <a:r>
              <a:rPr sz="600" b="1" dirty="0">
                <a:solidFill>
                  <a:srgbClr val="000000"/>
                </a:solidFill>
                <a:latin typeface="Calibri"/>
              </a:rPr>
              <a:t>Member</a:t>
            </a:r>
          </a:p>
        </p:txBody>
      </p:sp>
      <p:sp>
        <p:nvSpPr>
          <p:cNvPr id="134" name="Rectangle 133">
            <a:extLst>
              <a:ext uri="{FF2B5EF4-FFF2-40B4-BE49-F238E27FC236}">
                <a16:creationId xmlns:a16="http://schemas.microsoft.com/office/drawing/2014/main" id="{E583BA9C-2949-D234-B982-879AB917CEF1}"/>
              </a:ext>
            </a:extLst>
          </p:cNvPr>
          <p:cNvSpPr/>
          <p:nvPr/>
        </p:nvSpPr>
        <p:spPr>
          <a:xfrm>
            <a:off x="7000708" y="4239417"/>
            <a:ext cx="846622" cy="573657"/>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Assist the member with their inquiry utilizing existing workflow. </a:t>
            </a:r>
          </a:p>
        </p:txBody>
      </p:sp>
      <p:sp>
        <p:nvSpPr>
          <p:cNvPr id="135" name="Diamond 134">
            <a:extLst>
              <a:ext uri="{FF2B5EF4-FFF2-40B4-BE49-F238E27FC236}">
                <a16:creationId xmlns:a16="http://schemas.microsoft.com/office/drawing/2014/main" id="{C62D7A0C-1A8E-DB30-F18A-B29D1A1DB7A4}"/>
              </a:ext>
            </a:extLst>
          </p:cNvPr>
          <p:cNvSpPr/>
          <p:nvPr/>
        </p:nvSpPr>
        <p:spPr>
          <a:xfrm>
            <a:off x="8080776" y="4198038"/>
            <a:ext cx="1078464" cy="640080"/>
          </a:xfrm>
          <a:prstGeom prst="diamond">
            <a:avLst/>
          </a:prstGeom>
          <a:solidFill>
            <a:schemeClr val="tx2">
              <a:lumMod val="40000"/>
              <a:lumOff val="60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600" b="0" dirty="0">
                <a:solidFill>
                  <a:schemeClr val="tx1"/>
                </a:solidFill>
                <a:latin typeface="Calibri"/>
              </a:rPr>
              <a:t>Determine if anything else is needed</a:t>
            </a:r>
          </a:p>
        </p:txBody>
      </p:sp>
      <p:cxnSp>
        <p:nvCxnSpPr>
          <p:cNvPr id="136" name="Connector 39">
            <a:extLst>
              <a:ext uri="{FF2B5EF4-FFF2-40B4-BE49-F238E27FC236}">
                <a16:creationId xmlns:a16="http://schemas.microsoft.com/office/drawing/2014/main" id="{A38DAF09-0E98-61F1-F4A2-1585468E457D}"/>
              </a:ext>
            </a:extLst>
          </p:cNvPr>
          <p:cNvCxnSpPr>
            <a:cxnSpLocks/>
            <a:stCxn id="134" idx="3"/>
            <a:endCxn id="135" idx="1"/>
          </p:cNvCxnSpPr>
          <p:nvPr/>
        </p:nvCxnSpPr>
        <p:spPr>
          <a:xfrm flipV="1">
            <a:off x="7847330" y="4518078"/>
            <a:ext cx="233446" cy="8168"/>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 name="TextBox 136">
            <a:extLst>
              <a:ext uri="{FF2B5EF4-FFF2-40B4-BE49-F238E27FC236}">
                <a16:creationId xmlns:a16="http://schemas.microsoft.com/office/drawing/2014/main" id="{512E6519-7E0C-062B-811B-8A9D1960D63B}"/>
              </a:ext>
            </a:extLst>
          </p:cNvPr>
          <p:cNvSpPr txBox="1"/>
          <p:nvPr/>
        </p:nvSpPr>
        <p:spPr>
          <a:xfrm>
            <a:off x="9103360" y="4379648"/>
            <a:ext cx="320040" cy="184666"/>
          </a:xfrm>
          <a:prstGeom prst="rect">
            <a:avLst/>
          </a:prstGeom>
          <a:noFill/>
        </p:spPr>
        <p:txBody>
          <a:bodyPr wrap="square">
            <a:spAutoFit/>
          </a:bodyPr>
          <a:lstStyle/>
          <a:p>
            <a:pPr algn="ctr"/>
            <a:r>
              <a:rPr lang="en-US" sz="600" b="1" dirty="0">
                <a:solidFill>
                  <a:srgbClr val="000000"/>
                </a:solidFill>
                <a:latin typeface="Calibri"/>
              </a:rPr>
              <a:t>NO</a:t>
            </a:r>
            <a:endParaRPr sz="600" b="1" dirty="0">
              <a:solidFill>
                <a:srgbClr val="000000"/>
              </a:solidFill>
              <a:latin typeface="Calibri"/>
            </a:endParaRPr>
          </a:p>
        </p:txBody>
      </p:sp>
      <p:cxnSp>
        <p:nvCxnSpPr>
          <p:cNvPr id="138" name="Connector 42">
            <a:extLst>
              <a:ext uri="{FF2B5EF4-FFF2-40B4-BE49-F238E27FC236}">
                <a16:creationId xmlns:a16="http://schemas.microsoft.com/office/drawing/2014/main" id="{56F22F2D-1A73-C0D2-EAD5-53C4AF906E4C}"/>
              </a:ext>
            </a:extLst>
          </p:cNvPr>
          <p:cNvCxnSpPr>
            <a:cxnSpLocks/>
            <a:stCxn id="135" idx="3"/>
            <a:endCxn id="147" idx="1"/>
          </p:cNvCxnSpPr>
          <p:nvPr/>
        </p:nvCxnSpPr>
        <p:spPr>
          <a:xfrm>
            <a:off x="9159240" y="4518078"/>
            <a:ext cx="255270" cy="0"/>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9" name="Rectangle 138">
            <a:extLst>
              <a:ext uri="{FF2B5EF4-FFF2-40B4-BE49-F238E27FC236}">
                <a16:creationId xmlns:a16="http://schemas.microsoft.com/office/drawing/2014/main" id="{46FAFC48-F331-0E7A-7A70-796E032431AE}"/>
              </a:ext>
            </a:extLst>
          </p:cNvPr>
          <p:cNvSpPr/>
          <p:nvPr/>
        </p:nvSpPr>
        <p:spPr>
          <a:xfrm>
            <a:off x="10453604" y="4267144"/>
            <a:ext cx="690880" cy="50698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0" dirty="0">
                <a:solidFill>
                  <a:srgbClr val="FFFFFF"/>
                </a:solidFill>
                <a:latin typeface="Calibri"/>
              </a:rPr>
              <a:t>Document in </a:t>
            </a:r>
            <a:r>
              <a:rPr sz="700" b="0" dirty="0" err="1">
                <a:solidFill>
                  <a:srgbClr val="FFFFFF"/>
                </a:solidFill>
                <a:latin typeface="Calibri"/>
              </a:rPr>
              <a:t>ShieldAdvisor</a:t>
            </a:r>
            <a:endParaRPr sz="700" b="0" dirty="0">
              <a:solidFill>
                <a:srgbClr val="FFFFFF"/>
              </a:solidFill>
              <a:latin typeface="Calibri"/>
            </a:endParaRPr>
          </a:p>
        </p:txBody>
      </p:sp>
      <p:sp>
        <p:nvSpPr>
          <p:cNvPr id="140" name="Oval 139">
            <a:extLst>
              <a:ext uri="{FF2B5EF4-FFF2-40B4-BE49-F238E27FC236}">
                <a16:creationId xmlns:a16="http://schemas.microsoft.com/office/drawing/2014/main" id="{0606ABA2-F56D-D03B-D948-E899F964A01E}"/>
              </a:ext>
            </a:extLst>
          </p:cNvPr>
          <p:cNvSpPr/>
          <p:nvPr/>
        </p:nvSpPr>
        <p:spPr>
          <a:xfrm>
            <a:off x="11328634" y="4372233"/>
            <a:ext cx="502920" cy="304188"/>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800" b="1">
                <a:solidFill>
                  <a:srgbClr val="FFFFFF"/>
                </a:solidFill>
                <a:latin typeface="Calibri"/>
              </a:rPr>
              <a:t>End</a:t>
            </a:r>
          </a:p>
        </p:txBody>
      </p:sp>
      <p:cxnSp>
        <p:nvCxnSpPr>
          <p:cNvPr id="141" name="Connector 47">
            <a:extLst>
              <a:ext uri="{FF2B5EF4-FFF2-40B4-BE49-F238E27FC236}">
                <a16:creationId xmlns:a16="http://schemas.microsoft.com/office/drawing/2014/main" id="{05FB55C7-0CDB-5818-6F80-AD92823E4E2D}"/>
              </a:ext>
            </a:extLst>
          </p:cNvPr>
          <p:cNvCxnSpPr>
            <a:cxnSpLocks/>
            <a:stCxn id="139" idx="3"/>
            <a:endCxn id="140" idx="2"/>
          </p:cNvCxnSpPr>
          <p:nvPr/>
        </p:nvCxnSpPr>
        <p:spPr>
          <a:xfrm>
            <a:off x="11144484" y="4520634"/>
            <a:ext cx="184150" cy="3693"/>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2" name="Rectangle 141">
            <a:extLst>
              <a:ext uri="{FF2B5EF4-FFF2-40B4-BE49-F238E27FC236}">
                <a16:creationId xmlns:a16="http://schemas.microsoft.com/office/drawing/2014/main" id="{16D40D25-0D4B-07A6-B00C-12FC83E52218}"/>
              </a:ext>
            </a:extLst>
          </p:cNvPr>
          <p:cNvSpPr/>
          <p:nvPr/>
        </p:nvSpPr>
        <p:spPr>
          <a:xfrm>
            <a:off x="1931670" y="4933394"/>
            <a:ext cx="1051560" cy="693858"/>
          </a:xfrm>
          <a:prstGeom prst="rect">
            <a:avLst/>
          </a:prstGeom>
          <a:solidFill>
            <a:schemeClr val="tx2">
              <a:lumMod val="20000"/>
              <a:lumOff val="80000"/>
            </a:schemeClr>
          </a:solid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0" dirty="0">
                <a:solidFill>
                  <a:schemeClr val="tx1"/>
                </a:solidFill>
                <a:latin typeface="Calibri"/>
              </a:rPr>
              <a:t>Agent will see screen pop-up in Pega </a:t>
            </a:r>
            <a:r>
              <a:rPr lang="en-US" sz="700" b="0" dirty="0" err="1">
                <a:solidFill>
                  <a:schemeClr val="tx1"/>
                </a:solidFill>
                <a:latin typeface="Calibri"/>
              </a:rPr>
              <a:t>ShieldAdvisor</a:t>
            </a:r>
            <a:r>
              <a:rPr lang="en-US" sz="700" b="0" dirty="0">
                <a:solidFill>
                  <a:schemeClr val="tx1"/>
                </a:solidFill>
                <a:latin typeface="Calibri"/>
              </a:rPr>
              <a:t> with Member Information</a:t>
            </a:r>
          </a:p>
          <a:p>
            <a:pPr algn="ctr"/>
            <a:r>
              <a:rPr lang="en-US" sz="700" dirty="0">
                <a:solidFill>
                  <a:schemeClr val="tx1"/>
                </a:solidFill>
              </a:rPr>
              <a:t>(Pega </a:t>
            </a:r>
            <a:r>
              <a:rPr lang="en-US" sz="700" dirty="0" err="1">
                <a:solidFill>
                  <a:schemeClr val="tx1"/>
                </a:solidFill>
              </a:rPr>
              <a:t>ShieldAdvisor</a:t>
            </a:r>
            <a:r>
              <a:rPr lang="en-US" sz="700" dirty="0">
                <a:solidFill>
                  <a:schemeClr val="tx1"/>
                </a:solidFill>
              </a:rPr>
              <a:t>)</a:t>
            </a:r>
          </a:p>
        </p:txBody>
      </p:sp>
      <p:sp>
        <p:nvSpPr>
          <p:cNvPr id="143" name="Rectangle 142">
            <a:extLst>
              <a:ext uri="{FF2B5EF4-FFF2-40B4-BE49-F238E27FC236}">
                <a16:creationId xmlns:a16="http://schemas.microsoft.com/office/drawing/2014/main" id="{01BB92A2-7C28-4BF8-07D8-AB01C9B9A06C}"/>
              </a:ext>
            </a:extLst>
          </p:cNvPr>
          <p:cNvSpPr/>
          <p:nvPr/>
        </p:nvSpPr>
        <p:spPr>
          <a:xfrm>
            <a:off x="5671726" y="4164639"/>
            <a:ext cx="1005840" cy="707738"/>
          </a:xfrm>
          <a:prstGeom prst="rect">
            <a:avLst/>
          </a:prstGeom>
          <a:solidFill>
            <a:schemeClr val="tx2">
              <a:lumMod val="20000"/>
              <a:lumOff val="80000"/>
            </a:schemeClr>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0" dirty="0">
                <a:solidFill>
                  <a:schemeClr val="tx1"/>
                </a:solidFill>
                <a:latin typeface="Calibri"/>
              </a:rPr>
              <a:t>Agent reviews the summary of the member conversation on </a:t>
            </a:r>
            <a:r>
              <a:rPr lang="en-US" sz="700" b="0" dirty="0">
                <a:solidFill>
                  <a:srgbClr val="FF0000"/>
                </a:solidFill>
                <a:latin typeface="Calibri"/>
              </a:rPr>
              <a:t>Genesys Script Page</a:t>
            </a:r>
          </a:p>
        </p:txBody>
      </p:sp>
      <p:cxnSp>
        <p:nvCxnSpPr>
          <p:cNvPr id="144" name="Connector 25">
            <a:extLst>
              <a:ext uri="{FF2B5EF4-FFF2-40B4-BE49-F238E27FC236}">
                <a16:creationId xmlns:a16="http://schemas.microsoft.com/office/drawing/2014/main" id="{A5825222-43B1-8BB3-D6CA-E7552B8D1418}"/>
              </a:ext>
            </a:extLst>
          </p:cNvPr>
          <p:cNvCxnSpPr>
            <a:cxnSpLocks/>
            <a:stCxn id="124" idx="2"/>
            <a:endCxn id="126" idx="0"/>
          </p:cNvCxnSpPr>
          <p:nvPr/>
        </p:nvCxnSpPr>
        <p:spPr>
          <a:xfrm>
            <a:off x="2457450" y="4068003"/>
            <a:ext cx="3810" cy="222217"/>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5" name="Connector 39">
            <a:extLst>
              <a:ext uri="{FF2B5EF4-FFF2-40B4-BE49-F238E27FC236}">
                <a16:creationId xmlns:a16="http://schemas.microsoft.com/office/drawing/2014/main" id="{B458684E-EFC4-413F-B0F2-720092A35BE7}"/>
              </a:ext>
            </a:extLst>
          </p:cNvPr>
          <p:cNvCxnSpPr>
            <a:cxnSpLocks/>
            <a:stCxn id="129" idx="3"/>
            <a:endCxn id="143" idx="1"/>
          </p:cNvCxnSpPr>
          <p:nvPr/>
        </p:nvCxnSpPr>
        <p:spPr>
          <a:xfrm>
            <a:off x="5335410" y="4509626"/>
            <a:ext cx="336316" cy="8882"/>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6" name="Connector 27">
            <a:extLst>
              <a:ext uri="{FF2B5EF4-FFF2-40B4-BE49-F238E27FC236}">
                <a16:creationId xmlns:a16="http://schemas.microsoft.com/office/drawing/2014/main" id="{E5E0DFFC-9847-3D3C-27A0-CEE87BF00D36}"/>
              </a:ext>
            </a:extLst>
          </p:cNvPr>
          <p:cNvCxnSpPr>
            <a:cxnSpLocks/>
            <a:stCxn id="129" idx="2"/>
            <a:endCxn id="132" idx="0"/>
          </p:cNvCxnSpPr>
          <p:nvPr/>
        </p:nvCxnSpPr>
        <p:spPr>
          <a:xfrm>
            <a:off x="4832490" y="4829666"/>
            <a:ext cx="1904" cy="272642"/>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7" name="Rectangle 146">
            <a:extLst>
              <a:ext uri="{FF2B5EF4-FFF2-40B4-BE49-F238E27FC236}">
                <a16:creationId xmlns:a16="http://schemas.microsoft.com/office/drawing/2014/main" id="{B4164EB4-9467-7984-D5FC-45FC8389C49C}"/>
              </a:ext>
            </a:extLst>
          </p:cNvPr>
          <p:cNvSpPr/>
          <p:nvPr/>
        </p:nvSpPr>
        <p:spPr>
          <a:xfrm>
            <a:off x="9414510" y="4264269"/>
            <a:ext cx="854944" cy="507617"/>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0" dirty="0">
                <a:solidFill>
                  <a:srgbClr val="FFFFFF"/>
                </a:solidFill>
                <a:latin typeface="Calibri"/>
              </a:rPr>
              <a:t>Use closing scripting with survey link and close out the chat.</a:t>
            </a:r>
            <a:endParaRPr sz="700" b="0" dirty="0">
              <a:solidFill>
                <a:srgbClr val="FFFFFF"/>
              </a:solidFill>
              <a:latin typeface="Calibri"/>
            </a:endParaRPr>
          </a:p>
        </p:txBody>
      </p:sp>
      <p:cxnSp>
        <p:nvCxnSpPr>
          <p:cNvPr id="148" name="Connector 42">
            <a:extLst>
              <a:ext uri="{FF2B5EF4-FFF2-40B4-BE49-F238E27FC236}">
                <a16:creationId xmlns:a16="http://schemas.microsoft.com/office/drawing/2014/main" id="{3CC4BAD6-0A0B-4FDD-BB26-FE2190EAD6AF}"/>
              </a:ext>
            </a:extLst>
          </p:cNvPr>
          <p:cNvCxnSpPr>
            <a:cxnSpLocks/>
            <a:stCxn id="147" idx="3"/>
            <a:endCxn id="139" idx="1"/>
          </p:cNvCxnSpPr>
          <p:nvPr/>
        </p:nvCxnSpPr>
        <p:spPr>
          <a:xfrm>
            <a:off x="10269454" y="4518078"/>
            <a:ext cx="184150" cy="2556"/>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9" name="Connector: Elbow 148">
            <a:extLst>
              <a:ext uri="{FF2B5EF4-FFF2-40B4-BE49-F238E27FC236}">
                <a16:creationId xmlns:a16="http://schemas.microsoft.com/office/drawing/2014/main" id="{FD6E36E6-C01A-0E95-8921-F970BC858835}"/>
              </a:ext>
            </a:extLst>
          </p:cNvPr>
          <p:cNvCxnSpPr>
            <a:cxnSpLocks/>
            <a:stCxn id="132" idx="2"/>
            <a:endCxn id="135" idx="2"/>
          </p:cNvCxnSpPr>
          <p:nvPr/>
        </p:nvCxnSpPr>
        <p:spPr>
          <a:xfrm rot="5400000" flipH="1" flipV="1">
            <a:off x="6366506" y="3306006"/>
            <a:ext cx="721390" cy="3785614"/>
          </a:xfrm>
          <a:prstGeom prst="bentConnector3">
            <a:avLst>
              <a:gd name="adj1" fmla="val -31689"/>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50" name="Connector 39">
            <a:extLst>
              <a:ext uri="{FF2B5EF4-FFF2-40B4-BE49-F238E27FC236}">
                <a16:creationId xmlns:a16="http://schemas.microsoft.com/office/drawing/2014/main" id="{BFBECA9D-C4D3-C8D2-4D30-74A5292DA75E}"/>
              </a:ext>
            </a:extLst>
          </p:cNvPr>
          <p:cNvCxnSpPr>
            <a:cxnSpLocks/>
            <a:stCxn id="143" idx="3"/>
            <a:endCxn id="134" idx="1"/>
          </p:cNvCxnSpPr>
          <p:nvPr/>
        </p:nvCxnSpPr>
        <p:spPr>
          <a:xfrm>
            <a:off x="6677566" y="4518508"/>
            <a:ext cx="323142" cy="7738"/>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1" name="Connector 24">
            <a:extLst>
              <a:ext uri="{FF2B5EF4-FFF2-40B4-BE49-F238E27FC236}">
                <a16:creationId xmlns:a16="http://schemas.microsoft.com/office/drawing/2014/main" id="{C0CA8789-892A-352D-4709-F1B940A4F99C}"/>
              </a:ext>
            </a:extLst>
          </p:cNvPr>
          <p:cNvCxnSpPr>
            <a:cxnSpLocks/>
            <a:stCxn id="126" idx="3"/>
            <a:endCxn id="127" idx="1"/>
          </p:cNvCxnSpPr>
          <p:nvPr/>
        </p:nvCxnSpPr>
        <p:spPr>
          <a:xfrm flipV="1">
            <a:off x="2987040" y="4507840"/>
            <a:ext cx="141040" cy="10980"/>
          </a:xfrm>
          <a:prstGeom prst="line">
            <a:avLst/>
          </a:prstGeom>
          <a:ln w="12700">
            <a:solidFill>
              <a:srgbClr val="3030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2" name="Rectangle 151">
            <a:extLst>
              <a:ext uri="{FF2B5EF4-FFF2-40B4-BE49-F238E27FC236}">
                <a16:creationId xmlns:a16="http://schemas.microsoft.com/office/drawing/2014/main" id="{11A1E0F6-2593-5BF0-CA84-9A4D24831C67}"/>
              </a:ext>
            </a:extLst>
          </p:cNvPr>
          <p:cNvSpPr/>
          <p:nvPr/>
        </p:nvSpPr>
        <p:spPr>
          <a:xfrm>
            <a:off x="1923126" y="5720694"/>
            <a:ext cx="1051560" cy="880988"/>
          </a:xfrm>
          <a:prstGeom prst="rect">
            <a:avLst/>
          </a:prstGeom>
          <a:solidFill>
            <a:schemeClr val="tx2">
              <a:lumMod val="20000"/>
              <a:lumOff val="80000"/>
            </a:schemeClr>
          </a:solidFill>
          <a:ln w="6350">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lang="en-US" sz="700" b="0" dirty="0">
                <a:solidFill>
                  <a:schemeClr val="tx1"/>
                </a:solidFill>
                <a:latin typeface="Calibri"/>
              </a:rPr>
              <a:t>If at any point during the conversation the</a:t>
            </a:r>
          </a:p>
          <a:p>
            <a:pPr algn="ctr">
              <a:spcBef>
                <a:spcPts val="0"/>
              </a:spcBef>
              <a:spcAft>
                <a:spcPts val="0"/>
              </a:spcAft>
            </a:pPr>
            <a:r>
              <a:rPr lang="en-US" sz="700" b="0" dirty="0">
                <a:solidFill>
                  <a:schemeClr val="tx1"/>
                </a:solidFill>
                <a:latin typeface="Calibri"/>
              </a:rPr>
              <a:t>member speaks in a different language or</a:t>
            </a:r>
          </a:p>
          <a:p>
            <a:pPr algn="ctr">
              <a:spcBef>
                <a:spcPts val="0"/>
              </a:spcBef>
              <a:spcAft>
                <a:spcPts val="0"/>
              </a:spcAft>
            </a:pPr>
            <a:r>
              <a:rPr lang="en-US" sz="700" b="0" dirty="0">
                <a:solidFill>
                  <a:schemeClr val="tx1"/>
                </a:solidFill>
                <a:latin typeface="Calibri"/>
              </a:rPr>
              <a:t>shows dissatisfaction, refer to corresponding</a:t>
            </a:r>
          </a:p>
          <a:p>
            <a:pPr algn="ctr">
              <a:spcBef>
                <a:spcPts val="0"/>
              </a:spcBef>
              <a:spcAft>
                <a:spcPts val="0"/>
              </a:spcAft>
            </a:pPr>
            <a:r>
              <a:rPr lang="en-US" sz="700" b="0" dirty="0">
                <a:solidFill>
                  <a:schemeClr val="tx1"/>
                </a:solidFill>
                <a:latin typeface="Calibri"/>
              </a:rPr>
              <a:t>process map.</a:t>
            </a:r>
            <a:endParaRPr lang="en-US" sz="700" dirty="0">
              <a:solidFill>
                <a:schemeClr val="tx1"/>
              </a:solidFill>
            </a:endParaRPr>
          </a:p>
        </p:txBody>
      </p:sp>
      <p:sp>
        <p:nvSpPr>
          <p:cNvPr id="153" name="Flowchart: Off-page Connector 152">
            <a:extLst>
              <a:ext uri="{FF2B5EF4-FFF2-40B4-BE49-F238E27FC236}">
                <a16:creationId xmlns:a16="http://schemas.microsoft.com/office/drawing/2014/main" id="{2B0ECE7F-4A9E-FAF4-ED58-B5C5E3EC3BF6}"/>
              </a:ext>
            </a:extLst>
          </p:cNvPr>
          <p:cNvSpPr/>
          <p:nvPr/>
        </p:nvSpPr>
        <p:spPr>
          <a:xfrm>
            <a:off x="7665786" y="4697812"/>
            <a:ext cx="159719" cy="218330"/>
          </a:xfrm>
          <a:prstGeom prst="flowChartOffpageConnector">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4" name="Flowchart: Off-page Connector 153">
            <a:extLst>
              <a:ext uri="{FF2B5EF4-FFF2-40B4-BE49-F238E27FC236}">
                <a16:creationId xmlns:a16="http://schemas.microsoft.com/office/drawing/2014/main" id="{DD760C1E-4D27-9DAD-F359-AF2C11190A75}"/>
              </a:ext>
            </a:extLst>
          </p:cNvPr>
          <p:cNvSpPr/>
          <p:nvPr/>
        </p:nvSpPr>
        <p:spPr>
          <a:xfrm>
            <a:off x="9312826" y="4690458"/>
            <a:ext cx="159719" cy="218330"/>
          </a:xfrm>
          <a:prstGeom prst="flowChartOffpageConnector">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5" name="Flowchart: Off-page Connector 154">
            <a:extLst>
              <a:ext uri="{FF2B5EF4-FFF2-40B4-BE49-F238E27FC236}">
                <a16:creationId xmlns:a16="http://schemas.microsoft.com/office/drawing/2014/main" id="{04E4D905-85DC-BF5D-C2F2-9A111E5E33BF}"/>
              </a:ext>
            </a:extLst>
          </p:cNvPr>
          <p:cNvSpPr/>
          <p:nvPr/>
        </p:nvSpPr>
        <p:spPr>
          <a:xfrm>
            <a:off x="10211419" y="4697812"/>
            <a:ext cx="159719" cy="218330"/>
          </a:xfrm>
          <a:prstGeom prst="flowChartOffpageConnector">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6" name="Connector: Elbow 155">
            <a:extLst>
              <a:ext uri="{FF2B5EF4-FFF2-40B4-BE49-F238E27FC236}">
                <a16:creationId xmlns:a16="http://schemas.microsoft.com/office/drawing/2014/main" id="{82013800-B116-DED1-78F8-CF10B6C801AC}"/>
              </a:ext>
            </a:extLst>
          </p:cNvPr>
          <p:cNvCxnSpPr>
            <a:stCxn id="135" idx="0"/>
            <a:endCxn id="134" idx="0"/>
          </p:cNvCxnSpPr>
          <p:nvPr/>
        </p:nvCxnSpPr>
        <p:spPr>
          <a:xfrm rot="16200000" flipH="1" flipV="1">
            <a:off x="8001324" y="3620732"/>
            <a:ext cx="41379" cy="1195989"/>
          </a:xfrm>
          <a:prstGeom prst="bentConnector3">
            <a:avLst>
              <a:gd name="adj1" fmla="val -552454"/>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57" name="TextBox 156">
            <a:extLst>
              <a:ext uri="{FF2B5EF4-FFF2-40B4-BE49-F238E27FC236}">
                <a16:creationId xmlns:a16="http://schemas.microsoft.com/office/drawing/2014/main" id="{024CBBE4-5E51-CA4E-DD4C-DFB7389A743E}"/>
              </a:ext>
            </a:extLst>
          </p:cNvPr>
          <p:cNvSpPr txBox="1"/>
          <p:nvPr/>
        </p:nvSpPr>
        <p:spPr>
          <a:xfrm>
            <a:off x="7847330" y="3823734"/>
            <a:ext cx="320040" cy="184666"/>
          </a:xfrm>
          <a:prstGeom prst="rect">
            <a:avLst/>
          </a:prstGeom>
          <a:noFill/>
        </p:spPr>
        <p:txBody>
          <a:bodyPr wrap="square">
            <a:spAutoFit/>
          </a:bodyPr>
          <a:lstStyle/>
          <a:p>
            <a:pPr algn="ctr"/>
            <a:r>
              <a:rPr lang="en-US" sz="600" b="1" dirty="0">
                <a:solidFill>
                  <a:srgbClr val="000000"/>
                </a:solidFill>
                <a:latin typeface="Calibri"/>
              </a:rPr>
              <a:t>YES</a:t>
            </a:r>
            <a:endParaRPr sz="600" b="1" dirty="0">
              <a:solidFill>
                <a:srgbClr val="000000"/>
              </a:solidFill>
              <a:latin typeface="Calibri"/>
            </a:endParaRPr>
          </a:p>
        </p:txBody>
      </p:sp>
    </p:spTree>
    <p:extLst>
      <p:ext uri="{BB962C8B-B14F-4D97-AF65-F5344CB8AC3E}">
        <p14:creationId xmlns:p14="http://schemas.microsoft.com/office/powerpoint/2010/main" val="1970086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a:solidFill>
                  <a:srgbClr val="FFFFFF"/>
                </a:solidFill>
                <a:latin typeface="Calibri"/>
              </a:rPr>
              <a:t>Dissatisfied Member Phase 1; Pilot</a:t>
            </a:r>
          </a:p>
        </p:txBody>
      </p:sp>
      <p:sp>
        <p:nvSpPr>
          <p:cNvPr id="3" name="Rectangle 2"/>
          <p:cNvSpPr/>
          <p:nvPr/>
        </p:nvSpPr>
        <p:spPr>
          <a:xfrm>
            <a:off x="11430000" y="0"/>
            <a:ext cx="76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sp>
        <p:nvSpPr>
          <p:cNvPr id="4" name="Rectangle 3"/>
          <p:cNvSpPr/>
          <p:nvPr/>
        </p:nvSpPr>
        <p:spPr>
          <a:xfrm>
            <a:off x="0" y="50292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2920"/>
            <a:ext cx="640080" cy="13716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Member Using
Chat Bot</a:t>
            </a:r>
          </a:p>
        </p:txBody>
      </p:sp>
      <p:sp>
        <p:nvSpPr>
          <p:cNvPr id="6" name="Rectangle 5"/>
          <p:cNvSpPr/>
          <p:nvPr/>
        </p:nvSpPr>
        <p:spPr>
          <a:xfrm>
            <a:off x="0" y="1874519"/>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1874519"/>
            <a:ext cx="640080" cy="2743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Chat Customer
Care Agent</a:t>
            </a:r>
          </a:p>
        </p:txBody>
      </p:sp>
      <p:sp>
        <p:nvSpPr>
          <p:cNvPr id="8" name="Rectangle 7"/>
          <p:cNvSpPr/>
          <p:nvPr/>
        </p:nvSpPr>
        <p:spPr>
          <a:xfrm>
            <a:off x="0" y="461772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4617720"/>
            <a:ext cx="640080" cy="210312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Phone Customer
Care Agent</a:t>
            </a:r>
          </a:p>
        </p:txBody>
      </p:sp>
      <p:sp>
        <p:nvSpPr>
          <p:cNvPr id="10" name="Rectangle 9"/>
          <p:cNvSpPr/>
          <p:nvPr/>
        </p:nvSpPr>
        <p:spPr>
          <a:xfrm>
            <a:off x="0" y="672084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31520" y="868680"/>
            <a:ext cx="594360" cy="320040"/>
          </a:xfrm>
          <a:prstGeom prst="ellipse">
            <a:avLst/>
          </a:prstGeom>
          <a:solidFill>
            <a:srgbClr val="00B05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Start</a:t>
            </a:r>
          </a:p>
        </p:txBody>
      </p:sp>
      <p:sp>
        <p:nvSpPr>
          <p:cNvPr id="12" name="Rectangle 11"/>
          <p:cNvSpPr/>
          <p:nvPr/>
        </p:nvSpPr>
        <p:spPr>
          <a:xfrm>
            <a:off x="1463040" y="77724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logs into portal</a:t>
            </a:r>
          </a:p>
        </p:txBody>
      </p:sp>
      <p:sp>
        <p:nvSpPr>
          <p:cNvPr id="13" name="Rectangle 12"/>
          <p:cNvSpPr/>
          <p:nvPr/>
        </p:nvSpPr>
        <p:spPr>
          <a:xfrm>
            <a:off x="2514600" y="77724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selects main chat topic</a:t>
            </a:r>
          </a:p>
        </p:txBody>
      </p:sp>
      <p:sp>
        <p:nvSpPr>
          <p:cNvPr id="14" name="Rectangle 13"/>
          <p:cNvSpPr/>
          <p:nvPr/>
        </p:nvSpPr>
        <p:spPr>
          <a:xfrm>
            <a:off x="3566160" y="77724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selects sub topic</a:t>
            </a:r>
          </a:p>
        </p:txBody>
      </p:sp>
      <p:sp>
        <p:nvSpPr>
          <p:cNvPr id="15" name="Rectangle 14"/>
          <p:cNvSpPr/>
          <p:nvPr/>
        </p:nvSpPr>
        <p:spPr>
          <a:xfrm>
            <a:off x="4617720" y="77724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is connected to a live agent</a:t>
            </a:r>
          </a:p>
        </p:txBody>
      </p:sp>
      <p:sp>
        <p:nvSpPr>
          <p:cNvPr id="16" name="Rounded Rectangle 15"/>
          <p:cNvSpPr/>
          <p:nvPr/>
        </p:nvSpPr>
        <p:spPr>
          <a:xfrm>
            <a:off x="5760720" y="548640"/>
            <a:ext cx="1828800" cy="1097280"/>
          </a:xfrm>
          <a:prstGeom prst="roundRect">
            <a:avLst/>
          </a:prstGeom>
          <a:solidFill>
            <a:srgbClr val="C5E0B4"/>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500" b="0" dirty="0">
                <a:solidFill>
                  <a:srgbClr val="000000"/>
                </a:solidFill>
                <a:latin typeface="Calibri"/>
              </a:rPr>
              <a:t>Chat Topics
• Account information
• Plan documents
• Additional care programs
• Monthly payments</a:t>
            </a:r>
            <a:r>
              <a:rPr lang="en-US" sz="500" b="0" dirty="0">
                <a:solidFill>
                  <a:srgbClr val="000000"/>
                </a:solidFill>
                <a:latin typeface="Calibri"/>
              </a:rPr>
              <a:t>
</a:t>
            </a:r>
            <a:r>
              <a:rPr sz="500" b="0" dirty="0">
                <a:solidFill>
                  <a:srgbClr val="000000"/>
                </a:solidFill>
                <a:latin typeface="Calibri"/>
              </a:rPr>
              <a:t>  (Only for IFP Trio plan)
• Something else</a:t>
            </a:r>
          </a:p>
        </p:txBody>
      </p:sp>
      <p:sp>
        <p:nvSpPr>
          <p:cNvPr id="17" name="Rounded Rectangle 16"/>
          <p:cNvSpPr/>
          <p:nvPr/>
        </p:nvSpPr>
        <p:spPr>
          <a:xfrm>
            <a:off x="7772400" y="548640"/>
            <a:ext cx="2743200" cy="548640"/>
          </a:xfrm>
          <a:prstGeom prst="roundRect">
            <a:avLst/>
          </a:prstGeom>
          <a:solidFill>
            <a:srgbClr val="FFC000"/>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500" b="0">
                <a:solidFill>
                  <a:srgbClr val="000000"/>
                </a:solidFill>
                <a:latin typeface="Calibri"/>
              </a:rPr>
              <a:t>If at any point member selects 'Something else' they will receive an auto response indicating chat is a test.</a:t>
            </a:r>
          </a:p>
        </p:txBody>
      </p:sp>
      <p:sp>
        <p:nvSpPr>
          <p:cNvPr id="18" name="Rounded Rectangle 17"/>
          <p:cNvSpPr/>
          <p:nvPr/>
        </p:nvSpPr>
        <p:spPr>
          <a:xfrm>
            <a:off x="4617720" y="1691640"/>
            <a:ext cx="1371600" cy="164592"/>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600" b="1">
                <a:solidFill>
                  <a:srgbClr val="FFFFFF"/>
                </a:solidFill>
                <a:latin typeface="Calibri"/>
              </a:rPr>
              <a:t>Live Chat with Agent Starts</a:t>
            </a:r>
          </a:p>
        </p:txBody>
      </p:sp>
      <p:sp>
        <p:nvSpPr>
          <p:cNvPr id="19" name="Rectangle 18"/>
          <p:cNvSpPr/>
          <p:nvPr/>
        </p:nvSpPr>
        <p:spPr>
          <a:xfrm>
            <a:off x="731520" y="2103120"/>
            <a:ext cx="96012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Agent log into ShieldAdvisor Genesys</a:t>
            </a:r>
          </a:p>
        </p:txBody>
      </p:sp>
      <p:sp>
        <p:nvSpPr>
          <p:cNvPr id="20" name="Rectangle 19"/>
          <p:cNvSpPr/>
          <p:nvPr/>
        </p:nvSpPr>
        <p:spPr>
          <a:xfrm>
            <a:off x="1828800" y="2103120"/>
            <a:ext cx="96012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Agent receives chat and initiates greeting</a:t>
            </a:r>
          </a:p>
        </p:txBody>
      </p:sp>
      <p:sp>
        <p:nvSpPr>
          <p:cNvPr id="21" name="Diamond 20"/>
          <p:cNvSpPr/>
          <p:nvPr/>
        </p:nvSpPr>
        <p:spPr>
          <a:xfrm>
            <a:off x="2926080" y="2029967"/>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Determine if member is expressing dissatisfaction</a:t>
            </a:r>
          </a:p>
        </p:txBody>
      </p:sp>
      <p:sp>
        <p:nvSpPr>
          <p:cNvPr id="22" name="TextBox 21"/>
          <p:cNvSpPr txBox="1"/>
          <p:nvPr/>
        </p:nvSpPr>
        <p:spPr>
          <a:xfrm>
            <a:off x="3858768" y="219456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23" name="TextBox 22"/>
          <p:cNvSpPr txBox="1"/>
          <p:nvPr/>
        </p:nvSpPr>
        <p:spPr>
          <a:xfrm>
            <a:off x="3200400" y="256032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24" name="Rectangle 23"/>
          <p:cNvSpPr/>
          <p:nvPr/>
        </p:nvSpPr>
        <p:spPr>
          <a:xfrm>
            <a:off x="2834640" y="2743200"/>
            <a:ext cx="96012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Assist with inquiry using existing workflow</a:t>
            </a:r>
          </a:p>
        </p:txBody>
      </p:sp>
      <p:sp>
        <p:nvSpPr>
          <p:cNvPr id="25" name="Diamond 24"/>
          <p:cNvSpPr/>
          <p:nvPr/>
        </p:nvSpPr>
        <p:spPr>
          <a:xfrm>
            <a:off x="4114800" y="2029967"/>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Can resolve dissatisfaction within chat topics?</a:t>
            </a:r>
          </a:p>
        </p:txBody>
      </p:sp>
      <p:sp>
        <p:nvSpPr>
          <p:cNvPr id="26" name="TextBox 25"/>
          <p:cNvSpPr txBox="1"/>
          <p:nvPr/>
        </p:nvSpPr>
        <p:spPr>
          <a:xfrm>
            <a:off x="5047488" y="219456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27" name="TextBox 26"/>
          <p:cNvSpPr txBox="1"/>
          <p:nvPr/>
        </p:nvSpPr>
        <p:spPr>
          <a:xfrm>
            <a:off x="4389120" y="256032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28" name="Rectangle 27"/>
          <p:cNvSpPr/>
          <p:nvPr/>
        </p:nvSpPr>
        <p:spPr>
          <a:xfrm>
            <a:off x="5212080" y="210312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Assist with inquiry &amp; file exempt grievance. Use closing scripting.</a:t>
            </a:r>
          </a:p>
        </p:txBody>
      </p:sp>
      <p:sp>
        <p:nvSpPr>
          <p:cNvPr id="29" name="Diamond 28"/>
          <p:cNvSpPr/>
          <p:nvPr/>
        </p:nvSpPr>
        <p:spPr>
          <a:xfrm>
            <a:off x="6400800" y="2029967"/>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Determine if anything else is needed</a:t>
            </a:r>
          </a:p>
        </p:txBody>
      </p:sp>
      <p:sp>
        <p:nvSpPr>
          <p:cNvPr id="30" name="TextBox 29"/>
          <p:cNvSpPr txBox="1"/>
          <p:nvPr/>
        </p:nvSpPr>
        <p:spPr>
          <a:xfrm>
            <a:off x="6720840" y="256032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31" name="TextBox 30"/>
          <p:cNvSpPr txBox="1"/>
          <p:nvPr/>
        </p:nvSpPr>
        <p:spPr>
          <a:xfrm>
            <a:off x="7333488" y="219456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32" name="Rectangle 31"/>
          <p:cNvSpPr/>
          <p:nvPr/>
        </p:nvSpPr>
        <p:spPr>
          <a:xfrm>
            <a:off x="6400800" y="274320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notes in ShieldAdvisor</a:t>
            </a:r>
          </a:p>
        </p:txBody>
      </p:sp>
      <p:sp>
        <p:nvSpPr>
          <p:cNvPr id="33" name="Oval 32"/>
          <p:cNvSpPr/>
          <p:nvPr/>
        </p:nvSpPr>
        <p:spPr>
          <a:xfrm>
            <a:off x="7498079" y="2834639"/>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34" name="Diamond 33"/>
          <p:cNvSpPr/>
          <p:nvPr/>
        </p:nvSpPr>
        <p:spPr>
          <a:xfrm>
            <a:off x="4114800" y="2788920"/>
            <a:ext cx="1005840" cy="54864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Grievance or Phone Agent?</a:t>
            </a:r>
          </a:p>
        </p:txBody>
      </p:sp>
      <p:sp>
        <p:nvSpPr>
          <p:cNvPr id="35" name="TextBox 34"/>
          <p:cNvSpPr txBox="1"/>
          <p:nvPr/>
        </p:nvSpPr>
        <p:spPr>
          <a:xfrm>
            <a:off x="4133087" y="3383279"/>
            <a:ext cx="320040" cy="164592"/>
          </a:xfrm>
          <a:prstGeom prst="rect">
            <a:avLst/>
          </a:prstGeom>
          <a:noFill/>
        </p:spPr>
        <p:txBody>
          <a:bodyPr wrap="none">
            <a:spAutoFit/>
          </a:bodyPr>
          <a:lstStyle/>
          <a:p>
            <a:pPr algn="ctr"/>
            <a:r>
              <a:rPr sz="400" b="1">
                <a:solidFill>
                  <a:srgbClr val="000000"/>
                </a:solidFill>
                <a:latin typeface="Calibri"/>
              </a:rPr>
              <a:t>Grievance</a:t>
            </a:r>
          </a:p>
        </p:txBody>
      </p:sp>
      <p:sp>
        <p:nvSpPr>
          <p:cNvPr id="36" name="TextBox 35"/>
          <p:cNvSpPr txBox="1"/>
          <p:nvPr/>
        </p:nvSpPr>
        <p:spPr>
          <a:xfrm>
            <a:off x="5138927" y="2926079"/>
            <a:ext cx="320040" cy="164592"/>
          </a:xfrm>
          <a:prstGeom prst="rect">
            <a:avLst/>
          </a:prstGeom>
          <a:noFill/>
        </p:spPr>
        <p:txBody>
          <a:bodyPr wrap="none">
            <a:spAutoFit/>
          </a:bodyPr>
          <a:lstStyle/>
          <a:p>
            <a:pPr algn="ctr"/>
            <a:r>
              <a:rPr sz="400" b="1">
                <a:solidFill>
                  <a:srgbClr val="000000"/>
                </a:solidFill>
                <a:latin typeface="Calibri"/>
              </a:rPr>
              <a:t>Phone
Agent</a:t>
            </a:r>
          </a:p>
        </p:txBody>
      </p:sp>
      <p:sp>
        <p:nvSpPr>
          <p:cNvPr id="37" name="Rectangle 36"/>
          <p:cNvSpPr/>
          <p:nvPr/>
        </p:nvSpPr>
        <p:spPr>
          <a:xfrm>
            <a:off x="3931920" y="356616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Obtain all necessary info to file grievance</a:t>
            </a:r>
          </a:p>
        </p:txBody>
      </p:sp>
      <p:sp>
        <p:nvSpPr>
          <p:cNvPr id="38" name="Rectangle 37"/>
          <p:cNvSpPr/>
          <p:nvPr/>
        </p:nvSpPr>
        <p:spPr>
          <a:xfrm>
            <a:off x="3931920" y="402336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Document in ShieldAdvisor, file grievance &amp; provide reference number</a:t>
            </a:r>
          </a:p>
        </p:txBody>
      </p:sp>
      <p:sp>
        <p:nvSpPr>
          <p:cNvPr id="39" name="Oval 38"/>
          <p:cNvSpPr/>
          <p:nvPr/>
        </p:nvSpPr>
        <p:spPr>
          <a:xfrm>
            <a:off x="4206240" y="448056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40" name="Rectangle 39"/>
          <p:cNvSpPr/>
          <p:nvPr/>
        </p:nvSpPr>
        <p:spPr>
          <a:xfrm>
            <a:off x="5303520" y="288036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Obtain best contact phone number for member</a:t>
            </a:r>
          </a:p>
        </p:txBody>
      </p:sp>
      <p:sp>
        <p:nvSpPr>
          <p:cNvPr id="41" name="Rectangle 40"/>
          <p:cNvSpPr/>
          <p:nvPr/>
        </p:nvSpPr>
        <p:spPr>
          <a:xfrm>
            <a:off x="6492240" y="288036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case and route to designated phone agent via ShieldAdvisor</a:t>
            </a:r>
          </a:p>
        </p:txBody>
      </p:sp>
      <p:sp>
        <p:nvSpPr>
          <p:cNvPr id="42" name="Diamond 41"/>
          <p:cNvSpPr/>
          <p:nvPr/>
        </p:nvSpPr>
        <p:spPr>
          <a:xfrm>
            <a:off x="7772400" y="2029967"/>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Determine if the member disconnects chat at any time</a:t>
            </a:r>
          </a:p>
        </p:txBody>
      </p:sp>
      <p:sp>
        <p:nvSpPr>
          <p:cNvPr id="43" name="TextBox 42"/>
          <p:cNvSpPr txBox="1"/>
          <p:nvPr/>
        </p:nvSpPr>
        <p:spPr>
          <a:xfrm>
            <a:off x="8046720" y="256032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44" name="TextBox 43"/>
          <p:cNvSpPr txBox="1"/>
          <p:nvPr/>
        </p:nvSpPr>
        <p:spPr>
          <a:xfrm>
            <a:off x="8705088" y="219456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45" name="Rectangle 44"/>
          <p:cNvSpPr/>
          <p:nvPr/>
        </p:nvSpPr>
        <p:spPr>
          <a:xfrm>
            <a:off x="7680960" y="274320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Use closing scripting with survey link</a:t>
            </a:r>
          </a:p>
        </p:txBody>
      </p:sp>
      <p:sp>
        <p:nvSpPr>
          <p:cNvPr id="46" name="Rectangle 45"/>
          <p:cNvSpPr/>
          <p:nvPr/>
        </p:nvSpPr>
        <p:spPr>
          <a:xfrm>
            <a:off x="8869680" y="274320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notes in ShieldAdvisor</a:t>
            </a:r>
          </a:p>
        </p:txBody>
      </p:sp>
      <p:sp>
        <p:nvSpPr>
          <p:cNvPr id="47" name="Oval 46"/>
          <p:cNvSpPr/>
          <p:nvPr/>
        </p:nvSpPr>
        <p:spPr>
          <a:xfrm>
            <a:off x="9966960" y="2834639"/>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48" name="Rounded Rectangle 47"/>
          <p:cNvSpPr/>
          <p:nvPr/>
        </p:nvSpPr>
        <p:spPr>
          <a:xfrm>
            <a:off x="10515600" y="2103120"/>
            <a:ext cx="1463040" cy="640080"/>
          </a:xfrm>
          <a:prstGeom prst="roundRect">
            <a:avLst/>
          </a:prstGeom>
          <a:solidFill>
            <a:srgbClr val="FFC000"/>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450" b="0">
                <a:solidFill>
                  <a:srgbClr val="000000"/>
                </a:solidFill>
                <a:latin typeface="Calibri"/>
              </a:rPr>
              <a:t>Note: Follow this step if at any point during the conversation the member disconnects chat after showing dissatisfaction.</a:t>
            </a:r>
          </a:p>
        </p:txBody>
      </p:sp>
      <p:sp>
        <p:nvSpPr>
          <p:cNvPr id="49" name="Rectangle 48"/>
          <p:cNvSpPr/>
          <p:nvPr/>
        </p:nvSpPr>
        <p:spPr>
          <a:xfrm>
            <a:off x="731520" y="4846320"/>
            <a:ext cx="109728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Agent notified of new case for contact and pulls up case from chat agent in ShieldAdvisor</a:t>
            </a:r>
          </a:p>
        </p:txBody>
      </p:sp>
      <p:sp>
        <p:nvSpPr>
          <p:cNvPr id="50" name="Rectangle 49"/>
          <p:cNvSpPr/>
          <p:nvPr/>
        </p:nvSpPr>
        <p:spPr>
          <a:xfrm>
            <a:off x="1965960" y="484632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Makes outbound call to member</a:t>
            </a:r>
          </a:p>
        </p:txBody>
      </p:sp>
      <p:sp>
        <p:nvSpPr>
          <p:cNvPr id="51" name="Diamond 50"/>
          <p:cNvSpPr/>
          <p:nvPr/>
        </p:nvSpPr>
        <p:spPr>
          <a:xfrm>
            <a:off x="3017520" y="4773168"/>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Did the member answer?</a:t>
            </a:r>
          </a:p>
        </p:txBody>
      </p:sp>
      <p:sp>
        <p:nvSpPr>
          <p:cNvPr id="52" name="TextBox 51"/>
          <p:cNvSpPr txBox="1"/>
          <p:nvPr/>
        </p:nvSpPr>
        <p:spPr>
          <a:xfrm>
            <a:off x="3950207" y="4937759"/>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53" name="TextBox 52"/>
          <p:cNvSpPr txBox="1"/>
          <p:nvPr/>
        </p:nvSpPr>
        <p:spPr>
          <a:xfrm>
            <a:off x="3291840" y="530352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54" name="Rectangle 53"/>
          <p:cNvSpPr/>
          <p:nvPr/>
        </p:nvSpPr>
        <p:spPr>
          <a:xfrm>
            <a:off x="4114800" y="4846320"/>
            <a:ext cx="109728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Follow applicable existing workflow and file grievance</a:t>
            </a:r>
          </a:p>
        </p:txBody>
      </p:sp>
      <p:sp>
        <p:nvSpPr>
          <p:cNvPr id="55" name="Oval 54"/>
          <p:cNvSpPr/>
          <p:nvPr/>
        </p:nvSpPr>
        <p:spPr>
          <a:xfrm>
            <a:off x="5394960" y="489204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56" name="Rectangle 55"/>
          <p:cNvSpPr/>
          <p:nvPr/>
        </p:nvSpPr>
        <p:spPr>
          <a:xfrm>
            <a:off x="2880360" y="548640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Make a second attempt to contact the member</a:t>
            </a:r>
          </a:p>
        </p:txBody>
      </p:sp>
      <p:sp>
        <p:nvSpPr>
          <p:cNvPr id="57" name="Diamond 56"/>
          <p:cNvSpPr/>
          <p:nvPr/>
        </p:nvSpPr>
        <p:spPr>
          <a:xfrm>
            <a:off x="4114800" y="5440680"/>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Did the member answer second attempt?</a:t>
            </a:r>
          </a:p>
        </p:txBody>
      </p:sp>
      <p:sp>
        <p:nvSpPr>
          <p:cNvPr id="58" name="TextBox 57"/>
          <p:cNvSpPr txBox="1"/>
          <p:nvPr/>
        </p:nvSpPr>
        <p:spPr>
          <a:xfrm>
            <a:off x="5047488" y="557784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59" name="TextBox 58"/>
          <p:cNvSpPr txBox="1"/>
          <p:nvPr/>
        </p:nvSpPr>
        <p:spPr>
          <a:xfrm>
            <a:off x="4389120" y="598932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60" name="Diamond 59"/>
          <p:cNvSpPr/>
          <p:nvPr/>
        </p:nvSpPr>
        <p:spPr>
          <a:xfrm>
            <a:off x="5212080" y="5440680"/>
            <a:ext cx="100584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Determine if enough info is available to file a grievance</a:t>
            </a:r>
          </a:p>
        </p:txBody>
      </p:sp>
      <p:sp>
        <p:nvSpPr>
          <p:cNvPr id="61" name="TextBox 60"/>
          <p:cNvSpPr txBox="1"/>
          <p:nvPr/>
        </p:nvSpPr>
        <p:spPr>
          <a:xfrm>
            <a:off x="6236208" y="557784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62" name="TextBox 61"/>
          <p:cNvSpPr txBox="1"/>
          <p:nvPr/>
        </p:nvSpPr>
        <p:spPr>
          <a:xfrm>
            <a:off x="5532120" y="598932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63" name="Rectangle 62"/>
          <p:cNvSpPr/>
          <p:nvPr/>
        </p:nvSpPr>
        <p:spPr>
          <a:xfrm>
            <a:off x="6400800" y="544068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Follow applicable existing workflow &amp; file grievance</a:t>
            </a:r>
          </a:p>
        </p:txBody>
      </p:sp>
      <p:sp>
        <p:nvSpPr>
          <p:cNvPr id="64" name="Oval 63"/>
          <p:cNvSpPr/>
          <p:nvPr/>
        </p:nvSpPr>
        <p:spPr>
          <a:xfrm>
            <a:off x="7589520" y="553212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65" name="Rectangle 64"/>
          <p:cNvSpPr/>
          <p:nvPr/>
        </p:nvSpPr>
        <p:spPr>
          <a:xfrm>
            <a:off x="5303520" y="608076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notes in ShieldAdvisor</a:t>
            </a:r>
          </a:p>
        </p:txBody>
      </p:sp>
      <p:sp>
        <p:nvSpPr>
          <p:cNvPr id="66" name="Oval 65"/>
          <p:cNvSpPr/>
          <p:nvPr/>
        </p:nvSpPr>
        <p:spPr>
          <a:xfrm>
            <a:off x="6400800" y="617220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67" name="Rectangle 66"/>
          <p:cNvSpPr/>
          <p:nvPr/>
        </p:nvSpPr>
        <p:spPr>
          <a:xfrm>
            <a:off x="4023360" y="608076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notes in ShieldAdvisor</a:t>
            </a:r>
          </a:p>
        </p:txBody>
      </p:sp>
      <p:sp>
        <p:nvSpPr>
          <p:cNvPr id="68" name="Oval 67"/>
          <p:cNvSpPr/>
          <p:nvPr/>
        </p:nvSpPr>
        <p:spPr>
          <a:xfrm>
            <a:off x="4297680" y="653796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a:solidFill>
                  <a:srgbClr val="FFFFFF"/>
                </a:solidFill>
                <a:latin typeface="Calibri"/>
              </a:rPr>
              <a:t>Dissatisfied Member Phase 2 Integrate Callback Assist</a:t>
            </a:r>
          </a:p>
        </p:txBody>
      </p:sp>
      <p:sp>
        <p:nvSpPr>
          <p:cNvPr id="3" name="Rectangle 2"/>
          <p:cNvSpPr/>
          <p:nvPr/>
        </p:nvSpPr>
        <p:spPr>
          <a:xfrm>
            <a:off x="11430000" y="0"/>
            <a:ext cx="76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sp>
        <p:nvSpPr>
          <p:cNvPr id="4" name="Rectangle 3"/>
          <p:cNvSpPr/>
          <p:nvPr/>
        </p:nvSpPr>
        <p:spPr>
          <a:xfrm>
            <a:off x="0" y="50292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2920"/>
            <a:ext cx="640080" cy="201168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Member Using
Chat Bot</a:t>
            </a:r>
          </a:p>
        </p:txBody>
      </p:sp>
      <p:sp>
        <p:nvSpPr>
          <p:cNvPr id="6" name="Rectangle 5"/>
          <p:cNvSpPr/>
          <p:nvPr/>
        </p:nvSpPr>
        <p:spPr>
          <a:xfrm>
            <a:off x="0" y="251460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2514600"/>
            <a:ext cx="640080" cy="420624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Chat Customer
Care Agent</a:t>
            </a:r>
          </a:p>
        </p:txBody>
      </p:sp>
      <p:sp>
        <p:nvSpPr>
          <p:cNvPr id="8" name="Rectangle 7"/>
          <p:cNvSpPr/>
          <p:nvPr/>
        </p:nvSpPr>
        <p:spPr>
          <a:xfrm>
            <a:off x="0" y="672084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1520" y="914400"/>
            <a:ext cx="594360" cy="320040"/>
          </a:xfrm>
          <a:prstGeom prst="ellipse">
            <a:avLst/>
          </a:prstGeom>
          <a:solidFill>
            <a:srgbClr val="00B05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Start</a:t>
            </a:r>
          </a:p>
        </p:txBody>
      </p:sp>
      <p:sp>
        <p:nvSpPr>
          <p:cNvPr id="10" name="Rectangle 9"/>
          <p:cNvSpPr/>
          <p:nvPr/>
        </p:nvSpPr>
        <p:spPr>
          <a:xfrm>
            <a:off x="1417320" y="822960"/>
            <a:ext cx="105156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logs into portal</a:t>
            </a:r>
          </a:p>
        </p:txBody>
      </p:sp>
      <p:sp>
        <p:nvSpPr>
          <p:cNvPr id="11" name="Rectangle 10"/>
          <p:cNvSpPr/>
          <p:nvPr/>
        </p:nvSpPr>
        <p:spPr>
          <a:xfrm>
            <a:off x="2606040" y="822960"/>
            <a:ext cx="105156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selects main chat topic</a:t>
            </a:r>
          </a:p>
        </p:txBody>
      </p:sp>
      <p:sp>
        <p:nvSpPr>
          <p:cNvPr id="12" name="Diamond 11"/>
          <p:cNvSpPr/>
          <p:nvPr/>
        </p:nvSpPr>
        <p:spPr>
          <a:xfrm>
            <a:off x="3794760" y="777240"/>
            <a:ext cx="100584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Did the member select 'Something else'?</a:t>
            </a:r>
          </a:p>
        </p:txBody>
      </p:sp>
      <p:sp>
        <p:nvSpPr>
          <p:cNvPr id="13" name="TextBox 12"/>
          <p:cNvSpPr txBox="1"/>
          <p:nvPr/>
        </p:nvSpPr>
        <p:spPr>
          <a:xfrm>
            <a:off x="4818888" y="91440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14" name="TextBox 13"/>
          <p:cNvSpPr txBox="1"/>
          <p:nvPr/>
        </p:nvSpPr>
        <p:spPr>
          <a:xfrm>
            <a:off x="4114800" y="132588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15" name="Rectangle 14"/>
          <p:cNvSpPr/>
          <p:nvPr/>
        </p:nvSpPr>
        <p:spPr>
          <a:xfrm>
            <a:off x="3566160" y="1417320"/>
            <a:ext cx="13716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Member provided option to connect with phone agent or call customer service</a:t>
            </a:r>
          </a:p>
        </p:txBody>
      </p:sp>
      <p:sp>
        <p:nvSpPr>
          <p:cNvPr id="16" name="Rectangle 15"/>
          <p:cNvSpPr/>
          <p:nvPr/>
        </p:nvSpPr>
        <p:spPr>
          <a:xfrm>
            <a:off x="5029200" y="822960"/>
            <a:ext cx="105156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selects sub topic</a:t>
            </a:r>
          </a:p>
        </p:txBody>
      </p:sp>
      <p:sp>
        <p:nvSpPr>
          <p:cNvPr id="17" name="Diamond 16"/>
          <p:cNvSpPr/>
          <p:nvPr/>
        </p:nvSpPr>
        <p:spPr>
          <a:xfrm>
            <a:off x="6217920" y="777240"/>
            <a:ext cx="100584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Did the member select 'Something else'?</a:t>
            </a:r>
          </a:p>
        </p:txBody>
      </p:sp>
      <p:sp>
        <p:nvSpPr>
          <p:cNvPr id="18" name="TextBox 17"/>
          <p:cNvSpPr txBox="1"/>
          <p:nvPr/>
        </p:nvSpPr>
        <p:spPr>
          <a:xfrm>
            <a:off x="7242048" y="91440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19" name="TextBox 18"/>
          <p:cNvSpPr txBox="1"/>
          <p:nvPr/>
        </p:nvSpPr>
        <p:spPr>
          <a:xfrm>
            <a:off x="6537960" y="132588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20" name="Rectangle 19"/>
          <p:cNvSpPr/>
          <p:nvPr/>
        </p:nvSpPr>
        <p:spPr>
          <a:xfrm>
            <a:off x="7406640" y="822960"/>
            <a:ext cx="105156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is connected to a live agent</a:t>
            </a:r>
          </a:p>
        </p:txBody>
      </p:sp>
      <p:sp>
        <p:nvSpPr>
          <p:cNvPr id="21" name="Rounded Rectangle 20"/>
          <p:cNvSpPr/>
          <p:nvPr/>
        </p:nvSpPr>
        <p:spPr>
          <a:xfrm>
            <a:off x="7406640" y="2331720"/>
            <a:ext cx="1463040" cy="164592"/>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600" b="1">
                <a:solidFill>
                  <a:srgbClr val="FFFFFF"/>
                </a:solidFill>
                <a:latin typeface="Calibri"/>
              </a:rPr>
              <a:t>Live Chat with Agent Starts</a:t>
            </a:r>
          </a:p>
        </p:txBody>
      </p:sp>
      <p:sp>
        <p:nvSpPr>
          <p:cNvPr id="22" name="Rectangle 21"/>
          <p:cNvSpPr/>
          <p:nvPr/>
        </p:nvSpPr>
        <p:spPr>
          <a:xfrm>
            <a:off x="731520" y="2743200"/>
            <a:ext cx="96012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Agent log into ShieldAdvisor Genesys</a:t>
            </a:r>
          </a:p>
        </p:txBody>
      </p:sp>
      <p:sp>
        <p:nvSpPr>
          <p:cNvPr id="23" name="Rectangle 22"/>
          <p:cNvSpPr/>
          <p:nvPr/>
        </p:nvSpPr>
        <p:spPr>
          <a:xfrm>
            <a:off x="1828800" y="2743200"/>
            <a:ext cx="96012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Agent receives chat and initiates greeting</a:t>
            </a:r>
          </a:p>
        </p:txBody>
      </p:sp>
      <p:sp>
        <p:nvSpPr>
          <p:cNvPr id="24" name="Diamond 23"/>
          <p:cNvSpPr/>
          <p:nvPr/>
        </p:nvSpPr>
        <p:spPr>
          <a:xfrm>
            <a:off x="2926080" y="2670048"/>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Determine if member is expressing dissatisfaction</a:t>
            </a:r>
          </a:p>
        </p:txBody>
      </p:sp>
      <p:sp>
        <p:nvSpPr>
          <p:cNvPr id="25" name="TextBox 24"/>
          <p:cNvSpPr txBox="1"/>
          <p:nvPr/>
        </p:nvSpPr>
        <p:spPr>
          <a:xfrm>
            <a:off x="3858768" y="283464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26" name="TextBox 25"/>
          <p:cNvSpPr txBox="1"/>
          <p:nvPr/>
        </p:nvSpPr>
        <p:spPr>
          <a:xfrm>
            <a:off x="3200400" y="320040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27" name="Rectangle 26"/>
          <p:cNvSpPr/>
          <p:nvPr/>
        </p:nvSpPr>
        <p:spPr>
          <a:xfrm>
            <a:off x="2834640" y="3337560"/>
            <a:ext cx="96012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Assist with inquiry using existing workflow</a:t>
            </a:r>
          </a:p>
        </p:txBody>
      </p:sp>
      <p:sp>
        <p:nvSpPr>
          <p:cNvPr id="28" name="Diamond 27"/>
          <p:cNvSpPr/>
          <p:nvPr/>
        </p:nvSpPr>
        <p:spPr>
          <a:xfrm>
            <a:off x="4114800" y="2670048"/>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Can resolve within chat topics?</a:t>
            </a:r>
          </a:p>
        </p:txBody>
      </p:sp>
      <p:sp>
        <p:nvSpPr>
          <p:cNvPr id="29" name="TextBox 28"/>
          <p:cNvSpPr txBox="1"/>
          <p:nvPr/>
        </p:nvSpPr>
        <p:spPr>
          <a:xfrm>
            <a:off x="5047488" y="283464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30" name="TextBox 29"/>
          <p:cNvSpPr txBox="1"/>
          <p:nvPr/>
        </p:nvSpPr>
        <p:spPr>
          <a:xfrm>
            <a:off x="4389120" y="320040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31" name="Rectangle 30"/>
          <p:cNvSpPr/>
          <p:nvPr/>
        </p:nvSpPr>
        <p:spPr>
          <a:xfrm>
            <a:off x="5212080" y="274320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Assist &amp; file exempt grievance. Use closing scripting.</a:t>
            </a:r>
          </a:p>
        </p:txBody>
      </p:sp>
      <p:sp>
        <p:nvSpPr>
          <p:cNvPr id="32" name="Diamond 31"/>
          <p:cNvSpPr/>
          <p:nvPr/>
        </p:nvSpPr>
        <p:spPr>
          <a:xfrm>
            <a:off x="6400800" y="2670048"/>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Anything else needed?</a:t>
            </a:r>
          </a:p>
        </p:txBody>
      </p:sp>
      <p:sp>
        <p:nvSpPr>
          <p:cNvPr id="33" name="Rectangle 32"/>
          <p:cNvSpPr/>
          <p:nvPr/>
        </p:nvSpPr>
        <p:spPr>
          <a:xfrm>
            <a:off x="6400800" y="333756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notes in ShieldAdvisor</a:t>
            </a:r>
          </a:p>
        </p:txBody>
      </p:sp>
      <p:sp>
        <p:nvSpPr>
          <p:cNvPr id="34" name="Oval 33"/>
          <p:cNvSpPr/>
          <p:nvPr/>
        </p:nvSpPr>
        <p:spPr>
          <a:xfrm>
            <a:off x="7498079" y="342900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35" name="Diamond 34"/>
          <p:cNvSpPr/>
          <p:nvPr/>
        </p:nvSpPr>
        <p:spPr>
          <a:xfrm>
            <a:off x="4114800" y="3429000"/>
            <a:ext cx="1005840" cy="54864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Grievance or Phone Agent?</a:t>
            </a:r>
          </a:p>
        </p:txBody>
      </p:sp>
      <p:sp>
        <p:nvSpPr>
          <p:cNvPr id="36" name="TextBox 35"/>
          <p:cNvSpPr txBox="1"/>
          <p:nvPr/>
        </p:nvSpPr>
        <p:spPr>
          <a:xfrm>
            <a:off x="4133087" y="4023360"/>
            <a:ext cx="320040" cy="164592"/>
          </a:xfrm>
          <a:prstGeom prst="rect">
            <a:avLst/>
          </a:prstGeom>
          <a:noFill/>
        </p:spPr>
        <p:txBody>
          <a:bodyPr wrap="none">
            <a:spAutoFit/>
          </a:bodyPr>
          <a:lstStyle/>
          <a:p>
            <a:pPr algn="ctr"/>
            <a:r>
              <a:rPr sz="400" b="1">
                <a:solidFill>
                  <a:srgbClr val="000000"/>
                </a:solidFill>
                <a:latin typeface="Calibri"/>
              </a:rPr>
              <a:t>Grievance</a:t>
            </a:r>
          </a:p>
        </p:txBody>
      </p:sp>
      <p:sp>
        <p:nvSpPr>
          <p:cNvPr id="37" name="TextBox 36"/>
          <p:cNvSpPr txBox="1"/>
          <p:nvPr/>
        </p:nvSpPr>
        <p:spPr>
          <a:xfrm>
            <a:off x="5138927" y="3566160"/>
            <a:ext cx="320040" cy="164592"/>
          </a:xfrm>
          <a:prstGeom prst="rect">
            <a:avLst/>
          </a:prstGeom>
          <a:noFill/>
        </p:spPr>
        <p:txBody>
          <a:bodyPr wrap="none">
            <a:spAutoFit/>
          </a:bodyPr>
          <a:lstStyle/>
          <a:p>
            <a:pPr algn="ctr"/>
            <a:r>
              <a:rPr sz="400" b="1">
                <a:solidFill>
                  <a:srgbClr val="000000"/>
                </a:solidFill>
                <a:latin typeface="Calibri"/>
              </a:rPr>
              <a:t>Phone
Agent</a:t>
            </a:r>
          </a:p>
        </p:txBody>
      </p:sp>
      <p:sp>
        <p:nvSpPr>
          <p:cNvPr id="38" name="Rectangle 37"/>
          <p:cNvSpPr/>
          <p:nvPr/>
        </p:nvSpPr>
        <p:spPr>
          <a:xfrm>
            <a:off x="3931920" y="416052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Obtain all necessary info to file grievance</a:t>
            </a:r>
          </a:p>
        </p:txBody>
      </p:sp>
      <p:sp>
        <p:nvSpPr>
          <p:cNvPr id="39" name="Rectangle 38"/>
          <p:cNvSpPr/>
          <p:nvPr/>
        </p:nvSpPr>
        <p:spPr>
          <a:xfrm>
            <a:off x="3931920" y="461772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File grievance &amp; provide reference number</a:t>
            </a:r>
          </a:p>
        </p:txBody>
      </p:sp>
      <p:sp>
        <p:nvSpPr>
          <p:cNvPr id="40" name="Oval 39"/>
          <p:cNvSpPr/>
          <p:nvPr/>
        </p:nvSpPr>
        <p:spPr>
          <a:xfrm>
            <a:off x="4206240" y="507492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41" name="Rectangle 40"/>
          <p:cNvSpPr/>
          <p:nvPr/>
        </p:nvSpPr>
        <p:spPr>
          <a:xfrm>
            <a:off x="5303520" y="3520440"/>
            <a:ext cx="109728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Offer to transfer to a live phone agent through callback assist</a:t>
            </a:r>
          </a:p>
        </p:txBody>
      </p:sp>
      <p:sp>
        <p:nvSpPr>
          <p:cNvPr id="42" name="Diamond 41"/>
          <p:cNvSpPr/>
          <p:nvPr/>
        </p:nvSpPr>
        <p:spPr>
          <a:xfrm>
            <a:off x="6583680" y="3474720"/>
            <a:ext cx="100584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Did member agree to transfer?</a:t>
            </a:r>
          </a:p>
        </p:txBody>
      </p:sp>
      <p:sp>
        <p:nvSpPr>
          <p:cNvPr id="43" name="TextBox 42"/>
          <p:cNvSpPr txBox="1"/>
          <p:nvPr/>
        </p:nvSpPr>
        <p:spPr>
          <a:xfrm>
            <a:off x="7607808" y="361188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44" name="TextBox 43"/>
          <p:cNvSpPr txBox="1"/>
          <p:nvPr/>
        </p:nvSpPr>
        <p:spPr>
          <a:xfrm>
            <a:off x="6858000" y="402336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45" name="Rectangle 44"/>
          <p:cNvSpPr/>
          <p:nvPr/>
        </p:nvSpPr>
        <p:spPr>
          <a:xfrm>
            <a:off x="7772400" y="3520440"/>
            <a:ext cx="109728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Member transferred to live phone agent through callback assist</a:t>
            </a:r>
          </a:p>
        </p:txBody>
      </p:sp>
      <p:sp>
        <p:nvSpPr>
          <p:cNvPr id="46" name="Oval 45"/>
          <p:cNvSpPr/>
          <p:nvPr/>
        </p:nvSpPr>
        <p:spPr>
          <a:xfrm>
            <a:off x="9052560" y="361188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47" name="Rectangle 46"/>
          <p:cNvSpPr/>
          <p:nvPr/>
        </p:nvSpPr>
        <p:spPr>
          <a:xfrm>
            <a:off x="6492240" y="416052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notes in ShieldAdvisor</a:t>
            </a:r>
          </a:p>
        </p:txBody>
      </p:sp>
      <p:sp>
        <p:nvSpPr>
          <p:cNvPr id="48" name="Oval 47"/>
          <p:cNvSpPr/>
          <p:nvPr/>
        </p:nvSpPr>
        <p:spPr>
          <a:xfrm>
            <a:off x="7680960" y="425196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49" name="Diamond 48"/>
          <p:cNvSpPr/>
          <p:nvPr/>
        </p:nvSpPr>
        <p:spPr>
          <a:xfrm>
            <a:off x="7772400" y="2670048"/>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Member disconnects chat?</a:t>
            </a:r>
          </a:p>
        </p:txBody>
      </p:sp>
      <p:sp>
        <p:nvSpPr>
          <p:cNvPr id="50" name="Rectangle 49"/>
          <p:cNvSpPr/>
          <p:nvPr/>
        </p:nvSpPr>
        <p:spPr>
          <a:xfrm>
            <a:off x="8869680" y="274320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Use closing scripting</a:t>
            </a:r>
          </a:p>
        </p:txBody>
      </p:sp>
      <p:sp>
        <p:nvSpPr>
          <p:cNvPr id="51" name="Rectangle 50"/>
          <p:cNvSpPr/>
          <p:nvPr/>
        </p:nvSpPr>
        <p:spPr>
          <a:xfrm>
            <a:off x="9966960" y="274320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notes in ShieldAdvisor</a:t>
            </a:r>
          </a:p>
        </p:txBody>
      </p:sp>
      <p:sp>
        <p:nvSpPr>
          <p:cNvPr id="52" name="Oval 51"/>
          <p:cNvSpPr/>
          <p:nvPr/>
        </p:nvSpPr>
        <p:spPr>
          <a:xfrm>
            <a:off x="11064240" y="278892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a:solidFill>
                  <a:srgbClr val="FFFFFF"/>
                </a:solidFill>
                <a:latin typeface="Calibri"/>
              </a:rPr>
              <a:t>Different Language Phase 1; Pilot</a:t>
            </a:r>
          </a:p>
        </p:txBody>
      </p:sp>
      <p:sp>
        <p:nvSpPr>
          <p:cNvPr id="3" name="Rectangle 2"/>
          <p:cNvSpPr/>
          <p:nvPr/>
        </p:nvSpPr>
        <p:spPr>
          <a:xfrm>
            <a:off x="11430000" y="0"/>
            <a:ext cx="76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sp>
        <p:nvSpPr>
          <p:cNvPr id="4" name="Rectangle 3"/>
          <p:cNvSpPr/>
          <p:nvPr/>
        </p:nvSpPr>
        <p:spPr>
          <a:xfrm>
            <a:off x="0" y="50292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2920"/>
            <a:ext cx="640080" cy="13716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Member Using
Chat Bot</a:t>
            </a:r>
          </a:p>
        </p:txBody>
      </p:sp>
      <p:sp>
        <p:nvSpPr>
          <p:cNvPr id="6" name="Rectangle 5"/>
          <p:cNvSpPr/>
          <p:nvPr/>
        </p:nvSpPr>
        <p:spPr>
          <a:xfrm>
            <a:off x="0" y="1874519"/>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1874519"/>
            <a:ext cx="640080" cy="256032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Chat Customer
Care Agent</a:t>
            </a:r>
          </a:p>
        </p:txBody>
      </p:sp>
      <p:sp>
        <p:nvSpPr>
          <p:cNvPr id="8" name="Rectangle 7"/>
          <p:cNvSpPr/>
          <p:nvPr/>
        </p:nvSpPr>
        <p:spPr>
          <a:xfrm>
            <a:off x="0" y="443484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4434840"/>
            <a:ext cx="640080" cy="22860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Phone Customer
Care Agent</a:t>
            </a:r>
          </a:p>
        </p:txBody>
      </p:sp>
      <p:sp>
        <p:nvSpPr>
          <p:cNvPr id="10" name="Rectangle 9"/>
          <p:cNvSpPr/>
          <p:nvPr/>
        </p:nvSpPr>
        <p:spPr>
          <a:xfrm>
            <a:off x="0" y="672084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31520" y="868680"/>
            <a:ext cx="594360" cy="320040"/>
          </a:xfrm>
          <a:prstGeom prst="ellipse">
            <a:avLst/>
          </a:prstGeom>
          <a:solidFill>
            <a:srgbClr val="00B05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Start</a:t>
            </a:r>
          </a:p>
        </p:txBody>
      </p:sp>
      <p:sp>
        <p:nvSpPr>
          <p:cNvPr id="12" name="Rectangle 11"/>
          <p:cNvSpPr/>
          <p:nvPr/>
        </p:nvSpPr>
        <p:spPr>
          <a:xfrm>
            <a:off x="1417320" y="777240"/>
            <a:ext cx="105156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logs into portal</a:t>
            </a:r>
          </a:p>
        </p:txBody>
      </p:sp>
      <p:sp>
        <p:nvSpPr>
          <p:cNvPr id="13" name="Rectangle 12"/>
          <p:cNvSpPr/>
          <p:nvPr/>
        </p:nvSpPr>
        <p:spPr>
          <a:xfrm>
            <a:off x="2606040" y="777240"/>
            <a:ext cx="105156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selects main chat topic</a:t>
            </a:r>
          </a:p>
        </p:txBody>
      </p:sp>
      <p:sp>
        <p:nvSpPr>
          <p:cNvPr id="14" name="Rectangle 13"/>
          <p:cNvSpPr/>
          <p:nvPr/>
        </p:nvSpPr>
        <p:spPr>
          <a:xfrm>
            <a:off x="3794760" y="777240"/>
            <a:ext cx="105156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is connected to a live agent</a:t>
            </a:r>
          </a:p>
        </p:txBody>
      </p:sp>
      <p:sp>
        <p:nvSpPr>
          <p:cNvPr id="15" name="Rectangle 14"/>
          <p:cNvSpPr/>
          <p:nvPr/>
        </p:nvSpPr>
        <p:spPr>
          <a:xfrm>
            <a:off x="4983480" y="777240"/>
            <a:ext cx="105156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selects sub topic</a:t>
            </a:r>
          </a:p>
        </p:txBody>
      </p:sp>
      <p:sp>
        <p:nvSpPr>
          <p:cNvPr id="16" name="Rounded Rectangle 15"/>
          <p:cNvSpPr/>
          <p:nvPr/>
        </p:nvSpPr>
        <p:spPr>
          <a:xfrm>
            <a:off x="6400800" y="548640"/>
            <a:ext cx="1828800" cy="1097280"/>
          </a:xfrm>
          <a:prstGeom prst="roundRect">
            <a:avLst/>
          </a:prstGeom>
          <a:solidFill>
            <a:srgbClr val="C5E0B4"/>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500" b="0">
                <a:solidFill>
                  <a:srgbClr val="000000"/>
                </a:solidFill>
                <a:latin typeface="Calibri"/>
              </a:rPr>
              <a:t>Chat Topics
• Account information
• Plan documents
• Additional care programs
• Monthly payments
  (Only for IFP Trio plan)
• Something else</a:t>
            </a:r>
          </a:p>
        </p:txBody>
      </p:sp>
      <p:sp>
        <p:nvSpPr>
          <p:cNvPr id="17" name="Rounded Rectangle 16"/>
          <p:cNvSpPr/>
          <p:nvPr/>
        </p:nvSpPr>
        <p:spPr>
          <a:xfrm>
            <a:off x="8412480" y="548640"/>
            <a:ext cx="2743200" cy="457200"/>
          </a:xfrm>
          <a:prstGeom prst="roundRect">
            <a:avLst/>
          </a:prstGeom>
          <a:solidFill>
            <a:srgbClr val="FFC000"/>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500" b="0">
                <a:solidFill>
                  <a:srgbClr val="000000"/>
                </a:solidFill>
                <a:latin typeface="Calibri"/>
              </a:rPr>
              <a:t>Note: Follow this step if at any point during the conversation the member responds in a different language.</a:t>
            </a:r>
          </a:p>
        </p:txBody>
      </p:sp>
      <p:sp>
        <p:nvSpPr>
          <p:cNvPr id="18" name="Rounded Rectangle 17"/>
          <p:cNvSpPr/>
          <p:nvPr/>
        </p:nvSpPr>
        <p:spPr>
          <a:xfrm>
            <a:off x="4983480" y="1691640"/>
            <a:ext cx="1371600" cy="164592"/>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600" b="1">
                <a:solidFill>
                  <a:srgbClr val="FFFFFF"/>
                </a:solidFill>
                <a:latin typeface="Calibri"/>
              </a:rPr>
              <a:t>Live Chat with Agent Starts</a:t>
            </a:r>
          </a:p>
        </p:txBody>
      </p:sp>
      <p:sp>
        <p:nvSpPr>
          <p:cNvPr id="19" name="Rectangle 18"/>
          <p:cNvSpPr/>
          <p:nvPr/>
        </p:nvSpPr>
        <p:spPr>
          <a:xfrm>
            <a:off x="731520" y="2103120"/>
            <a:ext cx="96012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Agent log into ShieldAdvisor Genesys</a:t>
            </a:r>
          </a:p>
        </p:txBody>
      </p:sp>
      <p:sp>
        <p:nvSpPr>
          <p:cNvPr id="20" name="Rectangle 19"/>
          <p:cNvSpPr/>
          <p:nvPr/>
        </p:nvSpPr>
        <p:spPr>
          <a:xfrm>
            <a:off x="1828800" y="2103120"/>
            <a:ext cx="96012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Agent receives chat and initiates greeting</a:t>
            </a:r>
          </a:p>
        </p:txBody>
      </p:sp>
      <p:sp>
        <p:nvSpPr>
          <p:cNvPr id="21" name="Diamond 20"/>
          <p:cNvSpPr/>
          <p:nvPr/>
        </p:nvSpPr>
        <p:spPr>
          <a:xfrm>
            <a:off x="2926080" y="2029967"/>
            <a:ext cx="100584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Determine if member responds in a different language</a:t>
            </a:r>
          </a:p>
        </p:txBody>
      </p:sp>
      <p:sp>
        <p:nvSpPr>
          <p:cNvPr id="22" name="TextBox 21"/>
          <p:cNvSpPr txBox="1"/>
          <p:nvPr/>
        </p:nvSpPr>
        <p:spPr>
          <a:xfrm>
            <a:off x="3950208" y="219456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23" name="TextBox 22"/>
          <p:cNvSpPr txBox="1"/>
          <p:nvPr/>
        </p:nvSpPr>
        <p:spPr>
          <a:xfrm>
            <a:off x="3246120" y="256032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24" name="Rectangle 23"/>
          <p:cNvSpPr/>
          <p:nvPr/>
        </p:nvSpPr>
        <p:spPr>
          <a:xfrm>
            <a:off x="2834640" y="2697479"/>
            <a:ext cx="96012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Assist with inquiry using existing workflow</a:t>
            </a:r>
          </a:p>
        </p:txBody>
      </p:sp>
      <p:sp>
        <p:nvSpPr>
          <p:cNvPr id="25" name="Rectangle 24"/>
          <p:cNvSpPr/>
          <p:nvPr/>
        </p:nvSpPr>
        <p:spPr>
          <a:xfrm>
            <a:off x="4114800" y="2103120"/>
            <a:ext cx="109728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Advise chat is currently available in English and offer to contact them with a translator</a:t>
            </a:r>
          </a:p>
        </p:txBody>
      </p:sp>
      <p:sp>
        <p:nvSpPr>
          <p:cNvPr id="26" name="Diamond 25"/>
          <p:cNvSpPr/>
          <p:nvPr/>
        </p:nvSpPr>
        <p:spPr>
          <a:xfrm>
            <a:off x="5394960" y="2029967"/>
            <a:ext cx="100584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Did the member agree to be contacted with a translator?</a:t>
            </a:r>
          </a:p>
        </p:txBody>
      </p:sp>
      <p:sp>
        <p:nvSpPr>
          <p:cNvPr id="27" name="TextBox 26"/>
          <p:cNvSpPr txBox="1"/>
          <p:nvPr/>
        </p:nvSpPr>
        <p:spPr>
          <a:xfrm>
            <a:off x="6419088" y="219456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28" name="TextBox 27"/>
          <p:cNvSpPr txBox="1"/>
          <p:nvPr/>
        </p:nvSpPr>
        <p:spPr>
          <a:xfrm>
            <a:off x="5715000" y="256032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29" name="Rectangle 28"/>
          <p:cNvSpPr/>
          <p:nvPr/>
        </p:nvSpPr>
        <p:spPr>
          <a:xfrm>
            <a:off x="6583680" y="210312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Obtain best contact phone number for member</a:t>
            </a:r>
          </a:p>
        </p:txBody>
      </p:sp>
      <p:sp>
        <p:nvSpPr>
          <p:cNvPr id="30" name="Rectangle 29"/>
          <p:cNvSpPr/>
          <p:nvPr/>
        </p:nvSpPr>
        <p:spPr>
          <a:xfrm>
            <a:off x="7772400" y="210312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case and route to designated phone agent via ShieldAdvisor</a:t>
            </a:r>
          </a:p>
        </p:txBody>
      </p:sp>
      <p:sp>
        <p:nvSpPr>
          <p:cNvPr id="31" name="Rectangle 30"/>
          <p:cNvSpPr/>
          <p:nvPr/>
        </p:nvSpPr>
        <p:spPr>
          <a:xfrm>
            <a:off x="5303520" y="2697479"/>
            <a:ext cx="109728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Provide the member with the phone number to customer care for further assistance</a:t>
            </a:r>
          </a:p>
        </p:txBody>
      </p:sp>
      <p:sp>
        <p:nvSpPr>
          <p:cNvPr id="32" name="Rectangle 31"/>
          <p:cNvSpPr/>
          <p:nvPr/>
        </p:nvSpPr>
        <p:spPr>
          <a:xfrm>
            <a:off x="6583680" y="2697479"/>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notes in ShieldAdvisor</a:t>
            </a:r>
          </a:p>
        </p:txBody>
      </p:sp>
      <p:sp>
        <p:nvSpPr>
          <p:cNvPr id="33" name="Oval 32"/>
          <p:cNvSpPr/>
          <p:nvPr/>
        </p:nvSpPr>
        <p:spPr>
          <a:xfrm>
            <a:off x="7680960" y="2761487"/>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34" name="Rectangle 33"/>
          <p:cNvSpPr/>
          <p:nvPr/>
        </p:nvSpPr>
        <p:spPr>
          <a:xfrm>
            <a:off x="8961120" y="210312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Use closing scripting with survey link</a:t>
            </a:r>
          </a:p>
        </p:txBody>
      </p:sp>
      <p:sp>
        <p:nvSpPr>
          <p:cNvPr id="35" name="Rectangle 34"/>
          <p:cNvSpPr/>
          <p:nvPr/>
        </p:nvSpPr>
        <p:spPr>
          <a:xfrm>
            <a:off x="10058400" y="210312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notes in ShieldAdvisor</a:t>
            </a:r>
          </a:p>
        </p:txBody>
      </p:sp>
      <p:sp>
        <p:nvSpPr>
          <p:cNvPr id="36" name="Oval 35"/>
          <p:cNvSpPr/>
          <p:nvPr/>
        </p:nvSpPr>
        <p:spPr>
          <a:xfrm>
            <a:off x="11155680" y="2148839"/>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37" name="Rectangle 36"/>
          <p:cNvSpPr/>
          <p:nvPr/>
        </p:nvSpPr>
        <p:spPr>
          <a:xfrm>
            <a:off x="731520" y="4663440"/>
            <a:ext cx="109728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Agent notified of new case and pulls up case from chat agent in ShieldAdvisor</a:t>
            </a:r>
          </a:p>
        </p:txBody>
      </p:sp>
      <p:sp>
        <p:nvSpPr>
          <p:cNvPr id="38" name="Rectangle 37"/>
          <p:cNvSpPr/>
          <p:nvPr/>
        </p:nvSpPr>
        <p:spPr>
          <a:xfrm>
            <a:off x="1965960" y="466344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Makes outbound call to member</a:t>
            </a:r>
          </a:p>
        </p:txBody>
      </p:sp>
      <p:sp>
        <p:nvSpPr>
          <p:cNvPr id="39" name="Diamond 38"/>
          <p:cNvSpPr/>
          <p:nvPr/>
        </p:nvSpPr>
        <p:spPr>
          <a:xfrm>
            <a:off x="3017520" y="4590288"/>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Did the member answer?</a:t>
            </a:r>
          </a:p>
        </p:txBody>
      </p:sp>
      <p:sp>
        <p:nvSpPr>
          <p:cNvPr id="40" name="TextBox 39"/>
          <p:cNvSpPr txBox="1"/>
          <p:nvPr/>
        </p:nvSpPr>
        <p:spPr>
          <a:xfrm>
            <a:off x="3950207" y="4754879"/>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41" name="TextBox 40"/>
          <p:cNvSpPr txBox="1"/>
          <p:nvPr/>
        </p:nvSpPr>
        <p:spPr>
          <a:xfrm>
            <a:off x="3291840" y="512064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42" name="Rectangle 41"/>
          <p:cNvSpPr/>
          <p:nvPr/>
        </p:nvSpPr>
        <p:spPr>
          <a:xfrm>
            <a:off x="4114800" y="4663440"/>
            <a:ext cx="109728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Obtain language preference and follow existing workflow to obtain translator on the line</a:t>
            </a:r>
          </a:p>
        </p:txBody>
      </p:sp>
      <p:sp>
        <p:nvSpPr>
          <p:cNvPr id="43" name="Rectangle 42"/>
          <p:cNvSpPr/>
          <p:nvPr/>
        </p:nvSpPr>
        <p:spPr>
          <a:xfrm>
            <a:off x="5394960" y="4663440"/>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Handle call using existing workflows</a:t>
            </a:r>
          </a:p>
        </p:txBody>
      </p:sp>
      <p:sp>
        <p:nvSpPr>
          <p:cNvPr id="44" name="Oval 43"/>
          <p:cNvSpPr/>
          <p:nvPr/>
        </p:nvSpPr>
        <p:spPr>
          <a:xfrm>
            <a:off x="6492240" y="4709159"/>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45" name="Rectangle 44"/>
          <p:cNvSpPr/>
          <p:nvPr/>
        </p:nvSpPr>
        <p:spPr>
          <a:xfrm>
            <a:off x="2880360" y="5257800"/>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Make a second attempt to contact the member</a:t>
            </a:r>
          </a:p>
        </p:txBody>
      </p:sp>
      <p:sp>
        <p:nvSpPr>
          <p:cNvPr id="46" name="Diamond 45"/>
          <p:cNvSpPr/>
          <p:nvPr/>
        </p:nvSpPr>
        <p:spPr>
          <a:xfrm>
            <a:off x="4114800" y="5212079"/>
            <a:ext cx="91440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Did the member answer second attempt?</a:t>
            </a:r>
          </a:p>
        </p:txBody>
      </p:sp>
      <p:sp>
        <p:nvSpPr>
          <p:cNvPr id="47" name="TextBox 46"/>
          <p:cNvSpPr txBox="1"/>
          <p:nvPr/>
        </p:nvSpPr>
        <p:spPr>
          <a:xfrm>
            <a:off x="5047488" y="534924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48" name="TextBox 47"/>
          <p:cNvSpPr txBox="1"/>
          <p:nvPr/>
        </p:nvSpPr>
        <p:spPr>
          <a:xfrm>
            <a:off x="4389120" y="576072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49" name="Rectangle 48"/>
          <p:cNvSpPr/>
          <p:nvPr/>
        </p:nvSpPr>
        <p:spPr>
          <a:xfrm>
            <a:off x="4023360" y="5852159"/>
            <a:ext cx="100584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Leave a voicemail with appropriate customer service phone number</a:t>
            </a:r>
          </a:p>
        </p:txBody>
      </p:sp>
      <p:sp>
        <p:nvSpPr>
          <p:cNvPr id="50" name="Rectangle 49"/>
          <p:cNvSpPr/>
          <p:nvPr/>
        </p:nvSpPr>
        <p:spPr>
          <a:xfrm>
            <a:off x="5212080" y="5852159"/>
            <a:ext cx="9144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notes in ShieldAdvisor</a:t>
            </a:r>
          </a:p>
        </p:txBody>
      </p:sp>
      <p:sp>
        <p:nvSpPr>
          <p:cNvPr id="51" name="Oval 50"/>
          <p:cNvSpPr/>
          <p:nvPr/>
        </p:nvSpPr>
        <p:spPr>
          <a:xfrm>
            <a:off x="6309360" y="5916168"/>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a:solidFill>
                  <a:srgbClr val="FFFFFF"/>
                </a:solidFill>
                <a:latin typeface="Calibri"/>
              </a:rPr>
              <a:t>Different Language Phase 2 Implementation of Language Translation</a:t>
            </a:r>
          </a:p>
        </p:txBody>
      </p:sp>
      <p:sp>
        <p:nvSpPr>
          <p:cNvPr id="3" name="Rectangle 2"/>
          <p:cNvSpPr/>
          <p:nvPr/>
        </p:nvSpPr>
        <p:spPr>
          <a:xfrm>
            <a:off x="11430000" y="0"/>
            <a:ext cx="76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sp>
        <p:nvSpPr>
          <p:cNvPr id="4" name="Rectangle 3"/>
          <p:cNvSpPr/>
          <p:nvPr/>
        </p:nvSpPr>
        <p:spPr>
          <a:xfrm>
            <a:off x="0" y="50292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2920"/>
            <a:ext cx="640080" cy="201168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Member Using
Chat Bot</a:t>
            </a:r>
          </a:p>
        </p:txBody>
      </p:sp>
      <p:sp>
        <p:nvSpPr>
          <p:cNvPr id="6" name="Rectangle 5"/>
          <p:cNvSpPr/>
          <p:nvPr/>
        </p:nvSpPr>
        <p:spPr>
          <a:xfrm>
            <a:off x="0" y="251460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2514600"/>
            <a:ext cx="640080" cy="420624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Chat Customer
Care Agent</a:t>
            </a:r>
          </a:p>
        </p:txBody>
      </p:sp>
      <p:sp>
        <p:nvSpPr>
          <p:cNvPr id="8" name="Rectangle 7"/>
          <p:cNvSpPr/>
          <p:nvPr/>
        </p:nvSpPr>
        <p:spPr>
          <a:xfrm>
            <a:off x="0" y="672084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1520" y="914400"/>
            <a:ext cx="594360" cy="320040"/>
          </a:xfrm>
          <a:prstGeom prst="ellipse">
            <a:avLst/>
          </a:prstGeom>
          <a:solidFill>
            <a:srgbClr val="00B05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Start</a:t>
            </a:r>
          </a:p>
        </p:txBody>
      </p:sp>
      <p:sp>
        <p:nvSpPr>
          <p:cNvPr id="10" name="Rectangle 9"/>
          <p:cNvSpPr/>
          <p:nvPr/>
        </p:nvSpPr>
        <p:spPr>
          <a:xfrm>
            <a:off x="1417320" y="822960"/>
            <a:ext cx="1051560" cy="41148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logs into member portal to initiate live chat with Blue Shield</a:t>
            </a:r>
          </a:p>
        </p:txBody>
      </p:sp>
      <p:sp>
        <p:nvSpPr>
          <p:cNvPr id="11" name="Rectangle 10"/>
          <p:cNvSpPr/>
          <p:nvPr/>
        </p:nvSpPr>
        <p:spPr>
          <a:xfrm>
            <a:off x="2606040" y="822960"/>
            <a:ext cx="1051560" cy="41148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selects applicable main chat topic</a:t>
            </a:r>
          </a:p>
        </p:txBody>
      </p:sp>
      <p:sp>
        <p:nvSpPr>
          <p:cNvPr id="12" name="Diamond 11"/>
          <p:cNvSpPr/>
          <p:nvPr/>
        </p:nvSpPr>
        <p:spPr>
          <a:xfrm>
            <a:off x="3794760" y="777240"/>
            <a:ext cx="100584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Did the member select 'Something else'?</a:t>
            </a:r>
          </a:p>
        </p:txBody>
      </p:sp>
      <p:sp>
        <p:nvSpPr>
          <p:cNvPr id="13" name="TextBox 12"/>
          <p:cNvSpPr txBox="1"/>
          <p:nvPr/>
        </p:nvSpPr>
        <p:spPr>
          <a:xfrm>
            <a:off x="4818888" y="91440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14" name="TextBox 13"/>
          <p:cNvSpPr txBox="1"/>
          <p:nvPr/>
        </p:nvSpPr>
        <p:spPr>
          <a:xfrm>
            <a:off x="4114800" y="132588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15" name="Rectangle 14"/>
          <p:cNvSpPr/>
          <p:nvPr/>
        </p:nvSpPr>
        <p:spPr>
          <a:xfrm>
            <a:off x="3566160" y="1417320"/>
            <a:ext cx="1371600" cy="36576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Member provided option to connect with phone agent or call customer service</a:t>
            </a:r>
          </a:p>
        </p:txBody>
      </p:sp>
      <p:sp>
        <p:nvSpPr>
          <p:cNvPr id="16" name="Oval 15"/>
          <p:cNvSpPr/>
          <p:nvPr/>
        </p:nvSpPr>
        <p:spPr>
          <a:xfrm>
            <a:off x="5120640" y="146304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17" name="Rectangle 16"/>
          <p:cNvSpPr/>
          <p:nvPr/>
        </p:nvSpPr>
        <p:spPr>
          <a:xfrm>
            <a:off x="5029200" y="822960"/>
            <a:ext cx="1051560" cy="41148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selects sub topic</a:t>
            </a:r>
          </a:p>
        </p:txBody>
      </p:sp>
      <p:sp>
        <p:nvSpPr>
          <p:cNvPr id="18" name="Diamond 17"/>
          <p:cNvSpPr/>
          <p:nvPr/>
        </p:nvSpPr>
        <p:spPr>
          <a:xfrm>
            <a:off x="6217920" y="777240"/>
            <a:ext cx="1005840" cy="50292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450" b="0">
                <a:solidFill>
                  <a:srgbClr val="FFFFFF"/>
                </a:solidFill>
                <a:latin typeface="Calibri"/>
              </a:rPr>
              <a:t>Did the member select 'Something else'?</a:t>
            </a:r>
          </a:p>
        </p:txBody>
      </p:sp>
      <p:sp>
        <p:nvSpPr>
          <p:cNvPr id="19" name="TextBox 18"/>
          <p:cNvSpPr txBox="1"/>
          <p:nvPr/>
        </p:nvSpPr>
        <p:spPr>
          <a:xfrm>
            <a:off x="7242048" y="91440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20" name="TextBox 19"/>
          <p:cNvSpPr txBox="1"/>
          <p:nvPr/>
        </p:nvSpPr>
        <p:spPr>
          <a:xfrm>
            <a:off x="6537960" y="132588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21" name="Rectangle 20"/>
          <p:cNvSpPr/>
          <p:nvPr/>
        </p:nvSpPr>
        <p:spPr>
          <a:xfrm>
            <a:off x="7406640" y="822960"/>
            <a:ext cx="1051560" cy="41148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Member is connected to a live agent</a:t>
            </a:r>
          </a:p>
        </p:txBody>
      </p:sp>
      <p:sp>
        <p:nvSpPr>
          <p:cNvPr id="22" name="Rounded Rectangle 21"/>
          <p:cNvSpPr/>
          <p:nvPr/>
        </p:nvSpPr>
        <p:spPr>
          <a:xfrm>
            <a:off x="7406640" y="2331720"/>
            <a:ext cx="1463040" cy="164592"/>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600" b="1">
                <a:solidFill>
                  <a:srgbClr val="FFFFFF"/>
                </a:solidFill>
                <a:latin typeface="Calibri"/>
              </a:rPr>
              <a:t>Live Chat with Agent Starts</a:t>
            </a:r>
          </a:p>
        </p:txBody>
      </p:sp>
      <p:sp>
        <p:nvSpPr>
          <p:cNvPr id="23" name="Rounded Rectangle 22"/>
          <p:cNvSpPr/>
          <p:nvPr/>
        </p:nvSpPr>
        <p:spPr>
          <a:xfrm>
            <a:off x="8686800" y="548640"/>
            <a:ext cx="2286000" cy="640080"/>
          </a:xfrm>
          <a:prstGeom prst="roundRect">
            <a:avLst/>
          </a:prstGeom>
          <a:solidFill>
            <a:srgbClr val="FFC000"/>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600" b="0">
                <a:solidFill>
                  <a:srgbClr val="000000"/>
                </a:solidFill>
                <a:latin typeface="Calibri"/>
              </a:rPr>
              <a:t>Different language will be auto translated into the user's language on both ends.</a:t>
            </a:r>
          </a:p>
        </p:txBody>
      </p:sp>
      <p:sp>
        <p:nvSpPr>
          <p:cNvPr id="24" name="Rounded Rectangle 23"/>
          <p:cNvSpPr/>
          <p:nvPr/>
        </p:nvSpPr>
        <p:spPr>
          <a:xfrm>
            <a:off x="8686800" y="1325880"/>
            <a:ext cx="2011680" cy="1097280"/>
          </a:xfrm>
          <a:prstGeom prst="roundRect">
            <a:avLst/>
          </a:prstGeom>
          <a:solidFill>
            <a:srgbClr val="C5E0B4"/>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500" b="0">
                <a:solidFill>
                  <a:srgbClr val="000000"/>
                </a:solidFill>
                <a:latin typeface="Calibri"/>
              </a:rPr>
              <a:t>Chat Topics (additional topics based on Phase 1 findings)
• Account information
• Plan documents
• Additional care programs
• Monthly payments
  (Only for IFP Trio plan)
• Something else</a:t>
            </a:r>
          </a:p>
        </p:txBody>
      </p:sp>
      <p:sp>
        <p:nvSpPr>
          <p:cNvPr id="25" name="Rectangle 24"/>
          <p:cNvSpPr/>
          <p:nvPr/>
        </p:nvSpPr>
        <p:spPr>
          <a:xfrm>
            <a:off x="731520" y="2743200"/>
            <a:ext cx="960120" cy="41148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Agent log into ShieldAdvisor Genesys</a:t>
            </a:r>
          </a:p>
        </p:txBody>
      </p:sp>
      <p:sp>
        <p:nvSpPr>
          <p:cNvPr id="26" name="Rectangle 25"/>
          <p:cNvSpPr/>
          <p:nvPr/>
        </p:nvSpPr>
        <p:spPr>
          <a:xfrm>
            <a:off x="1828800" y="2743200"/>
            <a:ext cx="960120" cy="41148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Agent receives chat from the portal and initiates greeting</a:t>
            </a:r>
          </a:p>
        </p:txBody>
      </p:sp>
      <p:sp>
        <p:nvSpPr>
          <p:cNvPr id="27" name="Rectangle 26"/>
          <p:cNvSpPr/>
          <p:nvPr/>
        </p:nvSpPr>
        <p:spPr>
          <a:xfrm>
            <a:off x="3017520" y="2743200"/>
            <a:ext cx="1097280" cy="41148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Assist with the member with their inquiry utilizing existing workflow</a:t>
            </a:r>
          </a:p>
        </p:txBody>
      </p:sp>
      <p:sp>
        <p:nvSpPr>
          <p:cNvPr id="28" name="Rectangle 27"/>
          <p:cNvSpPr/>
          <p:nvPr/>
        </p:nvSpPr>
        <p:spPr>
          <a:xfrm>
            <a:off x="4297680" y="2743200"/>
            <a:ext cx="1097280" cy="41148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Use closing scripting with survey link and close out the chat</a:t>
            </a:r>
          </a:p>
        </p:txBody>
      </p:sp>
      <p:sp>
        <p:nvSpPr>
          <p:cNvPr id="29" name="Rectangle 28"/>
          <p:cNvSpPr/>
          <p:nvPr/>
        </p:nvSpPr>
        <p:spPr>
          <a:xfrm>
            <a:off x="5577840" y="2743200"/>
            <a:ext cx="914400" cy="41148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Document notes in ShieldAdvisor</a:t>
            </a:r>
          </a:p>
        </p:txBody>
      </p:sp>
      <p:sp>
        <p:nvSpPr>
          <p:cNvPr id="30" name="Oval 29"/>
          <p:cNvSpPr/>
          <p:nvPr/>
        </p:nvSpPr>
        <p:spPr>
          <a:xfrm>
            <a:off x="6675120" y="2807208"/>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a:solidFill>
                  <a:srgbClr val="FFFFFF"/>
                </a:solidFill>
                <a:latin typeface="Calibri"/>
              </a:rPr>
              <a:t>Quality Assurance Audits</a:t>
            </a:r>
          </a:p>
        </p:txBody>
      </p:sp>
      <p:sp>
        <p:nvSpPr>
          <p:cNvPr id="3" name="Rectangle 2"/>
          <p:cNvSpPr/>
          <p:nvPr/>
        </p:nvSpPr>
        <p:spPr>
          <a:xfrm>
            <a:off x="11430000" y="0"/>
            <a:ext cx="76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sp>
        <p:nvSpPr>
          <p:cNvPr id="4" name="Rectangle 3"/>
          <p:cNvSpPr/>
          <p:nvPr/>
        </p:nvSpPr>
        <p:spPr>
          <a:xfrm>
            <a:off x="0" y="50292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2920"/>
            <a:ext cx="640080" cy="32004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Quality
Assurance</a:t>
            </a:r>
          </a:p>
        </p:txBody>
      </p:sp>
      <p:sp>
        <p:nvSpPr>
          <p:cNvPr id="6" name="Rectangle 5"/>
          <p:cNvSpPr/>
          <p:nvPr/>
        </p:nvSpPr>
        <p:spPr>
          <a:xfrm>
            <a:off x="0" y="370332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3703320"/>
            <a:ext cx="640080" cy="301752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Chat Customer
Care Agent</a:t>
            </a:r>
          </a:p>
        </p:txBody>
      </p:sp>
      <p:sp>
        <p:nvSpPr>
          <p:cNvPr id="8" name="Rectangle 7"/>
          <p:cNvSpPr/>
          <p:nvPr/>
        </p:nvSpPr>
        <p:spPr>
          <a:xfrm>
            <a:off x="0" y="672084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1520" y="914400"/>
            <a:ext cx="594360" cy="320040"/>
          </a:xfrm>
          <a:prstGeom prst="ellipse">
            <a:avLst/>
          </a:prstGeom>
          <a:solidFill>
            <a:srgbClr val="00B05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Start</a:t>
            </a:r>
          </a:p>
        </p:txBody>
      </p:sp>
      <p:sp>
        <p:nvSpPr>
          <p:cNvPr id="10" name="Rectangle 9"/>
          <p:cNvSpPr/>
          <p:nvPr/>
        </p:nvSpPr>
        <p:spPr>
          <a:xfrm>
            <a:off x="1417320" y="822960"/>
            <a:ext cx="105156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Log into Verint and locate chat agent recordings</a:t>
            </a:r>
          </a:p>
        </p:txBody>
      </p:sp>
      <p:sp>
        <p:nvSpPr>
          <p:cNvPr id="11" name="Rectangle 10"/>
          <p:cNvSpPr/>
          <p:nvPr/>
        </p:nvSpPr>
        <p:spPr>
          <a:xfrm>
            <a:off x="2606040" y="822960"/>
            <a:ext cx="105156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Select a random recording to begin audit</a:t>
            </a:r>
          </a:p>
        </p:txBody>
      </p:sp>
      <p:sp>
        <p:nvSpPr>
          <p:cNvPr id="12" name="Rectangle 11"/>
          <p:cNvSpPr/>
          <p:nvPr/>
        </p:nvSpPr>
        <p:spPr>
          <a:xfrm>
            <a:off x="3794760" y="822960"/>
            <a:ext cx="118872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Audit chat recording for accuracy, compliance, and workflow adherence using same scorecard as phone agents</a:t>
            </a:r>
          </a:p>
        </p:txBody>
      </p:sp>
      <p:sp>
        <p:nvSpPr>
          <p:cNvPr id="13" name="Rectangle 12"/>
          <p:cNvSpPr/>
          <p:nvPr/>
        </p:nvSpPr>
        <p:spPr>
          <a:xfrm>
            <a:off x="5120640" y="822960"/>
            <a:ext cx="105156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Save audits and notes in Verint</a:t>
            </a:r>
          </a:p>
        </p:txBody>
      </p:sp>
      <p:sp>
        <p:nvSpPr>
          <p:cNvPr id="14" name="Diamond 13"/>
          <p:cNvSpPr/>
          <p:nvPr/>
        </p:nvSpPr>
        <p:spPr>
          <a:xfrm>
            <a:off x="6309360" y="777240"/>
            <a:ext cx="1005840" cy="64008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Determine if a corrective action is needed</a:t>
            </a:r>
          </a:p>
        </p:txBody>
      </p:sp>
      <p:sp>
        <p:nvSpPr>
          <p:cNvPr id="15" name="TextBox 14"/>
          <p:cNvSpPr txBox="1"/>
          <p:nvPr/>
        </p:nvSpPr>
        <p:spPr>
          <a:xfrm>
            <a:off x="7333488" y="100584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16" name="TextBox 15"/>
          <p:cNvSpPr txBox="1"/>
          <p:nvPr/>
        </p:nvSpPr>
        <p:spPr>
          <a:xfrm>
            <a:off x="6629400" y="146304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17" name="Oval 16"/>
          <p:cNvSpPr/>
          <p:nvPr/>
        </p:nvSpPr>
        <p:spPr>
          <a:xfrm>
            <a:off x="7498079" y="91440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18" name="Rectangle 17"/>
          <p:cNvSpPr/>
          <p:nvPr/>
        </p:nvSpPr>
        <p:spPr>
          <a:xfrm>
            <a:off x="6126480" y="1645920"/>
            <a:ext cx="118872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Send an email to supervisor and agent with audit information and corrective action</a:t>
            </a:r>
          </a:p>
        </p:txBody>
      </p:sp>
      <p:sp>
        <p:nvSpPr>
          <p:cNvPr id="19" name="Diamond 18"/>
          <p:cNvSpPr/>
          <p:nvPr/>
        </p:nvSpPr>
        <p:spPr>
          <a:xfrm>
            <a:off x="7498079" y="1600200"/>
            <a:ext cx="1097280" cy="64008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Determine if response has been received within four (4) business days</a:t>
            </a:r>
          </a:p>
        </p:txBody>
      </p:sp>
      <p:sp>
        <p:nvSpPr>
          <p:cNvPr id="20" name="TextBox 19"/>
          <p:cNvSpPr txBox="1"/>
          <p:nvPr/>
        </p:nvSpPr>
        <p:spPr>
          <a:xfrm>
            <a:off x="8613647" y="178308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21" name="TextBox 20"/>
          <p:cNvSpPr txBox="1"/>
          <p:nvPr/>
        </p:nvSpPr>
        <p:spPr>
          <a:xfrm>
            <a:off x="7863840" y="228600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22" name="Rectangle 21"/>
          <p:cNvSpPr/>
          <p:nvPr/>
        </p:nvSpPr>
        <p:spPr>
          <a:xfrm>
            <a:off x="8778240" y="1645920"/>
            <a:ext cx="91440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Update notes in Verint</a:t>
            </a:r>
          </a:p>
        </p:txBody>
      </p:sp>
      <p:sp>
        <p:nvSpPr>
          <p:cNvPr id="23" name="Oval 22"/>
          <p:cNvSpPr/>
          <p:nvPr/>
        </p:nvSpPr>
        <p:spPr>
          <a:xfrm>
            <a:off x="9875520" y="173736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24" name="Rectangle 23"/>
          <p:cNvSpPr/>
          <p:nvPr/>
        </p:nvSpPr>
        <p:spPr>
          <a:xfrm>
            <a:off x="7406640" y="2377440"/>
            <a:ext cx="109728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Send an email follow up request</a:t>
            </a:r>
          </a:p>
        </p:txBody>
      </p:sp>
      <p:sp>
        <p:nvSpPr>
          <p:cNvPr id="25" name="Rectangle 24"/>
          <p:cNvSpPr/>
          <p:nvPr/>
        </p:nvSpPr>
        <p:spPr>
          <a:xfrm>
            <a:off x="8686800" y="2377440"/>
            <a:ext cx="109728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Continue following up until a response is received</a:t>
            </a:r>
          </a:p>
        </p:txBody>
      </p:sp>
      <p:sp>
        <p:nvSpPr>
          <p:cNvPr id="26" name="Oval 25"/>
          <p:cNvSpPr/>
          <p:nvPr/>
        </p:nvSpPr>
        <p:spPr>
          <a:xfrm>
            <a:off x="9966960" y="246888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27" name="Rectangle 26"/>
          <p:cNvSpPr/>
          <p:nvPr/>
        </p:nvSpPr>
        <p:spPr>
          <a:xfrm>
            <a:off x="731520" y="4114800"/>
            <a:ext cx="109728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Log in to Verint regularly to review routine audits</a:t>
            </a:r>
          </a:p>
        </p:txBody>
      </p:sp>
      <p:sp>
        <p:nvSpPr>
          <p:cNvPr id="28" name="Rectangle 27"/>
          <p:cNvSpPr/>
          <p:nvPr/>
        </p:nvSpPr>
        <p:spPr>
          <a:xfrm>
            <a:off x="2011680" y="4114800"/>
            <a:ext cx="109728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Review Outlook daily for any corrective action emails</a:t>
            </a:r>
          </a:p>
        </p:txBody>
      </p:sp>
      <p:sp>
        <p:nvSpPr>
          <p:cNvPr id="29" name="Diamond 28"/>
          <p:cNvSpPr/>
          <p:nvPr/>
        </p:nvSpPr>
        <p:spPr>
          <a:xfrm>
            <a:off x="3291840" y="4023360"/>
            <a:ext cx="1005840" cy="64008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Determine if a corrective action is needed</a:t>
            </a:r>
          </a:p>
        </p:txBody>
      </p:sp>
      <p:sp>
        <p:nvSpPr>
          <p:cNvPr id="30" name="TextBox 29"/>
          <p:cNvSpPr txBox="1"/>
          <p:nvPr/>
        </p:nvSpPr>
        <p:spPr>
          <a:xfrm>
            <a:off x="4315968" y="420624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31" name="TextBox 30"/>
          <p:cNvSpPr txBox="1"/>
          <p:nvPr/>
        </p:nvSpPr>
        <p:spPr>
          <a:xfrm>
            <a:off x="3611880" y="470916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32" name="Rectangle 31"/>
          <p:cNvSpPr/>
          <p:nvPr/>
        </p:nvSpPr>
        <p:spPr>
          <a:xfrm>
            <a:off x="4480560" y="4114800"/>
            <a:ext cx="105156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Review feedback from audits</a:t>
            </a:r>
          </a:p>
        </p:txBody>
      </p:sp>
      <p:sp>
        <p:nvSpPr>
          <p:cNvPr id="33" name="Oval 32"/>
          <p:cNvSpPr/>
          <p:nvPr/>
        </p:nvSpPr>
        <p:spPr>
          <a:xfrm>
            <a:off x="5669280" y="420624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34" name="Rectangle 33"/>
          <p:cNvSpPr/>
          <p:nvPr/>
        </p:nvSpPr>
        <p:spPr>
          <a:xfrm>
            <a:off x="3108960" y="4846320"/>
            <a:ext cx="118872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Complete corrective action and respond to the audit within four (4) business days</a:t>
            </a:r>
          </a:p>
        </p:txBody>
      </p:sp>
      <p:sp>
        <p:nvSpPr>
          <p:cNvPr id="35" name="Oval 34"/>
          <p:cNvSpPr/>
          <p:nvPr/>
        </p:nvSpPr>
        <p:spPr>
          <a:xfrm>
            <a:off x="4480560" y="493776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36" name="Rounded Rectangle 35"/>
          <p:cNvSpPr/>
          <p:nvPr/>
        </p:nvSpPr>
        <p:spPr>
          <a:xfrm>
            <a:off x="7772400" y="4114800"/>
            <a:ext cx="3200400" cy="457200"/>
          </a:xfrm>
          <a:prstGeom prst="roundRect">
            <a:avLst/>
          </a:prstGeom>
          <a:solidFill>
            <a:srgbClr val="FFC000"/>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600" b="0">
                <a:solidFill>
                  <a:srgbClr val="000000"/>
                </a:solidFill>
                <a:latin typeface="Calibri"/>
              </a:rPr>
              <a:t>10 audits per agent are to be completed monthly until success criteria is met then move to 5 audits monthly.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a:solidFill>
                  <a:srgbClr val="FFFFFF"/>
                </a:solidFill>
                <a:latin typeface="Calibri"/>
              </a:rPr>
              <a:t>Appeals and Grievance Oversight (Speech Analytics)</a:t>
            </a:r>
          </a:p>
        </p:txBody>
      </p:sp>
      <p:sp>
        <p:nvSpPr>
          <p:cNvPr id="3" name="Rectangle 2"/>
          <p:cNvSpPr/>
          <p:nvPr/>
        </p:nvSpPr>
        <p:spPr>
          <a:xfrm>
            <a:off x="11430000" y="0"/>
            <a:ext cx="76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sp>
        <p:nvSpPr>
          <p:cNvPr id="4" name="Rectangle 3"/>
          <p:cNvSpPr/>
          <p:nvPr/>
        </p:nvSpPr>
        <p:spPr>
          <a:xfrm>
            <a:off x="0" y="50292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2920"/>
            <a:ext cx="640080" cy="2743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Operations
Specialist</a:t>
            </a:r>
          </a:p>
        </p:txBody>
      </p:sp>
      <p:sp>
        <p:nvSpPr>
          <p:cNvPr id="6" name="Rectangle 5"/>
          <p:cNvSpPr/>
          <p:nvPr/>
        </p:nvSpPr>
        <p:spPr>
          <a:xfrm>
            <a:off x="0" y="324612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3246120"/>
            <a:ext cx="640080" cy="347472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rgbClr val="FFFFFF"/>
                </a:solidFill>
                <a:latin typeface="Calibri"/>
              </a:rPr>
              <a:t>Quality
Assurance</a:t>
            </a:r>
          </a:p>
        </p:txBody>
      </p:sp>
      <p:sp>
        <p:nvSpPr>
          <p:cNvPr id="8" name="Rectangle 7"/>
          <p:cNvSpPr/>
          <p:nvPr/>
        </p:nvSpPr>
        <p:spPr>
          <a:xfrm>
            <a:off x="0" y="6720840"/>
            <a:ext cx="12191695" cy="13716"/>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1520" y="1097280"/>
            <a:ext cx="594360" cy="320040"/>
          </a:xfrm>
          <a:prstGeom prst="ellipse">
            <a:avLst/>
          </a:prstGeom>
          <a:solidFill>
            <a:srgbClr val="00B05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Start</a:t>
            </a:r>
          </a:p>
        </p:txBody>
      </p:sp>
      <p:sp>
        <p:nvSpPr>
          <p:cNvPr id="10" name="Rectangle 9"/>
          <p:cNvSpPr/>
          <p:nvPr/>
        </p:nvSpPr>
        <p:spPr>
          <a:xfrm>
            <a:off x="1417320" y="1005839"/>
            <a:ext cx="118872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Pull system report for previous business day using dissatisfied terms</a:t>
            </a:r>
          </a:p>
        </p:txBody>
      </p:sp>
      <p:sp>
        <p:nvSpPr>
          <p:cNvPr id="11" name="Diamond 10"/>
          <p:cNvSpPr/>
          <p:nvPr/>
        </p:nvSpPr>
        <p:spPr>
          <a:xfrm>
            <a:off x="2834640" y="960120"/>
            <a:ext cx="1005840" cy="64008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Determine if any cases populated</a:t>
            </a:r>
          </a:p>
        </p:txBody>
      </p:sp>
      <p:sp>
        <p:nvSpPr>
          <p:cNvPr id="12" name="TextBox 11"/>
          <p:cNvSpPr txBox="1"/>
          <p:nvPr/>
        </p:nvSpPr>
        <p:spPr>
          <a:xfrm>
            <a:off x="3858768" y="118872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13" name="TextBox 12"/>
          <p:cNvSpPr txBox="1"/>
          <p:nvPr/>
        </p:nvSpPr>
        <p:spPr>
          <a:xfrm>
            <a:off x="3154680" y="1645919"/>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14" name="Oval 13"/>
          <p:cNvSpPr/>
          <p:nvPr/>
        </p:nvSpPr>
        <p:spPr>
          <a:xfrm>
            <a:off x="2926080" y="182880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15" name="Rectangle 14"/>
          <p:cNvSpPr/>
          <p:nvPr/>
        </p:nvSpPr>
        <p:spPr>
          <a:xfrm>
            <a:off x="4023360" y="1005839"/>
            <a:ext cx="118872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Upload cases to Speech Analytics OneDrive report</a:t>
            </a:r>
          </a:p>
        </p:txBody>
      </p:sp>
      <p:sp>
        <p:nvSpPr>
          <p:cNvPr id="16" name="Rectangle 15"/>
          <p:cNvSpPr/>
          <p:nvPr/>
        </p:nvSpPr>
        <p:spPr>
          <a:xfrm>
            <a:off x="731520" y="3657600"/>
            <a:ext cx="109728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Review Speech Analytics OneDrive report daily</a:t>
            </a:r>
          </a:p>
        </p:txBody>
      </p:sp>
      <p:sp>
        <p:nvSpPr>
          <p:cNvPr id="17" name="Diamond 16"/>
          <p:cNvSpPr/>
          <p:nvPr/>
        </p:nvSpPr>
        <p:spPr>
          <a:xfrm>
            <a:off x="2011680" y="3566160"/>
            <a:ext cx="1005840" cy="64008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Determine if new cases were added</a:t>
            </a:r>
          </a:p>
        </p:txBody>
      </p:sp>
      <p:sp>
        <p:nvSpPr>
          <p:cNvPr id="18" name="TextBox 17"/>
          <p:cNvSpPr txBox="1"/>
          <p:nvPr/>
        </p:nvSpPr>
        <p:spPr>
          <a:xfrm>
            <a:off x="3035808" y="3749039"/>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19" name="TextBox 18"/>
          <p:cNvSpPr txBox="1"/>
          <p:nvPr/>
        </p:nvSpPr>
        <p:spPr>
          <a:xfrm>
            <a:off x="2331720" y="4251960"/>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20" name="Oval 19"/>
          <p:cNvSpPr/>
          <p:nvPr/>
        </p:nvSpPr>
        <p:spPr>
          <a:xfrm>
            <a:off x="2103120" y="443484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21" name="Rectangle 20"/>
          <p:cNvSpPr/>
          <p:nvPr/>
        </p:nvSpPr>
        <p:spPr>
          <a:xfrm>
            <a:off x="3200400" y="3657600"/>
            <a:ext cx="118872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Locate and review the case(s) in ShieldAdvisor and Verint</a:t>
            </a:r>
          </a:p>
        </p:txBody>
      </p:sp>
      <p:sp>
        <p:nvSpPr>
          <p:cNvPr id="22" name="Rectangle 21"/>
          <p:cNvSpPr/>
          <p:nvPr/>
        </p:nvSpPr>
        <p:spPr>
          <a:xfrm>
            <a:off x="4572000" y="3657600"/>
            <a:ext cx="118872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Audit chat recording for accuracy, compliance, and workflow adherence</a:t>
            </a:r>
          </a:p>
        </p:txBody>
      </p:sp>
      <p:sp>
        <p:nvSpPr>
          <p:cNvPr id="23" name="Rectangle 22"/>
          <p:cNvSpPr/>
          <p:nvPr/>
        </p:nvSpPr>
        <p:spPr>
          <a:xfrm>
            <a:off x="5943600" y="3657600"/>
            <a:ext cx="109728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Document findings in the Speech Analytics OneDrive report</a:t>
            </a:r>
          </a:p>
        </p:txBody>
      </p:sp>
      <p:sp>
        <p:nvSpPr>
          <p:cNvPr id="24" name="Diamond 23"/>
          <p:cNvSpPr/>
          <p:nvPr/>
        </p:nvSpPr>
        <p:spPr>
          <a:xfrm>
            <a:off x="7223760" y="3566160"/>
            <a:ext cx="1097280" cy="64008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Determine if the case was categorized correctly by the agent</a:t>
            </a:r>
          </a:p>
        </p:txBody>
      </p:sp>
      <p:sp>
        <p:nvSpPr>
          <p:cNvPr id="25" name="TextBox 24"/>
          <p:cNvSpPr txBox="1"/>
          <p:nvPr/>
        </p:nvSpPr>
        <p:spPr>
          <a:xfrm>
            <a:off x="8339327" y="3749039"/>
            <a:ext cx="320040" cy="164592"/>
          </a:xfrm>
          <a:prstGeom prst="rect">
            <a:avLst/>
          </a:prstGeom>
          <a:noFill/>
        </p:spPr>
        <p:txBody>
          <a:bodyPr wrap="none">
            <a:spAutoFit/>
          </a:bodyPr>
          <a:lstStyle/>
          <a:p>
            <a:pPr algn="ctr"/>
            <a:r>
              <a:rPr sz="450" b="1">
                <a:solidFill>
                  <a:srgbClr val="000000"/>
                </a:solidFill>
                <a:latin typeface="Calibri"/>
              </a:rPr>
              <a:t>No</a:t>
            </a:r>
          </a:p>
        </p:txBody>
      </p:sp>
      <p:sp>
        <p:nvSpPr>
          <p:cNvPr id="26" name="TextBox 25"/>
          <p:cNvSpPr txBox="1"/>
          <p:nvPr/>
        </p:nvSpPr>
        <p:spPr>
          <a:xfrm>
            <a:off x="7589520" y="4251960"/>
            <a:ext cx="320040" cy="164592"/>
          </a:xfrm>
          <a:prstGeom prst="rect">
            <a:avLst/>
          </a:prstGeom>
          <a:noFill/>
        </p:spPr>
        <p:txBody>
          <a:bodyPr wrap="none">
            <a:spAutoFit/>
          </a:bodyPr>
          <a:lstStyle/>
          <a:p>
            <a:pPr algn="ctr"/>
            <a:r>
              <a:rPr sz="450" b="1">
                <a:solidFill>
                  <a:srgbClr val="000000"/>
                </a:solidFill>
                <a:latin typeface="Calibri"/>
              </a:rPr>
              <a:t>Yes</a:t>
            </a:r>
          </a:p>
        </p:txBody>
      </p:sp>
      <p:sp>
        <p:nvSpPr>
          <p:cNvPr id="27" name="Oval 26"/>
          <p:cNvSpPr/>
          <p:nvPr/>
        </p:nvSpPr>
        <p:spPr>
          <a:xfrm>
            <a:off x="7406640" y="443484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28" name="Rectangle 27"/>
          <p:cNvSpPr/>
          <p:nvPr/>
        </p:nvSpPr>
        <p:spPr>
          <a:xfrm>
            <a:off x="8503920" y="3657600"/>
            <a:ext cx="118872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50" b="0">
                <a:solidFill>
                  <a:srgbClr val="FFFFFF"/>
                </a:solidFill>
                <a:latin typeface="Calibri"/>
              </a:rPr>
              <a:t>Update subject and category and add notes to the original case</a:t>
            </a:r>
          </a:p>
        </p:txBody>
      </p:sp>
      <p:sp>
        <p:nvSpPr>
          <p:cNvPr id="29" name="Diamond 28"/>
          <p:cNvSpPr/>
          <p:nvPr/>
        </p:nvSpPr>
        <p:spPr>
          <a:xfrm>
            <a:off x="9875520" y="3566160"/>
            <a:ext cx="1097280" cy="640080"/>
          </a:xfrm>
          <a:prstGeom prst="diamond">
            <a:avLst/>
          </a:prstGeom>
          <a:solidFill>
            <a:srgbClr val="2E75B6"/>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Determine if the case(s) needed to be exempt grievance or grievance</a:t>
            </a:r>
          </a:p>
        </p:txBody>
      </p:sp>
      <p:sp>
        <p:nvSpPr>
          <p:cNvPr id="30" name="TextBox 29"/>
          <p:cNvSpPr txBox="1"/>
          <p:nvPr/>
        </p:nvSpPr>
        <p:spPr>
          <a:xfrm>
            <a:off x="9893808" y="4251960"/>
            <a:ext cx="320040" cy="164592"/>
          </a:xfrm>
          <a:prstGeom prst="rect">
            <a:avLst/>
          </a:prstGeom>
          <a:noFill/>
        </p:spPr>
        <p:txBody>
          <a:bodyPr wrap="none">
            <a:spAutoFit/>
          </a:bodyPr>
          <a:lstStyle/>
          <a:p>
            <a:pPr algn="ctr"/>
            <a:r>
              <a:rPr sz="400" b="1">
                <a:solidFill>
                  <a:srgbClr val="000000"/>
                </a:solidFill>
                <a:latin typeface="Calibri"/>
              </a:rPr>
              <a:t>Exempt
Grievance</a:t>
            </a:r>
          </a:p>
        </p:txBody>
      </p:sp>
      <p:sp>
        <p:nvSpPr>
          <p:cNvPr id="31" name="TextBox 30"/>
          <p:cNvSpPr txBox="1"/>
          <p:nvPr/>
        </p:nvSpPr>
        <p:spPr>
          <a:xfrm>
            <a:off x="10991088" y="3794760"/>
            <a:ext cx="320040" cy="164592"/>
          </a:xfrm>
          <a:prstGeom prst="rect">
            <a:avLst/>
          </a:prstGeom>
          <a:noFill/>
        </p:spPr>
        <p:txBody>
          <a:bodyPr wrap="none">
            <a:spAutoFit/>
          </a:bodyPr>
          <a:lstStyle/>
          <a:p>
            <a:pPr algn="ctr"/>
            <a:r>
              <a:rPr sz="400" b="1">
                <a:solidFill>
                  <a:srgbClr val="000000"/>
                </a:solidFill>
                <a:latin typeface="Calibri"/>
              </a:rPr>
              <a:t>Grievance</a:t>
            </a:r>
          </a:p>
        </p:txBody>
      </p:sp>
      <p:sp>
        <p:nvSpPr>
          <p:cNvPr id="32" name="Oval 31"/>
          <p:cNvSpPr/>
          <p:nvPr/>
        </p:nvSpPr>
        <p:spPr>
          <a:xfrm>
            <a:off x="10058400" y="443484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
        <p:nvSpPr>
          <p:cNvPr id="33" name="Rectangle 32"/>
          <p:cNvSpPr/>
          <p:nvPr/>
        </p:nvSpPr>
        <p:spPr>
          <a:xfrm>
            <a:off x="10972800" y="3657600"/>
            <a:ext cx="1097280" cy="457200"/>
          </a:xfrm>
          <a:prstGeom prst="rect">
            <a:avLst/>
          </a:prstGeom>
          <a:solidFill>
            <a:srgbClr val="4472C4"/>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500" b="0">
                <a:solidFill>
                  <a:srgbClr val="FFFFFF"/>
                </a:solidFill>
                <a:latin typeface="Calibri"/>
              </a:rPr>
              <a:t>Pend the case to AGD and notify chat leadership and Erik Ceja</a:t>
            </a:r>
          </a:p>
        </p:txBody>
      </p:sp>
      <p:sp>
        <p:nvSpPr>
          <p:cNvPr id="34" name="Oval 33"/>
          <p:cNvSpPr/>
          <p:nvPr/>
        </p:nvSpPr>
        <p:spPr>
          <a:xfrm>
            <a:off x="11247120" y="4206240"/>
            <a:ext cx="502920" cy="274320"/>
          </a:xfrm>
          <a:prstGeom prst="ellipse">
            <a:avLst/>
          </a:prstGeom>
          <a:solidFill>
            <a:srgbClr val="C00000"/>
          </a:solidFill>
          <a:ln w="6350">
            <a:solidFill>
              <a:srgbClr val="30303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700" b="1">
                <a:solidFill>
                  <a:srgbClr val="FFFFFF"/>
                </a:solidFill>
                <a:latin typeface="Calibri"/>
              </a:rPr>
              <a:t>End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a:solidFill>
                  <a:srgbClr val="FFFFFF"/>
                </a:solidFill>
                <a:latin typeface="Calibri"/>
              </a:rPr>
              <a:t>Chat Topics &amp; Sub-Topics</a:t>
            </a:r>
          </a:p>
        </p:txBody>
      </p:sp>
      <p:sp>
        <p:nvSpPr>
          <p:cNvPr id="3" name="Rectangle 2"/>
          <p:cNvSpPr/>
          <p:nvPr/>
        </p:nvSpPr>
        <p:spPr>
          <a:xfrm>
            <a:off x="11430000" y="0"/>
            <a:ext cx="76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graphicFrame>
        <p:nvGraphicFramePr>
          <p:cNvPr id="4" name="Table 3"/>
          <p:cNvGraphicFramePr>
            <a:graphicFrameLocks noGrp="1"/>
          </p:cNvGraphicFramePr>
          <p:nvPr/>
        </p:nvGraphicFramePr>
        <p:xfrm>
          <a:off x="1371600" y="914400"/>
          <a:ext cx="9144000" cy="4587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762000">
                <a:tc>
                  <a:txBody>
                    <a:bodyPr/>
                    <a:lstStyle/>
                    <a:p>
                      <a:pPr algn="ctr"/>
                      <a:r>
                        <a:rPr sz="1100" b="1">
                          <a:solidFill>
                            <a:srgbClr val="FFFFFF"/>
                          </a:solidFill>
                        </a:rPr>
                        <a:t>Chat Topic</a:t>
                      </a:r>
                    </a:p>
                  </a:txBody>
                  <a:tcPr>
                    <a:solidFill>
                      <a:srgbClr val="003DA5"/>
                    </a:solidFill>
                  </a:tcPr>
                </a:tc>
                <a:tc>
                  <a:txBody>
                    <a:bodyPr/>
                    <a:lstStyle/>
                    <a:p>
                      <a:pPr algn="ctr"/>
                      <a:r>
                        <a:rPr sz="1100" b="1">
                          <a:solidFill>
                            <a:srgbClr val="FFFFFF"/>
                          </a:solidFill>
                        </a:rPr>
                        <a:t>Sub-Topics</a:t>
                      </a:r>
                    </a:p>
                  </a:txBody>
                  <a:tcPr>
                    <a:solidFill>
                      <a:srgbClr val="003DA5"/>
                    </a:solidFill>
                  </a:tcPr>
                </a:tc>
                <a:extLst>
                  <a:ext uri="{0D108BD9-81ED-4DB2-BD59-A6C34878D82A}">
                    <a16:rowId xmlns:a16="http://schemas.microsoft.com/office/drawing/2014/main" val="10000"/>
                  </a:ext>
                </a:extLst>
              </a:tr>
              <a:tr h="762000">
                <a:tc>
                  <a:txBody>
                    <a:bodyPr/>
                    <a:lstStyle/>
                    <a:p>
                      <a:pPr algn="ctr"/>
                      <a:r>
                        <a:rPr sz="1000" b="1">
                          <a:solidFill>
                            <a:srgbClr val="FFFFFF"/>
                          </a:solidFill>
                        </a:rPr>
                        <a:t>Account Information</a:t>
                      </a:r>
                    </a:p>
                  </a:txBody>
                  <a:tcPr>
                    <a:solidFill>
                      <a:srgbClr val="4472C4"/>
                    </a:solidFill>
                  </a:tcPr>
                </a:tc>
                <a:tc>
                  <a:txBody>
                    <a:bodyPr/>
                    <a:lstStyle/>
                    <a:p>
                      <a:r>
                        <a:rPr sz="900"/>
                        <a:t>• Online Claim Submission</a:t>
                      </a:r>
                    </a:p>
                    <a:p>
                      <a:r>
                        <a:rPr sz="900"/>
                        <a:t>• Finding a doctor</a:t>
                      </a:r>
                    </a:p>
                    <a:p>
                      <a:r>
                        <a:rPr sz="900"/>
                        <a:t>• Open Enrollment dates</a:t>
                      </a:r>
                    </a:p>
                    <a:p>
                      <a:r>
                        <a:rPr sz="900"/>
                        <a:t>• Something else</a:t>
                      </a:r>
                    </a:p>
                  </a:txBody>
                  <a:tcPr>
                    <a:solidFill>
                      <a:srgbClr val="F2F2F2"/>
                    </a:solidFill>
                  </a:tcPr>
                </a:tc>
                <a:extLst>
                  <a:ext uri="{0D108BD9-81ED-4DB2-BD59-A6C34878D82A}">
                    <a16:rowId xmlns:a16="http://schemas.microsoft.com/office/drawing/2014/main" val="10001"/>
                  </a:ext>
                </a:extLst>
              </a:tr>
              <a:tr h="762000">
                <a:tc>
                  <a:txBody>
                    <a:bodyPr/>
                    <a:lstStyle/>
                    <a:p>
                      <a:pPr algn="ctr"/>
                      <a:r>
                        <a:rPr sz="1000" b="1">
                          <a:solidFill>
                            <a:srgbClr val="FFFFFF"/>
                          </a:solidFill>
                        </a:rPr>
                        <a:t>Plan Documents</a:t>
                      </a:r>
                    </a:p>
                  </a:txBody>
                  <a:tcPr>
                    <a:solidFill>
                      <a:srgbClr val="4472C4"/>
                    </a:solidFill>
                  </a:tcPr>
                </a:tc>
                <a:tc>
                  <a:txBody>
                    <a:bodyPr/>
                    <a:lstStyle/>
                    <a:p>
                      <a:r>
                        <a:rPr sz="900"/>
                        <a:t>• Your ID card</a:t>
                      </a:r>
                    </a:p>
                    <a:p>
                      <a:r>
                        <a:rPr sz="900"/>
                        <a:t>• Benefit Summary</a:t>
                      </a:r>
                    </a:p>
                    <a:p>
                      <a:r>
                        <a:rPr sz="900"/>
                        <a:t>• Proof of Insurance (1095 form)</a:t>
                      </a:r>
                    </a:p>
                    <a:p>
                      <a:r>
                        <a:rPr sz="900"/>
                        <a:t>• Forms</a:t>
                      </a:r>
                    </a:p>
                    <a:p>
                      <a:r>
                        <a:rPr sz="900"/>
                        <a:t>• Something else</a:t>
                      </a:r>
                    </a:p>
                  </a:txBody>
                  <a:tcPr>
                    <a:solidFill>
                      <a:srgbClr val="F2F2F2"/>
                    </a:solidFill>
                  </a:tcPr>
                </a:tc>
                <a:extLst>
                  <a:ext uri="{0D108BD9-81ED-4DB2-BD59-A6C34878D82A}">
                    <a16:rowId xmlns:a16="http://schemas.microsoft.com/office/drawing/2014/main" val="10002"/>
                  </a:ext>
                </a:extLst>
              </a:tr>
              <a:tr h="762000">
                <a:tc>
                  <a:txBody>
                    <a:bodyPr/>
                    <a:lstStyle/>
                    <a:p>
                      <a:pPr algn="ctr"/>
                      <a:r>
                        <a:rPr sz="1000" b="1">
                          <a:solidFill>
                            <a:srgbClr val="FFFFFF"/>
                          </a:solidFill>
                        </a:rPr>
                        <a:t>Additional Care Programs</a:t>
                      </a:r>
                    </a:p>
                  </a:txBody>
                  <a:tcPr>
                    <a:solidFill>
                      <a:srgbClr val="4472C4"/>
                    </a:solidFill>
                  </a:tcPr>
                </a:tc>
                <a:tc>
                  <a:txBody>
                    <a:bodyPr/>
                    <a:lstStyle/>
                    <a:p>
                      <a:r>
                        <a:rPr sz="900"/>
                        <a:t>• Wellness programs</a:t>
                      </a:r>
                    </a:p>
                    <a:p>
                      <a:r>
                        <a:rPr sz="900"/>
                        <a:t>• Teledoc virtual care</a:t>
                      </a:r>
                    </a:p>
                    <a:p>
                      <a:r>
                        <a:rPr sz="900"/>
                        <a:t>• Nurse help program</a:t>
                      </a:r>
                    </a:p>
                    <a:p>
                      <a:r>
                        <a:rPr sz="900"/>
                        <a:t>• Something else</a:t>
                      </a:r>
                    </a:p>
                  </a:txBody>
                  <a:tcPr>
                    <a:solidFill>
                      <a:srgbClr val="F2F2F2"/>
                    </a:solidFill>
                  </a:tcPr>
                </a:tc>
                <a:extLst>
                  <a:ext uri="{0D108BD9-81ED-4DB2-BD59-A6C34878D82A}">
                    <a16:rowId xmlns:a16="http://schemas.microsoft.com/office/drawing/2014/main" val="10003"/>
                  </a:ext>
                </a:extLst>
              </a:tr>
              <a:tr h="762000">
                <a:tc>
                  <a:txBody>
                    <a:bodyPr/>
                    <a:lstStyle/>
                    <a:p>
                      <a:pPr algn="ctr"/>
                      <a:r>
                        <a:rPr sz="1000" b="1">
                          <a:solidFill>
                            <a:srgbClr val="FFFFFF"/>
                          </a:solidFill>
                        </a:rPr>
                        <a:t>Monthly Payments (IFP only)</a:t>
                      </a:r>
                    </a:p>
                  </a:txBody>
                  <a:tcPr>
                    <a:solidFill>
                      <a:srgbClr val="4472C4"/>
                    </a:solidFill>
                  </a:tcPr>
                </a:tc>
                <a:tc>
                  <a:txBody>
                    <a:bodyPr/>
                    <a:lstStyle/>
                    <a:p>
                      <a:r>
                        <a:rPr sz="900"/>
                        <a:t>• Monthly payment amount</a:t>
                      </a:r>
                    </a:p>
                    <a:p>
                      <a:r>
                        <a:rPr sz="900"/>
                        <a:t>• What you owe</a:t>
                      </a:r>
                    </a:p>
                    <a:p>
                      <a:r>
                        <a:rPr sz="900"/>
                        <a:t>• Something else</a:t>
                      </a:r>
                    </a:p>
                  </a:txBody>
                  <a:tcPr>
                    <a:solidFill>
                      <a:srgbClr val="F2F2F2"/>
                    </a:solidFill>
                  </a:tcPr>
                </a:tc>
                <a:extLst>
                  <a:ext uri="{0D108BD9-81ED-4DB2-BD59-A6C34878D82A}">
                    <a16:rowId xmlns:a16="http://schemas.microsoft.com/office/drawing/2014/main" val="10004"/>
                  </a:ext>
                </a:extLst>
              </a:tr>
              <a:tr h="762000">
                <a:tc>
                  <a:txBody>
                    <a:bodyPr/>
                    <a:lstStyle/>
                    <a:p>
                      <a:pPr algn="ctr"/>
                      <a:r>
                        <a:rPr sz="1000" b="1">
                          <a:solidFill>
                            <a:srgbClr val="FFFFFF"/>
                          </a:solidFill>
                        </a:rPr>
                        <a:t>Something Else</a:t>
                      </a:r>
                    </a:p>
                  </a:txBody>
                  <a:tcPr>
                    <a:solidFill>
                      <a:srgbClr val="4472C4"/>
                    </a:solidFill>
                  </a:tcPr>
                </a:tc>
                <a:tc>
                  <a:txBody>
                    <a:bodyPr/>
                    <a:lstStyle/>
                    <a:p>
                      <a:r>
                        <a:rPr sz="900"/>
                        <a:t>Auto response: Chat is a test and any other topics would require a call to customer service. Line-specific phone number provided.</a:t>
                      </a:r>
                    </a:p>
                  </a:txBody>
                  <a:tcPr>
                    <a:solidFill>
                      <a:srgbClr val="F2F2F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a:solidFill>
                  <a:srgbClr val="FFFFFF"/>
                </a:solidFill>
                <a:latin typeface="Calibri"/>
              </a:rPr>
              <a:t>Non-Member Definition &amp; Closing Script</a:t>
            </a:r>
          </a:p>
        </p:txBody>
      </p:sp>
      <p:sp>
        <p:nvSpPr>
          <p:cNvPr id="3" name="Rectangle 2"/>
          <p:cNvSpPr/>
          <p:nvPr/>
        </p:nvSpPr>
        <p:spPr>
          <a:xfrm>
            <a:off x="11430000" y="0"/>
            <a:ext cx="76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sp>
        <p:nvSpPr>
          <p:cNvPr id="4" name="Rounded Rectangle 3"/>
          <p:cNvSpPr/>
          <p:nvPr/>
        </p:nvSpPr>
        <p:spPr>
          <a:xfrm>
            <a:off x="914400" y="914400"/>
            <a:ext cx="4572000" cy="1371600"/>
          </a:xfrm>
          <a:prstGeom prst="roundRect">
            <a:avLst/>
          </a:prstGeom>
          <a:solidFill>
            <a:srgbClr val="C5E0B4"/>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1000" b="0">
                <a:solidFill>
                  <a:srgbClr val="000000"/>
                </a:solidFill>
                <a:latin typeface="Calibri"/>
              </a:rPr>
              <a:t>Non-Member Definition:
Anyone other than the member. Example:
• Spouse
• Friend
• Relative</a:t>
            </a:r>
          </a:p>
        </p:txBody>
      </p:sp>
      <p:sp>
        <p:nvSpPr>
          <p:cNvPr id="5" name="Rounded Rectangle 4"/>
          <p:cNvSpPr/>
          <p:nvPr/>
        </p:nvSpPr>
        <p:spPr>
          <a:xfrm>
            <a:off x="6400800" y="914400"/>
            <a:ext cx="5029200" cy="2286000"/>
          </a:xfrm>
          <a:prstGeom prst="roundRect">
            <a:avLst/>
          </a:prstGeom>
          <a:solidFill>
            <a:srgbClr val="DDEBF7"/>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900" b="0">
                <a:solidFill>
                  <a:srgbClr val="000000"/>
                </a:solidFill>
                <a:latin typeface="Calibri"/>
              </a:rPr>
              <a:t>Closing Script:
Thank you for using our live chat. If you don't have any more questions, I will close the chat. To help us improve your customer service experience in the future, please consider clicking on the attached link to take our brief survey. Thank you for being a valued member, have a wonderful day!</a:t>
            </a:r>
          </a:p>
        </p:txBody>
      </p:sp>
      <p:sp>
        <p:nvSpPr>
          <p:cNvPr id="6" name="Rounded Rectangle 5"/>
          <p:cNvSpPr/>
          <p:nvPr/>
        </p:nvSpPr>
        <p:spPr>
          <a:xfrm>
            <a:off x="914400" y="2743200"/>
            <a:ext cx="10515600" cy="1371600"/>
          </a:xfrm>
          <a:prstGeom prst="roundRect">
            <a:avLst/>
          </a:prstGeom>
          <a:solidFill>
            <a:srgbClr val="FEF2CC"/>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1000" b="0">
                <a:solidFill>
                  <a:srgbClr val="000000"/>
                </a:solidFill>
                <a:latin typeface="Calibri"/>
              </a:rPr>
              <a:t>Training Topics:
• Understanding PHI and Access to Information
• 2024 IFP Important Dates
• Member Portal Inquiries
• Billing and Payments/Fiserv_ShieldAdvisor
• Appeals and Grievances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a:solidFill>
                  <a:srgbClr val="FFFFFF"/>
                </a:solidFill>
                <a:latin typeface="Calibri"/>
              </a:rPr>
              <a:t>Survey Questions</a:t>
            </a:r>
          </a:p>
        </p:txBody>
      </p:sp>
      <p:sp>
        <p:nvSpPr>
          <p:cNvPr id="3" name="Rectangle 2"/>
          <p:cNvSpPr/>
          <p:nvPr/>
        </p:nvSpPr>
        <p:spPr>
          <a:xfrm>
            <a:off x="11430000" y="0"/>
            <a:ext cx="76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sp>
        <p:nvSpPr>
          <p:cNvPr id="4" name="Rounded Rectangle 3"/>
          <p:cNvSpPr/>
          <p:nvPr/>
        </p:nvSpPr>
        <p:spPr>
          <a:xfrm>
            <a:off x="731520" y="731520"/>
            <a:ext cx="10515600" cy="5486400"/>
          </a:xfrm>
          <a:prstGeom prst="roundRect">
            <a:avLst/>
          </a:prstGeom>
          <a:solidFill>
            <a:srgbClr val="FFFFFF"/>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1100" b="0">
                <a:solidFill>
                  <a:srgbClr val="000000"/>
                </a:solidFill>
                <a:latin typeface="Calibri"/>
              </a:rPr>
              <a:t>1. Did the chat agent provide you with the information or help needed to resolve your inquiry today?
   Yes / No
2. How easy was it to use this live chat?
   1 Very Hard  |  2  |  3  |  4  |  5 Very Easy
3. Based upon your chat experience today, how satisfied are you that the agent treated you with courtesy and respect?
   1 Very Unsatisfied  |  2  |  3  |  4  |  5 Very Satisfied
4. How likely are you to use the chat feature to correspond with a live agent, in the future?
   1 Very unlikely  |  2  |  3  |  4  |  5 Very likely
5. What is the ONE thing we can do to improve your experience?
   Free form response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400" b="1">
                <a:solidFill>
                  <a:srgbClr val="FFFFFF"/>
                </a:solidFill>
                <a:latin typeface="Calibri"/>
              </a:rPr>
              <a:t>Audit Scorecard &amp; Success Criteria</a:t>
            </a:r>
          </a:p>
        </p:txBody>
      </p:sp>
      <p:sp>
        <p:nvSpPr>
          <p:cNvPr id="3" name="Rectangle 2"/>
          <p:cNvSpPr/>
          <p:nvPr/>
        </p:nvSpPr>
        <p:spPr>
          <a:xfrm>
            <a:off x="11430000" y="0"/>
            <a:ext cx="761695" cy="457200"/>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900" b="1">
                <a:solidFill>
                  <a:srgbClr val="FFFFFF"/>
                </a:solidFill>
                <a:latin typeface="Calibri"/>
              </a:rPr>
              <a:t>Phase</a:t>
            </a:r>
          </a:p>
        </p:txBody>
      </p:sp>
      <p:graphicFrame>
        <p:nvGraphicFramePr>
          <p:cNvPr id="4" name="Table 3"/>
          <p:cNvGraphicFramePr>
            <a:graphicFrameLocks noGrp="1"/>
          </p:cNvGraphicFramePr>
          <p:nvPr/>
        </p:nvGraphicFramePr>
        <p:xfrm>
          <a:off x="1371600" y="914400"/>
          <a:ext cx="4572000" cy="22860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571500">
                <a:tc>
                  <a:txBody>
                    <a:bodyPr/>
                    <a:lstStyle/>
                    <a:p>
                      <a:pPr algn="ctr"/>
                      <a:r>
                        <a:rPr sz="1200" b="1">
                          <a:solidFill>
                            <a:srgbClr val="FFFFFF"/>
                          </a:solidFill>
                        </a:rPr>
                        <a:t>Category</a:t>
                      </a:r>
                    </a:p>
                  </a:txBody>
                  <a:tcPr>
                    <a:solidFill>
                      <a:srgbClr val="003DA5"/>
                    </a:solidFill>
                  </a:tcPr>
                </a:tc>
                <a:tc>
                  <a:txBody>
                    <a:bodyPr/>
                    <a:lstStyle/>
                    <a:p>
                      <a:pPr algn="ctr"/>
                      <a:r>
                        <a:rPr sz="1200" b="1">
                          <a:solidFill>
                            <a:srgbClr val="FFFFFF"/>
                          </a:solidFill>
                        </a:rPr>
                        <a:t>Points</a:t>
                      </a:r>
                    </a:p>
                  </a:txBody>
                  <a:tcPr>
                    <a:solidFill>
                      <a:srgbClr val="003DA5"/>
                    </a:solidFill>
                  </a:tcPr>
                </a:tc>
                <a:extLst>
                  <a:ext uri="{0D108BD9-81ED-4DB2-BD59-A6C34878D82A}">
                    <a16:rowId xmlns:a16="http://schemas.microsoft.com/office/drawing/2014/main" val="10000"/>
                  </a:ext>
                </a:extLst>
              </a:tr>
              <a:tr h="571500">
                <a:tc>
                  <a:txBody>
                    <a:bodyPr/>
                    <a:lstStyle/>
                    <a:p>
                      <a:pPr algn="ctr"/>
                      <a:r>
                        <a:rPr sz="1100"/>
                        <a:t>Workflow</a:t>
                      </a:r>
                    </a:p>
                  </a:txBody>
                  <a:tcPr>
                    <a:solidFill>
                      <a:srgbClr val="DDEBF7"/>
                    </a:solidFill>
                  </a:tcPr>
                </a:tc>
                <a:tc>
                  <a:txBody>
                    <a:bodyPr/>
                    <a:lstStyle/>
                    <a:p>
                      <a:pPr algn="ctr"/>
                      <a:r>
                        <a:rPr sz="1100"/>
                        <a:t>20 points</a:t>
                      </a:r>
                    </a:p>
                  </a:txBody>
                  <a:tcPr>
                    <a:solidFill>
                      <a:srgbClr val="DDEBF7"/>
                    </a:solidFill>
                  </a:tcPr>
                </a:tc>
                <a:extLst>
                  <a:ext uri="{0D108BD9-81ED-4DB2-BD59-A6C34878D82A}">
                    <a16:rowId xmlns:a16="http://schemas.microsoft.com/office/drawing/2014/main" val="10001"/>
                  </a:ext>
                </a:extLst>
              </a:tr>
              <a:tr h="571500">
                <a:tc>
                  <a:txBody>
                    <a:bodyPr/>
                    <a:lstStyle/>
                    <a:p>
                      <a:pPr algn="ctr"/>
                      <a:r>
                        <a:rPr sz="1100"/>
                        <a:t>Accuracy</a:t>
                      </a:r>
                    </a:p>
                  </a:txBody>
                  <a:tcPr/>
                </a:tc>
                <a:tc>
                  <a:txBody>
                    <a:bodyPr/>
                    <a:lstStyle/>
                    <a:p>
                      <a:pPr algn="ctr"/>
                      <a:r>
                        <a:rPr sz="1100"/>
                        <a:t>40 points</a:t>
                      </a:r>
                    </a:p>
                  </a:txBody>
                  <a:tcPr/>
                </a:tc>
                <a:extLst>
                  <a:ext uri="{0D108BD9-81ED-4DB2-BD59-A6C34878D82A}">
                    <a16:rowId xmlns:a16="http://schemas.microsoft.com/office/drawing/2014/main" val="10002"/>
                  </a:ext>
                </a:extLst>
              </a:tr>
              <a:tr h="571500">
                <a:tc>
                  <a:txBody>
                    <a:bodyPr/>
                    <a:lstStyle/>
                    <a:p>
                      <a:pPr algn="ctr"/>
                      <a:r>
                        <a:rPr sz="1100"/>
                        <a:t>Legal/Compliance</a:t>
                      </a:r>
                    </a:p>
                  </a:txBody>
                  <a:tcPr>
                    <a:solidFill>
                      <a:srgbClr val="DDEBF7"/>
                    </a:solidFill>
                  </a:tcPr>
                </a:tc>
                <a:tc>
                  <a:txBody>
                    <a:bodyPr/>
                    <a:lstStyle/>
                    <a:p>
                      <a:pPr algn="ctr"/>
                      <a:r>
                        <a:rPr sz="1100"/>
                        <a:t>40 points</a:t>
                      </a:r>
                    </a:p>
                  </a:txBody>
                  <a:tcPr>
                    <a:solidFill>
                      <a:srgbClr val="DDEBF7"/>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1371600" y="3657600"/>
            <a:ext cx="9144000" cy="914400"/>
          </a:xfrm>
          <a:prstGeom prst="roundRect">
            <a:avLst/>
          </a:prstGeom>
          <a:solidFill>
            <a:srgbClr val="C5E0B4"/>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1200" b="0">
                <a:solidFill>
                  <a:srgbClr val="000000"/>
                </a:solidFill>
                <a:latin typeface="Calibri"/>
              </a:rPr>
              <a:t>Success Criteria:
Agent must pass 3 consecutive months with average score of 90% or higher.</a:t>
            </a:r>
          </a:p>
        </p:txBody>
      </p:sp>
      <p:sp>
        <p:nvSpPr>
          <p:cNvPr id="6" name="Rounded Rectangle 5"/>
          <p:cNvSpPr/>
          <p:nvPr/>
        </p:nvSpPr>
        <p:spPr>
          <a:xfrm>
            <a:off x="1371600" y="4846320"/>
            <a:ext cx="9144000" cy="1645920"/>
          </a:xfrm>
          <a:prstGeom prst="roundRect">
            <a:avLst/>
          </a:prstGeom>
          <a:solidFill>
            <a:srgbClr val="FEF2CC"/>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spcBef>
                <a:spcPts val="0"/>
              </a:spcBef>
              <a:spcAft>
                <a:spcPts val="0"/>
              </a:spcAft>
            </a:pPr>
            <a:r>
              <a:rPr sz="900" b="0">
                <a:solidFill>
                  <a:srgbClr val="000000"/>
                </a:solidFill>
                <a:latin typeface="Calibri"/>
              </a:rPr>
              <a:t>Appeal Definition:
An appeal is a request for Blue Shield's or Blue Shield Life's reconsideration of an initial determination (either verbal or written) which resulted in the following:
• Complete denial of service, benefit, or claim
• Reduction of benefits or claim payment
• Redirection of service or benefits
• Delay of prospective authorization for services or benefits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D87B488530AED48878B41389673C827" ma:contentTypeVersion="11" ma:contentTypeDescription="Create a new document." ma:contentTypeScope="" ma:versionID="1a1393ae3c6bb3a55f3c38d8a3a3d694">
  <xsd:schema xmlns:xsd="http://www.w3.org/2001/XMLSchema" xmlns:xs="http://www.w3.org/2001/XMLSchema" xmlns:p="http://schemas.microsoft.com/office/2006/metadata/properties" xmlns:ns2="2b48312d-a1bb-4d68-868a-acedad5b1d90" xmlns:ns3="91b11af4-cda1-4f3b-9ff8-a38b85527baa" targetNamespace="http://schemas.microsoft.com/office/2006/metadata/properties" ma:root="true" ma:fieldsID="96a4076d9db359e06bfb034bb362e815" ns2:_="" ns3:_="">
    <xsd:import namespace="2b48312d-a1bb-4d68-868a-acedad5b1d90"/>
    <xsd:import namespace="91b11af4-cda1-4f3b-9ff8-a38b85527ba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48312d-a1bb-4d68-868a-acedad5b1d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f17d4224-802a-4f39-af5d-1b2d989a72c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1b11af4-cda1-4f3b-9ff8-a38b85527ba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503cb14-475a-446d-b944-25c63ab30de4}" ma:internalName="TaxCatchAll" ma:showField="CatchAllData" ma:web="91b11af4-cda1-4f3b-9ff8-a38b85527ba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1b11af4-cda1-4f3b-9ff8-a38b85527baa" xsi:nil="true"/>
    <lcf76f155ced4ddcb4097134ff3c332f xmlns="2b48312d-a1bb-4d68-868a-acedad5b1d9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BC7C5A4-75EE-4E73-A2A8-8D931DF367A3}">
  <ds:schemaRefs>
    <ds:schemaRef ds:uri="http://schemas.microsoft.com/sharepoint/v3/contenttype/forms"/>
  </ds:schemaRefs>
</ds:datastoreItem>
</file>

<file path=customXml/itemProps2.xml><?xml version="1.0" encoding="utf-8"?>
<ds:datastoreItem xmlns:ds="http://schemas.openxmlformats.org/officeDocument/2006/customXml" ds:itemID="{E4F3436F-9EE6-4A16-B31F-E5915A3168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48312d-a1bb-4d68-868a-acedad5b1d90"/>
    <ds:schemaRef ds:uri="91b11af4-cda1-4f3b-9ff8-a38b85527b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B50CF0B-3CB9-423B-9E39-2C572CCE43A3}">
  <ds:schemaRefs>
    <ds:schemaRef ds:uri="http://schemas.microsoft.com/office/2006/metadata/properties"/>
    <ds:schemaRef ds:uri="2b48312d-a1bb-4d68-868a-acedad5b1d90"/>
    <ds:schemaRef ds:uri="http://purl.org/dc/terms/"/>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91b11af4-cda1-4f3b-9ff8-a38b85527baa"/>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1602</TotalTime>
  <Words>2375</Words>
  <Application>Microsoft Office PowerPoint</Application>
  <PresentationFormat>Widescreen</PresentationFormat>
  <Paragraphs>373</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Licas, Kathleen</cp:lastModifiedBy>
  <cp:revision>12</cp:revision>
  <dcterms:created xsi:type="dcterms:W3CDTF">2013-01-27T09:14:16Z</dcterms:created>
  <dcterms:modified xsi:type="dcterms:W3CDTF">2026-06-04T22:26:24Z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0x0101007D87B488530AED48878B41389673C827</vt:lpwstr>
  </property>
  <property fmtid="{D5CDD505-2E9C-101B-9397-08002B2CF9AE}" pid="3" name="MediaServiceImageTags">
    <vt:lpwstr/>
  </property>
</Properties>
</file>