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8" r:id="rId3"/>
    <p:sldId id="268" r:id="rId4"/>
    <p:sldId id="269" r:id="rId5"/>
    <p:sldId id="270" r:id="rId6"/>
    <p:sldId id="265" r:id="rId7"/>
    <p:sldId id="266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45106-4703-CF54-CB8C-B54CC4E0AE1B}" v="3" dt="2026-06-10T20:54:41.260"/>
    <p1510:client id="{6A7F94E6-24E9-8A41-B817-D5BCE76126BC}" v="19" dt="2026-06-10T21:55:05.401"/>
    <p1510:client id="{90F12D95-92FD-B241-8108-7E68FC412CB7}" v="226" dt="2026-06-10T21:52:36.968"/>
    <p1510:client id="{A01C370D-42EF-93CF-1C62-2798D7AB16C2}" v="1" dt="2026-06-11T03:36:45.581"/>
    <p1510:client id="{C0CAA860-372C-3DE0-ABA7-F8CD40229BB0}" v="1581" dt="2026-06-10T22:00:24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583"/>
  </p:normalViewPr>
  <p:slideViewPr>
    <p:cSldViewPr snapToGrid="0">
      <p:cViewPr varScale="1">
        <p:scale>
          <a:sx n="104" d="100"/>
          <a:sy n="104" d="100"/>
        </p:scale>
        <p:origin x="26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slik, Gregory" userId="e662f0de-de9d-432e-bd35-e19d68c24b5b" providerId="ADAL" clId="{1DF4D195-E23B-566C-92FA-3B38D97794AF}"/>
    <pc:docChg chg="modSld">
      <pc:chgData name="Ryslik, Gregory" userId="e662f0de-de9d-432e-bd35-e19d68c24b5b" providerId="ADAL" clId="{1DF4D195-E23B-566C-92FA-3B38D97794AF}" dt="2026-06-10T21:55:05.401" v="18" actId="400"/>
      <pc:docMkLst>
        <pc:docMk/>
      </pc:docMkLst>
      <pc:sldChg chg="modSp mod">
        <pc:chgData name="Ryslik, Gregory" userId="e662f0de-de9d-432e-bd35-e19d68c24b5b" providerId="ADAL" clId="{1DF4D195-E23B-566C-92FA-3B38D97794AF}" dt="2026-06-10T20:41:19.235" v="1" actId="14734"/>
        <pc:sldMkLst>
          <pc:docMk/>
          <pc:sldMk cId="1507461352" sldId="269"/>
        </pc:sldMkLst>
        <pc:graphicFrameChg chg="modGraphic">
          <ac:chgData name="Ryslik, Gregory" userId="e662f0de-de9d-432e-bd35-e19d68c24b5b" providerId="ADAL" clId="{1DF4D195-E23B-566C-92FA-3B38D97794AF}" dt="2026-06-10T20:41:19.235" v="1" actId="14734"/>
          <ac:graphicFrameMkLst>
            <pc:docMk/>
            <pc:sldMk cId="1507461352" sldId="269"/>
            <ac:graphicFrameMk id="7" creationId="{3BA2EED9-5581-CD40-0A32-C00894E13C32}"/>
          </ac:graphicFrameMkLst>
        </pc:graphicFrameChg>
      </pc:sldChg>
      <pc:sldChg chg="modSp mod">
        <pc:chgData name="Ryslik, Gregory" userId="e662f0de-de9d-432e-bd35-e19d68c24b5b" providerId="ADAL" clId="{1DF4D195-E23B-566C-92FA-3B38D97794AF}" dt="2026-06-10T21:55:05.401" v="18" actId="400"/>
        <pc:sldMkLst>
          <pc:docMk/>
          <pc:sldMk cId="3542900219" sldId="270"/>
        </pc:sldMkLst>
        <pc:graphicFrameChg chg="modGraphic">
          <ac:chgData name="Ryslik, Gregory" userId="e662f0de-de9d-432e-bd35-e19d68c24b5b" providerId="ADAL" clId="{1DF4D195-E23B-566C-92FA-3B38D97794AF}" dt="2026-06-10T21:55:05.401" v="18" actId="400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Wallis, Lee" userId="S::lwalli01@stellarus.com::9750bc47-da41-41d6-9cf2-2d8dfec5360a" providerId="AD" clId="Web-{C0CAA860-372C-3DE0-ABA7-F8CD40229BB0}"/>
    <pc:docChg chg="addSld modSld">
      <pc:chgData name="Wallis, Lee" userId="S::lwalli01@stellarus.com::9750bc47-da41-41d6-9cf2-2d8dfec5360a" providerId="AD" clId="Web-{C0CAA860-372C-3DE0-ABA7-F8CD40229BB0}" dt="2026-06-10T22:00:22.413" v="1568"/>
      <pc:docMkLst>
        <pc:docMk/>
      </pc:docMkLst>
      <pc:sldChg chg="modSp add replId">
        <pc:chgData name="Wallis, Lee" userId="S::lwalli01@stellarus.com::9750bc47-da41-41d6-9cf2-2d8dfec5360a" providerId="AD" clId="Web-{C0CAA860-372C-3DE0-ABA7-F8CD40229BB0}" dt="2026-06-10T22:00:22.413" v="1568"/>
        <pc:sldMkLst>
          <pc:docMk/>
          <pc:sldMk cId="3542900219" sldId="270"/>
        </pc:sldMkLst>
        <pc:spChg chg="mod">
          <ac:chgData name="Wallis, Lee" userId="S::lwalli01@stellarus.com::9750bc47-da41-41d6-9cf2-2d8dfec5360a" providerId="AD" clId="Web-{C0CAA860-372C-3DE0-ABA7-F8CD40229BB0}" dt="2026-06-10T21:39:03.500" v="1220" actId="20577"/>
          <ac:spMkLst>
            <pc:docMk/>
            <pc:sldMk cId="3542900219" sldId="270"/>
            <ac:spMk id="2" creationId="{86978B31-59E2-AA16-3575-89B6A6338170}"/>
          </ac:spMkLst>
        </pc:spChg>
        <pc:graphicFrameChg chg="mod modGraphic">
          <ac:chgData name="Wallis, Lee" userId="S::lwalli01@stellarus.com::9750bc47-da41-41d6-9cf2-2d8dfec5360a" providerId="AD" clId="Web-{C0CAA860-372C-3DE0-ABA7-F8CD40229BB0}" dt="2026-06-10T22:00:22.413" v="1568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Fandel, Jacob" userId="S::jfande01@stellarus.com::92368a4a-e9e1-42ec-a610-5ad2a9ccd0cd" providerId="AD" clId="Web-{90F12D95-92FD-B241-8108-7E68FC412CB7}"/>
    <pc:docChg chg="modSld">
      <pc:chgData name="Fandel, Jacob" userId="S::jfande01@stellarus.com::92368a4a-e9e1-42ec-a610-5ad2a9ccd0cd" providerId="AD" clId="Web-{90F12D95-92FD-B241-8108-7E68FC412CB7}" dt="2026-06-10T21:52:35.781" v="219"/>
      <pc:docMkLst>
        <pc:docMk/>
      </pc:docMkLst>
      <pc:sldChg chg="addSp delSp modSp">
        <pc:chgData name="Fandel, Jacob" userId="S::jfande01@stellarus.com::92368a4a-e9e1-42ec-a610-5ad2a9ccd0cd" providerId="AD" clId="Web-{90F12D95-92FD-B241-8108-7E68FC412CB7}" dt="2026-06-10T21:46:25.935" v="205" actId="1076"/>
        <pc:sldMkLst>
          <pc:docMk/>
          <pc:sldMk cId="0" sldId="266"/>
        </pc:sldMkLst>
        <pc:spChg chg="add mod">
          <ac:chgData name="Fandel, Jacob" userId="S::jfande01@stellarus.com::92368a4a-e9e1-42ec-a610-5ad2a9ccd0cd" providerId="AD" clId="Web-{90F12D95-92FD-B241-8108-7E68FC412CB7}" dt="2026-06-10T21:31:39.338" v="78" actId="14100"/>
          <ac:spMkLst>
            <pc:docMk/>
            <pc:sldMk cId="0" sldId="266"/>
            <ac:spMk id="2" creationId="{4BCB4721-38D8-7A3B-3022-C9E0A09C6343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31:11.963" v="67"/>
          <ac:spMkLst>
            <pc:docMk/>
            <pc:sldMk cId="0" sldId="266"/>
            <ac:spMk id="3" creationId="{C0DD000A-352F-5BC2-17B5-79EAE7FB25CF}"/>
          </ac:spMkLst>
        </pc:spChg>
        <pc:spChg chg="mod">
          <ac:chgData name="Fandel, Jacob" userId="S::jfande01@stellarus.com::92368a4a-e9e1-42ec-a610-5ad2a9ccd0cd" providerId="AD" clId="Web-{90F12D95-92FD-B241-8108-7E68FC412CB7}" dt="2026-06-10T21:45:47.201" v="198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4.886" v="177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7.027" v="178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9.574" v="179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55.386" v="174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58.870" v="175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1.574" v="17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45.011" v="171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47.839" v="172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46:25.935" v="205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0:49.619" v="63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1:54.166" v="80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1:49.760" v="79" actId="1076"/>
          <ac:spMkLst>
            <pc:docMk/>
            <pc:sldMk cId="0" sldId="266"/>
            <ac:spMk id="23" creationId="{00000000-0000-0000-0000-000000000000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31:58.041" v="81" actId="1076"/>
          <ac:spMkLst>
            <pc:docMk/>
            <pc:sldMk cId="0" sldId="266"/>
            <ac:spMk id="26" creationId="{9276D2F1-AFC7-6E6C-66D1-BA73808AFE22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36:15.589" v="180" actId="1076"/>
          <ac:spMkLst>
            <pc:docMk/>
            <pc:sldMk cId="0" sldId="266"/>
            <ac:spMk id="27" creationId="{F409EEF4-37B7-30C9-1F75-6F901EB9CB3F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45:06.435" v="194" actId="14100"/>
          <ac:spMkLst>
            <pc:docMk/>
            <pc:sldMk cId="0" sldId="266"/>
            <ac:spMk id="28" creationId="{1CA7FCD6-FFA6-71AC-698E-660728B29D8D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46:06.748" v="204" actId="20577"/>
          <ac:spMkLst>
            <pc:docMk/>
            <pc:sldMk cId="0" sldId="266"/>
            <ac:spMk id="29" creationId="{895DCF03-91B8-D27C-AAB2-87902F9023B0}"/>
          </ac:spMkLst>
        </pc:spChg>
      </pc:sldChg>
      <pc:sldChg chg="addSp delSp modSp">
        <pc:chgData name="Fandel, Jacob" userId="S::jfande01@stellarus.com::92368a4a-e9e1-42ec-a610-5ad2a9ccd0cd" providerId="AD" clId="Web-{90F12D95-92FD-B241-8108-7E68FC412CB7}" dt="2026-06-10T21:50:56.358" v="216" actId="1076"/>
        <pc:sldMkLst>
          <pc:docMk/>
          <pc:sldMk cId="1507461352" sldId="269"/>
        </pc:sldMkLst>
        <pc:spChg chg="mod">
          <ac:chgData name="Fandel, Jacob" userId="S::jfande01@stellarus.com::92368a4a-e9e1-42ec-a610-5ad2a9ccd0cd" providerId="AD" clId="Web-{90F12D95-92FD-B241-8108-7E68FC412CB7}" dt="2026-06-10T21:50:46.515" v="214" actId="20577"/>
          <ac:spMkLst>
            <pc:docMk/>
            <pc:sldMk cId="1507461352" sldId="269"/>
            <ac:spMk id="2" creationId="{EBA9574E-B994-435E-FE57-7117985F02A7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23:10.586" v="1"/>
          <ac:spMkLst>
            <pc:docMk/>
            <pc:sldMk cId="1507461352" sldId="269"/>
            <ac:spMk id="3" creationId="{9C4F1440-F3C8-27FE-CE66-9CA03C22B419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23:26.586" v="3"/>
          <ac:spMkLst>
            <pc:docMk/>
            <pc:sldMk cId="1507461352" sldId="269"/>
            <ac:spMk id="5" creationId="{B9317DAA-716F-77D9-8699-85013F75CF47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27:47.697" v="15"/>
          <ac:spMkLst>
            <pc:docMk/>
            <pc:sldMk cId="1507461352" sldId="269"/>
            <ac:spMk id="6" creationId="{335FEA58-A5D6-3FC0-C622-5752113EA945}"/>
          </ac:spMkLst>
        </pc:spChg>
        <pc:spChg chg="add del mod">
          <ac:chgData name="Fandel, Jacob" userId="S::jfande01@stellarus.com::92368a4a-e9e1-42ec-a610-5ad2a9ccd0cd" providerId="AD" clId="Web-{90F12D95-92FD-B241-8108-7E68FC412CB7}" dt="2026-06-10T21:25:15.321" v="11"/>
          <ac:spMkLst>
            <pc:docMk/>
            <pc:sldMk cId="1507461352" sldId="269"/>
            <ac:spMk id="8" creationId="{F4228B0A-593D-C6BB-F028-7CD0D4CD63E0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50:56.358" v="216" actId="1076"/>
          <ac:spMkLst>
            <pc:docMk/>
            <pc:sldMk cId="1507461352" sldId="269"/>
            <ac:spMk id="9" creationId="{BDAF3129-1E39-8D7D-4A0B-05267D5D8E81}"/>
          </ac:spMkLst>
        </pc:spChg>
      </pc:sldChg>
      <pc:sldChg chg="modSp">
        <pc:chgData name="Fandel, Jacob" userId="S::jfande01@stellarus.com::92368a4a-e9e1-42ec-a610-5ad2a9ccd0cd" providerId="AD" clId="Web-{90F12D95-92FD-B241-8108-7E68FC412CB7}" dt="2026-06-10T21:52:35.781" v="219"/>
        <pc:sldMkLst>
          <pc:docMk/>
          <pc:sldMk cId="3542900219" sldId="270"/>
        </pc:sldMkLst>
        <pc:spChg chg="mod">
          <ac:chgData name="Fandel, Jacob" userId="S::jfande01@stellarus.com::92368a4a-e9e1-42ec-a610-5ad2a9ccd0cd" providerId="AD" clId="Web-{90F12D95-92FD-B241-8108-7E68FC412CB7}" dt="2026-06-10T21:52:01.187" v="217" actId="20577"/>
          <ac:spMkLst>
            <pc:docMk/>
            <pc:sldMk cId="3542900219" sldId="270"/>
            <ac:spMk id="2" creationId="{86978B31-59E2-AA16-3575-89B6A6338170}"/>
          </ac:spMkLst>
        </pc:spChg>
        <pc:graphicFrameChg chg="mod modGraphic">
          <ac:chgData name="Fandel, Jacob" userId="S::jfande01@stellarus.com::92368a4a-e9e1-42ec-a610-5ad2a9ccd0cd" providerId="AD" clId="Web-{90F12D95-92FD-B241-8108-7E68FC412CB7}" dt="2026-06-10T21:52:35.781" v="219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Fandel, Jacob" userId="S::jfande01@stellarus.com::92368a4a-e9e1-42ec-a610-5ad2a9ccd0cd" providerId="AD" clId="Web-{A01C370D-42EF-93CF-1C62-2798D7AB16C2}"/>
    <pc:docChg chg="modSld">
      <pc:chgData name="Fandel, Jacob" userId="S::jfande01@stellarus.com::92368a4a-e9e1-42ec-a610-5ad2a9ccd0cd" providerId="AD" clId="Web-{A01C370D-42EF-93CF-1C62-2798D7AB16C2}" dt="2026-06-11T03:36:45.581" v="0"/>
      <pc:docMkLst>
        <pc:docMk/>
      </pc:docMkLst>
      <pc:sldChg chg="delSp">
        <pc:chgData name="Fandel, Jacob" userId="S::jfande01@stellarus.com::92368a4a-e9e1-42ec-a610-5ad2a9ccd0cd" providerId="AD" clId="Web-{A01C370D-42EF-93CF-1C62-2798D7AB16C2}" dt="2026-06-11T03:36:45.581" v="0"/>
        <pc:sldMkLst>
          <pc:docMk/>
          <pc:sldMk cId="1507461352" sldId="269"/>
        </pc:sldMkLst>
        <pc:spChg chg="del">
          <ac:chgData name="Fandel, Jacob" userId="S::jfande01@stellarus.com::92368a4a-e9e1-42ec-a610-5ad2a9ccd0cd" providerId="AD" clId="Web-{A01C370D-42EF-93CF-1C62-2798D7AB16C2}" dt="2026-06-11T03:36:45.581" v="0"/>
          <ac:spMkLst>
            <pc:docMk/>
            <pc:sldMk cId="1507461352" sldId="269"/>
            <ac:spMk id="9" creationId="{BDAF3129-1E39-8D7D-4A0B-05267D5D8E81}"/>
          </ac:spMkLst>
        </pc:spChg>
      </pc:sldChg>
    </pc:docChg>
  </pc:docChgLst>
  <pc:docChgLst>
    <pc:chgData name="Ryslik, Gregory" userId="S::grysli01@stellarus.com::e662f0de-de9d-432e-bd35-e19d68c24b5b" providerId="AD" clId="Web-{50645106-4703-CF54-CB8C-B54CC4E0AE1B}"/>
    <pc:docChg chg="modSld">
      <pc:chgData name="Ryslik, Gregory" userId="S::grysli01@stellarus.com::e662f0de-de9d-432e-bd35-e19d68c24b5b" providerId="AD" clId="Web-{50645106-4703-CF54-CB8C-B54CC4E0AE1B}" dt="2026-06-10T20:54:41.260" v="2" actId="1076"/>
      <pc:docMkLst>
        <pc:docMk/>
      </pc:docMkLst>
      <pc:sldChg chg="modSp">
        <pc:chgData name="Ryslik, Gregory" userId="S::grysli01@stellarus.com::e662f0de-de9d-432e-bd35-e19d68c24b5b" providerId="AD" clId="Web-{50645106-4703-CF54-CB8C-B54CC4E0AE1B}" dt="2026-06-10T20:54:41.260" v="2" actId="1076"/>
        <pc:sldMkLst>
          <pc:docMk/>
          <pc:sldMk cId="1507461352" sldId="269"/>
        </pc:sldMkLst>
        <pc:graphicFrameChg chg="mod modGraphic">
          <ac:chgData name="Ryslik, Gregory" userId="S::grysli01@stellarus.com::e662f0de-de9d-432e-bd35-e19d68c24b5b" providerId="AD" clId="Web-{50645106-4703-CF54-CB8C-B54CC4E0AE1B}" dt="2026-06-10T20:54:41.260" v="2" actId="1076"/>
          <ac:graphicFrameMkLst>
            <pc:docMk/>
            <pc:sldMk cId="1507461352" sldId="269"/>
            <ac:graphicFrameMk id="7" creationId="{3BA2EED9-5581-CD40-0A32-C00894E13C3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41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A5E7CD-CB7A-019B-4EBD-69DC91733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BDFEFED-DC54-DCFF-4705-81917CDB4E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8" y="959762"/>
            <a:ext cx="2402627" cy="556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68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D9E552-59A8-1B0E-BBBB-33080B603B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066" y="102393"/>
            <a:ext cx="17923934" cy="100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/>
          <p:cNvSpPr/>
          <p:nvPr/>
        </p:nvSpPr>
        <p:spPr>
          <a:xfrm>
            <a:off x="3438674" y="1219200"/>
            <a:ext cx="9525" cy="323850"/>
          </a:xfrm>
          <a:prstGeom prst="rect">
            <a:avLst/>
          </a:prstGeom>
          <a:solidFill>
            <a:srgbClr val="EDF4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3600599" y="1226344"/>
            <a:ext cx="21366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96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/>
          </a:p>
        </p:txBody>
      </p:sp>
      <p:sp>
        <p:nvSpPr>
          <p:cNvPr id="7" name="Text 3"/>
          <p:cNvSpPr/>
          <p:nvPr/>
        </p:nvSpPr>
        <p:spPr>
          <a:xfrm>
            <a:off x="1238250" y="3136627"/>
            <a:ext cx="162858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>
                <a:solidFill>
                  <a:srgbClr val="F2C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2026</a:t>
            </a:r>
            <a:endParaRPr lang="en-US" sz="1800"/>
          </a:p>
        </p:txBody>
      </p:sp>
      <p:sp>
        <p:nvSpPr>
          <p:cNvPr id="8" name="Text 4"/>
          <p:cNvSpPr/>
          <p:nvPr/>
        </p:nvSpPr>
        <p:spPr>
          <a:xfrm>
            <a:off x="1238250" y="3731940"/>
            <a:ext cx="16285845" cy="2091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200" b="1" kern="0" spc="-247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Chat, as a product</a:t>
            </a:r>
            <a:endParaRPr lang="en-US" sz="7200"/>
          </a:p>
        </p:txBody>
      </p:sp>
      <p:sp>
        <p:nvSpPr>
          <p:cNvPr id="9" name="Text 5"/>
          <p:cNvSpPr/>
          <p:nvPr/>
        </p:nvSpPr>
        <p:spPr>
          <a:xfrm>
            <a:off x="1238250" y="4777755"/>
            <a:ext cx="11576685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700"/>
          </a:p>
        </p:txBody>
      </p:sp>
      <p:sp>
        <p:nvSpPr>
          <p:cNvPr id="10" name="Shape 6"/>
          <p:cNvSpPr/>
          <p:nvPr/>
        </p:nvSpPr>
        <p:spPr>
          <a:xfrm>
            <a:off x="1238250" y="8605838"/>
            <a:ext cx="1728564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457325" y="8720138"/>
            <a:ext cx="136661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Broker</a:t>
            </a:r>
            <a:endParaRPr lang="en-US" sz="1800"/>
          </a:p>
        </p:txBody>
      </p:sp>
      <p:sp>
        <p:nvSpPr>
          <p:cNvPr id="12" name="Shape 8"/>
          <p:cNvSpPr/>
          <p:nvPr/>
        </p:nvSpPr>
        <p:spPr>
          <a:xfrm>
            <a:off x="3100164" y="8605838"/>
            <a:ext cx="3673227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319239" y="8720138"/>
            <a:ext cx="334527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@stellarus/member-chat SDK</a:t>
            </a:r>
            <a:endParaRPr lang="en-US" sz="1800"/>
          </a:p>
        </p:txBody>
      </p:sp>
      <p:sp>
        <p:nvSpPr>
          <p:cNvPr id="14" name="Shape 10"/>
          <p:cNvSpPr/>
          <p:nvPr/>
        </p:nvSpPr>
        <p:spPr>
          <a:xfrm>
            <a:off x="1238250" y="9289099"/>
            <a:ext cx="2590726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457325" y="9403399"/>
            <a:ext cx="223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AI agents</a:t>
            </a:r>
            <a:endParaRPr lang="en-US" sz="1800"/>
          </a:p>
        </p:txBody>
      </p:sp>
      <p:sp>
        <p:nvSpPr>
          <p:cNvPr id="16" name="Shape 12"/>
          <p:cNvSpPr/>
          <p:nvPr/>
        </p:nvSpPr>
        <p:spPr>
          <a:xfrm>
            <a:off x="3962326" y="9289099"/>
            <a:ext cx="2196182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181401" y="9403399"/>
            <a:ext cx="18342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8BE223A4-2277-93EA-DB69-1260C7153FB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8250" y="1433513"/>
            <a:ext cx="13735050" cy="129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– no Stellarus product</a:t>
            </a:r>
            <a:endParaRPr lang="en-US" sz="4650"/>
          </a:p>
        </p:txBody>
      </p:sp>
      <p:sp>
        <p:nvSpPr>
          <p:cNvPr id="5" name="Shape 3"/>
          <p:cNvSpPr/>
          <p:nvPr/>
        </p:nvSpPr>
        <p:spPr>
          <a:xfrm>
            <a:off x="1238250" y="3104555"/>
            <a:ext cx="7743825" cy="6229945"/>
          </a:xfrm>
          <a:prstGeom prst="roundRect">
            <a:avLst>
              <a:gd name="adj" fmla="val 3669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419100" dist="171450" dir="5400000" algn="bl" rotWithShape="0">
              <a:srgbClr val="1626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85925" y="3552230"/>
            <a:ext cx="2073994" cy="385763"/>
          </a:xfrm>
          <a:prstGeom prst="roundRect">
            <a:avLst>
              <a:gd name="adj" fmla="val 50000"/>
            </a:avLst>
          </a:prstGeom>
          <a:solidFill>
            <a:srgbClr val="B27720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38325" y="3628430"/>
            <a:ext cx="184539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35">
                <a:solidFill>
                  <a:srgbClr val="B2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· SHIPS 7/1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1685925" y="4223742"/>
            <a:ext cx="70539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Non-Stellarus chat – Employees only 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1685925" y="4785717"/>
            <a:ext cx="705392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+ Genesys + Sierra using the Stellarus Benefits Service</a:t>
            </a:r>
            <a:endParaRPr lang="en-US" sz="1950"/>
          </a:p>
        </p:txBody>
      </p:sp>
      <p:sp>
        <p:nvSpPr>
          <p:cNvPr id="10" name="Shape 8"/>
          <p:cNvSpPr/>
          <p:nvPr/>
        </p:nvSpPr>
        <p:spPr>
          <a:xfrm>
            <a:off x="1685925" y="5720953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85950" y="5863828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/ Genesys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3759175" y="6001941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4140175" y="5720953"/>
            <a:ext cx="1939975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48" y="5956297"/>
            <a:ext cx="1216075" cy="592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Sierra.ai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213500" y="6001941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16" name="Shape 14"/>
          <p:cNvSpPr/>
          <p:nvPr/>
        </p:nvSpPr>
        <p:spPr>
          <a:xfrm>
            <a:off x="6594500" y="5720953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4525" y="5863828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coded rules</a:t>
            </a:r>
            <a:endParaRPr lang="en-US" sz="1800"/>
          </a:p>
        </p:txBody>
      </p:sp>
      <p:sp>
        <p:nvSpPr>
          <p:cNvPr id="20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5925" y="3104555"/>
            <a:ext cx="7743825" cy="6229945"/>
          </a:xfrm>
          <a:prstGeom prst="roundRect">
            <a:avLst>
              <a:gd name="adj" fmla="val 3669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3C88BF">
                <a:alpha val="30000"/>
              </a:srgbClr>
            </a:solidFill>
            <a:prstDash val="solid"/>
          </a:ln>
          <a:effectLst>
            <a:outerShdw blurRad="495300" dist="209550" dir="5400000" algn="bl" rotWithShape="0">
              <a:srgbClr val="1F6AA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53600" y="3552230"/>
            <a:ext cx="2625923" cy="385763"/>
          </a:xfrm>
          <a:prstGeom prst="roundRect">
            <a:avLst>
              <a:gd name="adj" fmla="val 50000"/>
            </a:avLst>
          </a:prstGeom>
          <a:solidFill>
            <a:srgbClr val="1F6AA5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06000" y="3628430"/>
            <a:ext cx="239990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PRODUCT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9753600" y="4223742"/>
            <a:ext cx="70539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 Chat Platform</a:t>
            </a:r>
            <a:endParaRPr lang="en-US" sz="3000"/>
          </a:p>
        </p:txBody>
      </p:sp>
      <p:sp>
        <p:nvSpPr>
          <p:cNvPr id="24" name="Text 22"/>
          <p:cNvSpPr/>
          <p:nvPr/>
        </p:nvSpPr>
        <p:spPr>
          <a:xfrm>
            <a:off x="9753600" y="4785717"/>
            <a:ext cx="705392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Broker, SDK owned by Stellarus — customers integrate however they like.</a:t>
            </a:r>
            <a:endParaRPr lang="en-US" sz="1950"/>
          </a:p>
        </p:txBody>
      </p:sp>
      <p:sp>
        <p:nvSpPr>
          <p:cNvPr id="25" name="Text 23"/>
          <p:cNvSpPr/>
          <p:nvPr/>
        </p:nvSpPr>
        <p:spPr>
          <a:xfrm>
            <a:off x="9753600" y="5767602"/>
            <a:ext cx="361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0191750" y="5720953"/>
            <a:ext cx="4549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channel calls one Chat Broker API</a:t>
            </a:r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9753600" y="6230267"/>
            <a:ext cx="361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10191750" y="6168628"/>
            <a:ext cx="6051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enriches with benefits data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9753600" y="6662952"/>
            <a:ext cx="361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10191750" y="6616303"/>
            <a:ext cx="4520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the right AI agent by product</a:t>
            </a:r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9753600" y="7125617"/>
            <a:ext cx="361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10191750" y="7063978"/>
            <a:ext cx="57612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conversations &amp; escalations</a:t>
            </a:r>
            <a:endParaRPr lang="en-US" sz="2000"/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0AEF6899-D2A3-F1DF-A881-2B6FD3B093F6}"/>
              </a:ext>
            </a:extLst>
          </p:cNvPr>
          <p:cNvSpPr/>
          <p:nvPr/>
        </p:nvSpPr>
        <p:spPr>
          <a:xfrm>
            <a:off x="1685925" y="7560990"/>
            <a:ext cx="6848475" cy="1325835"/>
          </a:xfrm>
          <a:prstGeom prst="roundRect">
            <a:avLst>
              <a:gd name="adj" fmla="val 10058"/>
            </a:avLst>
          </a:prstGeom>
          <a:solidFill>
            <a:srgbClr val="C1495F">
              <a:alpha val="7000"/>
            </a:srgbClr>
          </a:solidFill>
          <a:ln w="9525">
            <a:solidFill>
              <a:srgbClr val="C1495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2A90666-1DA6-0561-F5D7-1B9A0723DF05}"/>
              </a:ext>
            </a:extLst>
          </p:cNvPr>
          <p:cNvSpPr/>
          <p:nvPr/>
        </p:nvSpPr>
        <p:spPr>
          <a:xfrm>
            <a:off x="1944116" y="7741964"/>
            <a:ext cx="6577679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25" b="1">
                <a:solidFill>
                  <a:srgbClr val="C1495F"/>
                </a:solidFill>
                <a:ea typeface="Manrope" pitchFamily="34" charset="-122"/>
                <a:cs typeface="Manrope" pitchFamily="34" charset="-120"/>
              </a:rPr>
              <a:t>RISK · </a:t>
            </a:r>
            <a:r>
              <a:rPr lang="en-US" sz="1800">
                <a:solidFill>
                  <a:srgbClr val="52637A"/>
                </a:solidFill>
                <a:ea typeface="Manrope" pitchFamily="34" charset="-122"/>
                <a:cs typeface="Manrope" pitchFamily="34" charset="-120"/>
              </a:rPr>
              <a:t>Missing specialty LoB in Benefits service, plan is to release with Sierra fetching plan data from Benefits service directly. </a:t>
            </a:r>
          </a:p>
          <a:p>
            <a:pPr marL="0" indent="0" algn="l">
              <a:buNone/>
            </a:pPr>
            <a:r>
              <a:rPr lang="en-US" sz="1800" i="1">
                <a:solidFill>
                  <a:srgbClr val="52637A"/>
                </a:solidFill>
                <a:ea typeface="Manrope" pitchFamily="34" charset="-122"/>
                <a:cs typeface="Manrope" pitchFamily="34" charset="-120"/>
              </a:rPr>
              <a:t>Effort in progress to get this data added.</a:t>
            </a:r>
          </a:p>
          <a:p>
            <a:pPr marL="0" indent="0" algn="l">
              <a:buNone/>
            </a:pPr>
            <a:r>
              <a:rPr lang="en-US" sz="1800">
                <a:solidFill>
                  <a:srgbClr val="52637A"/>
                </a:solidFill>
                <a:ea typeface="Manrope" pitchFamily="34" charset="-122"/>
                <a:cs typeface="Manrope" pitchFamily="34" charset="-120"/>
              </a:rPr>
              <a:t>This connection will go away again when the platform is ready for 9/1 release. </a:t>
            </a:r>
            <a:endParaRPr lang="en-US" sz="120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F270DB2D-5EA3-35C1-D700-0C6BF5FCC4E7}"/>
              </a:ext>
            </a:extLst>
          </p:cNvPr>
          <p:cNvSpPr/>
          <p:nvPr/>
        </p:nvSpPr>
        <p:spPr>
          <a:xfrm>
            <a:off x="9753600" y="7494818"/>
            <a:ext cx="361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5F86234-4133-5FB2-2163-4B6BAECC8F52}"/>
              </a:ext>
            </a:extLst>
          </p:cNvPr>
          <p:cNvSpPr/>
          <p:nvPr/>
        </p:nvSpPr>
        <p:spPr>
          <a:xfrm>
            <a:off x="10191750" y="7418189"/>
            <a:ext cx="52631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 source of truth for all plans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C3DF-EFFF-7431-C869-A0433A7A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B43976D-3E60-4F7E-54E2-92F8B8A35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76CD404-4610-8A25-3697-D6F3B5DABDDA}"/>
              </a:ext>
            </a:extLst>
          </p:cNvPr>
          <p:cNvSpPr/>
          <p:nvPr/>
        </p:nvSpPr>
        <p:spPr>
          <a:xfrm>
            <a:off x="520629" y="362039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kern="0" spc="-9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 Platform - road to 9/1 and beyond</a:t>
            </a:r>
            <a:endParaRPr lang="en-US" sz="320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D02BF17-C404-B831-C572-175648731D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629" y="1237347"/>
            <a:ext cx="7285985" cy="8762136"/>
          </a:xfrm>
          <a:prstGeom prst="roundRect">
            <a:avLst>
              <a:gd name="adj" fmla="val 4784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419100" dist="171450" dir="5400000" algn="bl" rotWithShape="0">
              <a:srgbClr val="1626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A0E6AF-16B0-BA56-8A36-0F0D585651F5}"/>
              </a:ext>
            </a:extLst>
          </p:cNvPr>
          <p:cNvSpPr/>
          <p:nvPr/>
        </p:nvSpPr>
        <p:spPr>
          <a:xfrm>
            <a:off x="809007" y="1627187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– Broker service</a:t>
            </a:r>
            <a:endParaRPr lang="en-US" sz="200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02FF81B-ABE2-2923-33C2-C185EE949361}"/>
              </a:ext>
            </a:extLst>
          </p:cNvPr>
          <p:cNvSpPr/>
          <p:nvPr/>
        </p:nvSpPr>
        <p:spPr>
          <a:xfrm>
            <a:off x="809007" y="1920957"/>
            <a:ext cx="6936449" cy="94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agent and customers integration, telemetry, insights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59C3D8A-88FD-D499-4188-93586333F4F3}"/>
              </a:ext>
            </a:extLst>
          </p:cNvPr>
          <p:cNvSpPr/>
          <p:nvPr/>
        </p:nvSpPr>
        <p:spPr>
          <a:xfrm>
            <a:off x="765258" y="2883593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services and Atlas IQ integration</a:t>
            </a:r>
            <a:endParaRPr lang="en-US" sz="20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710317D-B0A7-B774-8CC6-7CD0349D7826}"/>
              </a:ext>
            </a:extLst>
          </p:cNvPr>
          <p:cNvSpPr/>
          <p:nvPr/>
        </p:nvSpPr>
        <p:spPr>
          <a:xfrm>
            <a:off x="765951" y="4457296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and data science collaboration</a:t>
            </a:r>
            <a:endParaRPr lang="en-US" sz="200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D49AA0B-E785-3064-F8E9-D943259D8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0771" y="-1"/>
            <a:ext cx="8809238" cy="10363809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80E67C7-42DD-3A51-B2A3-2B8AC370D091}"/>
              </a:ext>
            </a:extLst>
          </p:cNvPr>
          <p:cNvSpPr/>
          <p:nvPr/>
        </p:nvSpPr>
        <p:spPr>
          <a:xfrm>
            <a:off x="15619751" y="8109679"/>
            <a:ext cx="548436" cy="2575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7/1</a:t>
            </a:r>
            <a:endParaRPr lang="en-US" sz="2400" b="1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7ECD944-FDFC-9CA0-515A-CF82B5131DF8}"/>
              </a:ext>
            </a:extLst>
          </p:cNvPr>
          <p:cNvSpPr/>
          <p:nvPr/>
        </p:nvSpPr>
        <p:spPr>
          <a:xfrm>
            <a:off x="10811930" y="874205"/>
            <a:ext cx="548436" cy="2575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9/1</a:t>
            </a:r>
            <a:endParaRPr lang="en-US" sz="2400" b="1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75FDF5E-01FA-2CEA-0D5B-CA6FEBE51CDD}"/>
              </a:ext>
            </a:extLst>
          </p:cNvPr>
          <p:cNvSpPr/>
          <p:nvPr/>
        </p:nvSpPr>
        <p:spPr>
          <a:xfrm>
            <a:off x="13313764" y="855820"/>
            <a:ext cx="990876" cy="25752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Beyond</a:t>
            </a:r>
            <a:endParaRPr lang="en-US" sz="2400" b="1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18A5B13-0DCE-E0E5-47EA-4F9CB3DA97A6}"/>
              </a:ext>
            </a:extLst>
          </p:cNvPr>
          <p:cNvSpPr/>
          <p:nvPr/>
        </p:nvSpPr>
        <p:spPr>
          <a:xfrm>
            <a:off x="12095166" y="7455572"/>
            <a:ext cx="548436" cy="2575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9/1</a:t>
            </a:r>
            <a:endParaRPr lang="en-US" sz="2400" b="1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C41FF63-777A-E6D9-F761-17F03275B813}"/>
              </a:ext>
            </a:extLst>
          </p:cNvPr>
          <p:cNvSpPr/>
          <p:nvPr/>
        </p:nvSpPr>
        <p:spPr>
          <a:xfrm>
            <a:off x="12005596" y="8116458"/>
            <a:ext cx="990876" cy="25752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Beyond</a:t>
            </a:r>
            <a:endParaRPr lang="en-US" sz="2400" b="1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CC641B4-C7C1-9376-5AE4-61026C49ABAD}"/>
              </a:ext>
            </a:extLst>
          </p:cNvPr>
          <p:cNvSpPr/>
          <p:nvPr/>
        </p:nvSpPr>
        <p:spPr>
          <a:xfrm>
            <a:off x="12005596" y="8944206"/>
            <a:ext cx="990876" cy="25752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Beyond</a:t>
            </a:r>
            <a:endParaRPr lang="en-US" sz="2400" b="1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0297269-6308-1F8A-F941-B5118EB33049}"/>
              </a:ext>
            </a:extLst>
          </p:cNvPr>
          <p:cNvSpPr/>
          <p:nvPr/>
        </p:nvSpPr>
        <p:spPr>
          <a:xfrm>
            <a:off x="15337437" y="2127708"/>
            <a:ext cx="548436" cy="2575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9/1</a:t>
            </a:r>
            <a:endParaRPr lang="en-US" sz="2400" b="1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CC9A882-2888-BC89-1956-3DB35C4468B6}"/>
              </a:ext>
            </a:extLst>
          </p:cNvPr>
          <p:cNvSpPr/>
          <p:nvPr/>
        </p:nvSpPr>
        <p:spPr>
          <a:xfrm>
            <a:off x="15609759" y="4598873"/>
            <a:ext cx="548436" cy="2575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9/1</a:t>
            </a:r>
            <a:endParaRPr lang="en-US" sz="2400" b="1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3E0E96F-DE2D-0846-1D2E-153CB1595389}"/>
              </a:ext>
            </a:extLst>
          </p:cNvPr>
          <p:cNvSpPr/>
          <p:nvPr/>
        </p:nvSpPr>
        <p:spPr>
          <a:xfrm>
            <a:off x="808314" y="3187078"/>
            <a:ext cx="6936449" cy="821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 - All lines of business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service, eligibility, claims history..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EFCDA686-1C76-A318-C3CD-94D31732FF23}"/>
              </a:ext>
            </a:extLst>
          </p:cNvPr>
          <p:cNvSpPr/>
          <p:nvPr/>
        </p:nvSpPr>
        <p:spPr>
          <a:xfrm>
            <a:off x="808314" y="4831109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Sierra.ai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agent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agent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B7BDA3A-896F-6F22-43F4-F582F51D20FB}"/>
              </a:ext>
            </a:extLst>
          </p:cNvPr>
          <p:cNvSpPr/>
          <p:nvPr/>
        </p:nvSpPr>
        <p:spPr>
          <a:xfrm>
            <a:off x="15337437" y="6783164"/>
            <a:ext cx="990876" cy="25752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Beyond</a:t>
            </a:r>
            <a:endParaRPr lang="en-US" sz="2400" b="1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49D5EE4A-7D0C-6C93-06F9-3535B9B591CD}"/>
              </a:ext>
            </a:extLst>
          </p:cNvPr>
          <p:cNvSpPr/>
          <p:nvPr/>
        </p:nvSpPr>
        <p:spPr>
          <a:xfrm>
            <a:off x="765951" y="6476137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0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42510FBF-7F7F-1476-2D3D-191BF122A0EF}"/>
              </a:ext>
            </a:extLst>
          </p:cNvPr>
          <p:cNvSpPr/>
          <p:nvPr/>
        </p:nvSpPr>
        <p:spPr>
          <a:xfrm>
            <a:off x="808314" y="6849950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labelled UI SDK</a:t>
            </a:r>
          </a:p>
        </p:txBody>
      </p:sp>
    </p:spTree>
    <p:extLst>
      <p:ext uri="{BB962C8B-B14F-4D97-AF65-F5344CB8AC3E}">
        <p14:creationId xmlns:p14="http://schemas.microsoft.com/office/powerpoint/2010/main" val="82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05B8-599F-70CC-264E-12904174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CD85003-70B5-5F5A-9C8A-79BDB0BA56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BA9574E-B994-435E-FE57-7117985F02A7}"/>
              </a:ext>
            </a:extLst>
          </p:cNvPr>
          <p:cNvSpPr/>
          <p:nvPr/>
        </p:nvSpPr>
        <p:spPr>
          <a:xfrm>
            <a:off x="520629" y="362039"/>
            <a:ext cx="1727142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>
                <a:solidFill>
                  <a:srgbClr val="16263B"/>
                </a:solidFill>
                <a:latin typeface="Arial"/>
                <a:ea typeface="Arial" pitchFamily="34" charset="-122"/>
                <a:cs typeface="Arial"/>
              </a:rPr>
              <a:t>Stellarus Platform – BSC Member chat with Sierra scope </a:t>
            </a:r>
            <a:endParaRPr lang="en-US" sz="4650">
              <a:latin typeface="Arial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A2EED9-5581-CD40-0A32-C00894E1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72339"/>
              </p:ext>
            </p:extLst>
          </p:nvPr>
        </p:nvGraphicFramePr>
        <p:xfrm>
          <a:off x="520629" y="1091401"/>
          <a:ext cx="17114228" cy="873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630">
                  <a:extLst>
                    <a:ext uri="{9D8B030D-6E8A-4147-A177-3AD203B41FA5}">
                      <a16:colId xmlns:a16="http://schemas.microsoft.com/office/drawing/2014/main" val="2512385134"/>
                    </a:ext>
                  </a:extLst>
                </a:gridCol>
                <a:gridCol w="2173574">
                  <a:extLst>
                    <a:ext uri="{9D8B030D-6E8A-4147-A177-3AD203B41FA5}">
                      <a16:colId xmlns:a16="http://schemas.microsoft.com/office/drawing/2014/main" val="268211644"/>
                    </a:ext>
                  </a:extLst>
                </a:gridCol>
                <a:gridCol w="2803160">
                  <a:extLst>
                    <a:ext uri="{9D8B030D-6E8A-4147-A177-3AD203B41FA5}">
                      <a16:colId xmlns:a16="http://schemas.microsoft.com/office/drawing/2014/main" val="3775271840"/>
                    </a:ext>
                  </a:extLst>
                </a:gridCol>
                <a:gridCol w="1558977">
                  <a:extLst>
                    <a:ext uri="{9D8B030D-6E8A-4147-A177-3AD203B41FA5}">
                      <a16:colId xmlns:a16="http://schemas.microsoft.com/office/drawing/2014/main" val="1997741742"/>
                    </a:ext>
                  </a:extLst>
                </a:gridCol>
                <a:gridCol w="2518348">
                  <a:extLst>
                    <a:ext uri="{9D8B030D-6E8A-4147-A177-3AD203B41FA5}">
                      <a16:colId xmlns:a16="http://schemas.microsoft.com/office/drawing/2014/main" val="106387285"/>
                    </a:ext>
                  </a:extLst>
                </a:gridCol>
                <a:gridCol w="1355539">
                  <a:extLst>
                    <a:ext uri="{9D8B030D-6E8A-4147-A177-3AD203B41FA5}">
                      <a16:colId xmlns:a16="http://schemas.microsoft.com/office/drawing/2014/main" val="96051693"/>
                    </a:ext>
                  </a:extLst>
                </a:gridCol>
              </a:tblGrid>
              <a:tr h="971397">
                <a:tc>
                  <a:txBody>
                    <a:bodyPr/>
                    <a:lstStyle/>
                    <a:p>
                      <a:r>
                        <a:rPr lang="en-US" sz="220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Target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Blocked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07941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r>
                        <a:rPr lang="en-US" sz="2200"/>
                        <a:t>Benefits service – development work and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7/1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793599"/>
                  </a:ext>
                </a:extLst>
              </a:tr>
              <a:tr h="10241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/>
                        <a:t>Benefits service – specialty LoB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Effort to identify and structure data in progress</a:t>
                      </a:r>
                    </a:p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10%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7/1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7/1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635143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Genesys escalation with Sierra/BSC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Unknown /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PTP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7/1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427416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r>
                        <a:rPr lang="en-US" sz="2200"/>
                        <a:t>API – Broker</a:t>
                      </a:r>
                    </a:p>
                    <a:p>
                      <a:r>
                        <a:rPr lang="en-US" sz="1800"/>
                        <a:t>All chat connection manager, logs,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75% -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Start July, continuous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9/1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1198"/>
                  </a:ext>
                </a:extLst>
              </a:tr>
              <a:tr h="648767">
                <a:tc>
                  <a:txBody>
                    <a:bodyPr/>
                    <a:lstStyle/>
                    <a:p>
                      <a:r>
                        <a:rPr lang="en-US" sz="2200"/>
                        <a:t>SDK - API v1 – Development, documentation,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Planning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7/15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9/1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973520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/>
                        <a:t>SDK - API v2 – Genesys Escalation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Understand routing rules, and Genesys API part of the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8/1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SDK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/>
                        <a:t>9/1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243546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r>
                        <a:rPr lang="en-US" sz="2200"/>
                        <a:t>Embed Stellarus SDK in BSC work to start</a:t>
                      </a:r>
                    </a:p>
                    <a:p>
                      <a:r>
                        <a:rPr lang="en-US" sz="1800"/>
                        <a:t>BSC/Non-commercial to use SDK in their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Not started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8/1, start work?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Syng?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9/1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51453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r>
                        <a:rPr lang="en-US" sz="2200"/>
                        <a:t>Stellarus UI</a:t>
                      </a:r>
                    </a:p>
                    <a:p>
                      <a:r>
                        <a:rPr lang="en-US" sz="1800"/>
                        <a:t>Not part of deliverables, but used for testing and 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70%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51566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35FEA58-A5D6-3FC0-C622-5752113EA945}"/>
              </a:ext>
            </a:extLst>
          </p:cNvPr>
          <p:cNvSpPr/>
          <p:nvPr/>
        </p:nvSpPr>
        <p:spPr>
          <a:xfrm>
            <a:off x="478824" y="2023418"/>
            <a:ext cx="17191337" cy="3073743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6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7C33-88E8-7573-C866-569C57D1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A0B8973-DB9B-BC6B-41A2-894557AE9D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6978B31-59E2-AA16-3575-89B6A6338170}"/>
              </a:ext>
            </a:extLst>
          </p:cNvPr>
          <p:cNvSpPr/>
          <p:nvPr/>
        </p:nvSpPr>
        <p:spPr>
          <a:xfrm>
            <a:off x="520629" y="362039"/>
            <a:ext cx="1727142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6000"/>
              </a:lnSpc>
            </a:pPr>
            <a:r>
              <a:rPr lang="en-US" sz="4650" b="1" kern="0" spc="-93">
                <a:solidFill>
                  <a:srgbClr val="16263B"/>
                </a:solidFill>
                <a:latin typeface="Arial"/>
                <a:ea typeface="Arial" pitchFamily="34" charset="-122"/>
                <a:cs typeface="Arial"/>
              </a:rPr>
              <a:t>Stellarus Platform – BSC Member chat – SOW / MSA Timeline </a:t>
            </a:r>
            <a:endParaRPr lang="en-US" sz="4650">
              <a:latin typeface="Arial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247D82-0105-5959-DFA8-ABD220E9D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52927"/>
              </p:ext>
            </p:extLst>
          </p:nvPr>
        </p:nvGraphicFramePr>
        <p:xfrm>
          <a:off x="520629" y="1179324"/>
          <a:ext cx="17114199" cy="8783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200">
                  <a:extLst>
                    <a:ext uri="{9D8B030D-6E8A-4147-A177-3AD203B41FA5}">
                      <a16:colId xmlns:a16="http://schemas.microsoft.com/office/drawing/2014/main" val="2512385134"/>
                    </a:ext>
                  </a:extLst>
                </a:gridCol>
                <a:gridCol w="1785934">
                  <a:extLst>
                    <a:ext uri="{9D8B030D-6E8A-4147-A177-3AD203B41FA5}">
                      <a16:colId xmlns:a16="http://schemas.microsoft.com/office/drawing/2014/main" val="26821164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736227300"/>
                    </a:ext>
                  </a:extLst>
                </a:gridCol>
                <a:gridCol w="2128837">
                  <a:extLst>
                    <a:ext uri="{9D8B030D-6E8A-4147-A177-3AD203B41FA5}">
                      <a16:colId xmlns:a16="http://schemas.microsoft.com/office/drawing/2014/main" val="377527184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997741742"/>
                    </a:ext>
                  </a:extLst>
                </a:gridCol>
                <a:gridCol w="1800172">
                  <a:extLst>
                    <a:ext uri="{9D8B030D-6E8A-4147-A177-3AD203B41FA5}">
                      <a16:colId xmlns:a16="http://schemas.microsoft.com/office/drawing/2014/main" val="106387285"/>
                    </a:ext>
                  </a:extLst>
                </a:gridCol>
                <a:gridCol w="1750453">
                  <a:extLst>
                    <a:ext uri="{9D8B030D-6E8A-4147-A177-3AD203B41FA5}">
                      <a16:colId xmlns:a16="http://schemas.microsoft.com/office/drawing/2014/main" val="96051693"/>
                    </a:ext>
                  </a:extLst>
                </a:gridCol>
                <a:gridCol w="1750453">
                  <a:extLst>
                    <a:ext uri="{9D8B030D-6E8A-4147-A177-3AD203B41FA5}">
                      <a16:colId xmlns:a16="http://schemas.microsoft.com/office/drawing/2014/main" val="1187526080"/>
                    </a:ext>
                  </a:extLst>
                </a:gridCol>
              </a:tblGrid>
              <a:tr h="971397">
                <a:tc>
                  <a:txBody>
                    <a:bodyPr/>
                    <a:lstStyle/>
                    <a:p>
                      <a:r>
                        <a:rPr lang="en-US" sz="220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Amount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1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First Issue Date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Second issue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Third Issues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/>
                        <a:t>Suggested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07941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r>
                        <a:rPr lang="en-US" sz="2200"/>
                        <a:t>PTP – BSC SOW 59 – Employee Benefits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$90,720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May 14th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Detail to justify the expense missing in SOW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May 26th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Further cost breakdown requested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Jun 8th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/>
                        <a:t>To reduce cost, remove Voice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793599"/>
                  </a:ext>
                </a:extLst>
              </a:tr>
              <a:tr h="102412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PTP – BSC SOW 58 – Employee Benefits voice</a:t>
                      </a:r>
                      <a:endParaRPr lang="en-US" strike="sngStrike"/>
                    </a:p>
                    <a:p>
                      <a:endParaRPr lang="en-US" sz="2200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trike="sngStrike"/>
                        <a:t>$52,920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May 14th </a:t>
                      </a:r>
                      <a:endParaRPr lang="en-US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Detail to justify the expense missing in SOW</a:t>
                      </a:r>
                      <a:endParaRPr lang="en-US" sz="2200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May 26th</a:t>
                      </a:r>
                      <a:endParaRPr lang="en-US" sz="2200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Further cost breakdown requested</a:t>
                      </a:r>
                      <a:endParaRPr lang="en-US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sngStrike" noProof="0">
                          <a:solidFill>
                            <a:srgbClr val="000000"/>
                          </a:solidFill>
                          <a:latin typeface="Aptos"/>
                        </a:rPr>
                        <a:t>Jun 8th</a:t>
                      </a:r>
                      <a:endParaRPr lang="en-US" strike="sngStri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strike="sngStrike"/>
                        <a:t>Stop effort and hold SOW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635143"/>
                  </a:ext>
                </a:extLst>
              </a:tr>
              <a:tr h="98488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PTP – BSC SOW 57 – Employee Benefits chat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$249,480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May 14th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Detail to justify the expense missing in SOW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May 26th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Further cost breakdown requested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Jun 8th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To reduce cost, remove Voice components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427416"/>
                  </a:ext>
                </a:extLst>
              </a:tr>
              <a:tr h="98488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MSA in place between Stellarus and PTP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MSA Not signed. BAA language updated but not 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503164"/>
                  </a:ext>
                </a:extLst>
              </a:tr>
              <a:tr h="98488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Bridge in place to authorize work to commence, before SOW 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No Bridge in place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52664"/>
                  </a:ext>
                </a:extLst>
              </a:tr>
              <a:tr h="98488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Work began on work covered under the PTP SOW(s)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Mid April (est)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Authorization not granted to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81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90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8250" y="952500"/>
            <a:ext cx="162858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>
                <a:solidFill>
                  <a:srgbClr val="C14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TO RESOLVE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1238250" y="1433513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and questions</a:t>
            </a:r>
            <a:endParaRPr lang="en-US" sz="4650"/>
          </a:p>
        </p:txBody>
      </p:sp>
      <p:sp>
        <p:nvSpPr>
          <p:cNvPr id="5" name="Shape 3"/>
          <p:cNvSpPr/>
          <p:nvPr/>
        </p:nvSpPr>
        <p:spPr>
          <a:xfrm>
            <a:off x="1238250" y="2497634"/>
            <a:ext cx="15811500" cy="1383506"/>
          </a:xfrm>
          <a:prstGeom prst="roundRect">
            <a:avLst>
              <a:gd name="adj" fmla="val 12392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342900" dist="133350" dir="5400000" algn="bl" rotWithShape="0">
              <a:srgbClr val="1626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28775" y="3006030"/>
            <a:ext cx="739080" cy="366713"/>
          </a:xfrm>
          <a:prstGeom prst="roundRect">
            <a:avLst>
              <a:gd name="adj" fmla="val 50000"/>
            </a:avLst>
          </a:prstGeom>
          <a:solidFill>
            <a:srgbClr val="C1495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90700" y="3091755"/>
            <a:ext cx="49143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90">
                <a:solidFill>
                  <a:srgbClr val="C14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25"/>
          </a:p>
        </p:txBody>
      </p:sp>
      <p:sp>
        <p:nvSpPr>
          <p:cNvPr id="8" name="Text 6"/>
          <p:cNvSpPr/>
          <p:nvPr/>
        </p:nvSpPr>
        <p:spPr>
          <a:xfrm>
            <a:off x="2672655" y="2811959"/>
            <a:ext cx="128228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kern="0" spc="-2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LoB is missing from Benefits service and Sierra</a:t>
            </a:r>
            <a:endParaRPr lang="en-US" sz="2325"/>
          </a:p>
        </p:txBody>
      </p:sp>
      <p:sp>
        <p:nvSpPr>
          <p:cNvPr id="9" name="Text 7"/>
          <p:cNvSpPr/>
          <p:nvPr/>
        </p:nvSpPr>
        <p:spPr>
          <a:xfrm>
            <a:off x="2672655" y="3245346"/>
            <a:ext cx="128228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data come from, and in what format? Engineering parses and adds it to the database.</a:t>
            </a:r>
            <a:endParaRPr lang="en-US" sz="1875"/>
          </a:p>
        </p:txBody>
      </p:sp>
      <p:sp>
        <p:nvSpPr>
          <p:cNvPr id="10" name="Text 8"/>
          <p:cNvSpPr/>
          <p:nvPr/>
        </p:nvSpPr>
        <p:spPr>
          <a:xfrm>
            <a:off x="15426854" y="3039368"/>
            <a:ext cx="13085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+ Data</a:t>
            </a:r>
            <a:endParaRPr lang="en-US" sz="1725"/>
          </a:p>
        </p:txBody>
      </p:sp>
      <p:sp>
        <p:nvSpPr>
          <p:cNvPr id="11" name="Shape 9"/>
          <p:cNvSpPr/>
          <p:nvPr/>
        </p:nvSpPr>
        <p:spPr>
          <a:xfrm>
            <a:off x="1238250" y="4109740"/>
            <a:ext cx="15811500" cy="1704975"/>
          </a:xfrm>
          <a:prstGeom prst="roundRect">
            <a:avLst>
              <a:gd name="adj" fmla="val 10056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342900" dist="133350" dir="5400000" algn="bl" rotWithShape="0">
              <a:srgbClr val="1626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28775" y="4778871"/>
            <a:ext cx="1055712" cy="366713"/>
          </a:xfrm>
          <a:prstGeom prst="roundRect">
            <a:avLst>
              <a:gd name="adj" fmla="val 50000"/>
            </a:avLst>
          </a:prstGeom>
          <a:solidFill>
            <a:srgbClr val="C1495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90700" y="4864596"/>
            <a:ext cx="808062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90">
                <a:solidFill>
                  <a:srgbClr val="C14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</a:t>
            </a:r>
            <a:endParaRPr lang="en-US" sz="1125"/>
          </a:p>
        </p:txBody>
      </p:sp>
      <p:sp>
        <p:nvSpPr>
          <p:cNvPr id="14" name="Text 12"/>
          <p:cNvSpPr/>
          <p:nvPr/>
        </p:nvSpPr>
        <p:spPr>
          <a:xfrm>
            <a:off x="2989287" y="4424065"/>
            <a:ext cx="12463102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kern="0" spc="-2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routing isn't yet understood by Stellarus</a:t>
            </a:r>
            <a:endParaRPr lang="en-US" sz="2325"/>
          </a:p>
        </p:txBody>
      </p:sp>
      <p:sp>
        <p:nvSpPr>
          <p:cNvPr id="15" name="Text 13"/>
          <p:cNvSpPr/>
          <p:nvPr/>
        </p:nvSpPr>
        <p:spPr>
          <a:xfrm>
            <a:off x="2989287" y="4857452"/>
            <a:ext cx="1246310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routing rules work, and what does the Genesys API/SDK expose? We need to surface escalation as a tracked SDK action.</a:t>
            </a:r>
            <a:endParaRPr lang="en-US" sz="1875"/>
          </a:p>
        </p:txBody>
      </p:sp>
      <p:sp>
        <p:nvSpPr>
          <p:cNvPr id="16" name="Text 14"/>
          <p:cNvSpPr/>
          <p:nvPr/>
        </p:nvSpPr>
        <p:spPr>
          <a:xfrm>
            <a:off x="15394186" y="4812209"/>
            <a:ext cx="134123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+ PTP?</a:t>
            </a:r>
            <a:endParaRPr lang="en-US" sz="1725"/>
          </a:p>
        </p:txBody>
      </p:sp>
      <p:sp>
        <p:nvSpPr>
          <p:cNvPr id="17" name="Shape 15"/>
          <p:cNvSpPr/>
          <p:nvPr/>
        </p:nvSpPr>
        <p:spPr>
          <a:xfrm>
            <a:off x="1238250" y="6043315"/>
            <a:ext cx="15811500" cy="1383506"/>
          </a:xfrm>
          <a:prstGeom prst="roundRect">
            <a:avLst>
              <a:gd name="adj" fmla="val 12392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342900" dist="133350" dir="5400000" algn="bl" rotWithShape="0">
              <a:srgbClr val="1626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28775" y="6551712"/>
            <a:ext cx="868933" cy="366713"/>
          </a:xfrm>
          <a:prstGeom prst="roundRect">
            <a:avLst>
              <a:gd name="adj" fmla="val 50000"/>
            </a:avLst>
          </a:prstGeom>
          <a:solidFill>
            <a:srgbClr val="B27720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90700" y="6637437"/>
            <a:ext cx="621283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90">
                <a:solidFill>
                  <a:srgbClr val="B2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25"/>
          </a:p>
        </p:txBody>
      </p:sp>
      <p:sp>
        <p:nvSpPr>
          <p:cNvPr id="20" name="Text 18"/>
          <p:cNvSpPr/>
          <p:nvPr/>
        </p:nvSpPr>
        <p:spPr>
          <a:xfrm>
            <a:off x="2802508" y="6357640"/>
            <a:ext cx="1309489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kern="0" spc="-2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7/1 Sierra integration throwaway? Not entirely, it will be re-purposed </a:t>
            </a:r>
            <a:endParaRPr lang="en-US" sz="2325"/>
          </a:p>
        </p:txBody>
      </p:sp>
      <p:sp>
        <p:nvSpPr>
          <p:cNvPr id="21" name="Text 19"/>
          <p:cNvSpPr/>
          <p:nvPr/>
        </p:nvSpPr>
        <p:spPr>
          <a:xfrm>
            <a:off x="2802508" y="6791027"/>
            <a:ext cx="130948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has logic and guard rails built in, these learnings will be re-used in the Stellarus AI agents</a:t>
            </a:r>
            <a:endParaRPr lang="en-US" sz="1875"/>
          </a:p>
        </p:txBody>
      </p:sp>
      <p:sp>
        <p:nvSpPr>
          <p:cNvPr id="22" name="Text 20"/>
          <p:cNvSpPr/>
          <p:nvPr/>
        </p:nvSpPr>
        <p:spPr>
          <a:xfrm>
            <a:off x="15820802" y="6585049"/>
            <a:ext cx="91462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725"/>
          </a:p>
        </p:txBody>
      </p:sp>
      <p:sp>
        <p:nvSpPr>
          <p:cNvPr id="23" name="Shape 21"/>
          <p:cNvSpPr/>
          <p:nvPr/>
        </p:nvSpPr>
        <p:spPr>
          <a:xfrm>
            <a:off x="1238250" y="7655421"/>
            <a:ext cx="15811500" cy="1383506"/>
          </a:xfrm>
          <a:prstGeom prst="roundRect">
            <a:avLst>
              <a:gd name="adj" fmla="val 12392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342900" dist="133350" dir="5400000" algn="bl" rotWithShape="0">
              <a:srgbClr val="1626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28775" y="8163818"/>
            <a:ext cx="546497" cy="366713"/>
          </a:xfrm>
          <a:prstGeom prst="roundRect">
            <a:avLst>
              <a:gd name="adj" fmla="val 50000"/>
            </a:avLst>
          </a:prstGeom>
          <a:solidFill>
            <a:srgbClr val="3EA59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90700" y="8249543"/>
            <a:ext cx="298847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90">
                <a:solidFill>
                  <a:srgbClr val="3EA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125"/>
          </a:p>
        </p:txBody>
      </p:sp>
      <p:sp>
        <p:nvSpPr>
          <p:cNvPr id="26" name="Text 24"/>
          <p:cNvSpPr/>
          <p:nvPr/>
        </p:nvSpPr>
        <p:spPr>
          <a:xfrm>
            <a:off x="2480072" y="7969746"/>
            <a:ext cx="1322397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kern="0" spc="-23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escalation feel for the member?</a:t>
            </a:r>
            <a:endParaRPr lang="en-US" sz="2325"/>
          </a:p>
        </p:txBody>
      </p:sp>
      <p:sp>
        <p:nvSpPr>
          <p:cNvPr id="27" name="Text 25"/>
          <p:cNvSpPr/>
          <p:nvPr/>
        </p:nvSpPr>
        <p:spPr>
          <a:xfrm>
            <a:off x="2480072" y="8403134"/>
            <a:ext cx="1322397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 with an always-available button; research whether escalation should become part of the conversation.</a:t>
            </a:r>
            <a:endParaRPr lang="en-US" sz="1875"/>
          </a:p>
        </p:txBody>
      </p:sp>
      <p:sp>
        <p:nvSpPr>
          <p:cNvPr id="28" name="Text 26"/>
          <p:cNvSpPr/>
          <p:nvPr/>
        </p:nvSpPr>
        <p:spPr>
          <a:xfrm>
            <a:off x="15623679" y="8197155"/>
            <a:ext cx="11117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+ Apps</a:t>
            </a:r>
            <a:endParaRPr lang="en-US" sz="17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01077" y="1835647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for member chat release</a:t>
            </a:r>
            <a:endParaRPr lang="en-US" sz="4650"/>
          </a:p>
        </p:txBody>
      </p:sp>
      <p:sp>
        <p:nvSpPr>
          <p:cNvPr id="5" name="Shape 3"/>
          <p:cNvSpPr/>
          <p:nvPr/>
        </p:nvSpPr>
        <p:spPr>
          <a:xfrm>
            <a:off x="243373" y="2908310"/>
            <a:ext cx="14546610" cy="19050"/>
          </a:xfrm>
          <a:prstGeom prst="rect">
            <a:avLst/>
          </a:prstGeom>
          <a:solidFill>
            <a:srgbClr val="3EA59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54016" y="2784485"/>
            <a:ext cx="266700" cy="266700"/>
          </a:xfrm>
          <a:prstGeom prst="ellipse">
            <a:avLst/>
          </a:prstGeom>
          <a:solidFill>
            <a:srgbClr val="3EA59B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0452" y="3279785"/>
            <a:ext cx="853827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</a:t>
            </a:r>
            <a:endParaRPr lang="en-US" sz="2850"/>
          </a:p>
        </p:txBody>
      </p:sp>
      <p:sp>
        <p:nvSpPr>
          <p:cNvPr id="8" name="Text 6"/>
          <p:cNvSpPr/>
          <p:nvPr/>
        </p:nvSpPr>
        <p:spPr>
          <a:xfrm>
            <a:off x="30883" y="3831803"/>
            <a:ext cx="3104643" cy="219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Non-Stellarus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Live</a:t>
            </a:r>
            <a:endParaRPr lang="en-US" sz="1800">
              <a:solidFill>
                <a:srgbClr val="9DB4CD"/>
              </a:solidFill>
              <a:latin typeface="Arial"/>
              <a:ea typeface="Arial" pitchFamily="34" charset="-122"/>
              <a:cs typeface="Arial"/>
            </a:endParaRPr>
          </a:p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Sierra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member chat for BSC</a:t>
            </a:r>
          </a:p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Benefits service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– all LoB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21391" y="2769039"/>
            <a:ext cx="266700" cy="266700"/>
          </a:xfrm>
          <a:prstGeom prst="ellipse">
            <a:avLst/>
          </a:prstGeom>
          <a:solidFill>
            <a:srgbClr val="3C88BF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48725" y="3279785"/>
            <a:ext cx="1012031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</a:t>
            </a:r>
            <a:endParaRPr lang="en-US" sz="2850"/>
          </a:p>
        </p:txBody>
      </p:sp>
      <p:sp>
        <p:nvSpPr>
          <p:cNvPr id="11" name="Text 9"/>
          <p:cNvSpPr/>
          <p:nvPr/>
        </p:nvSpPr>
        <p:spPr>
          <a:xfrm>
            <a:off x="5456556" y="3838224"/>
            <a:ext cx="3596368" cy="1936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Stellarus Platform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| </a:t>
            </a: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Beta</a:t>
            </a:r>
          </a:p>
          <a:p>
            <a:pPr algn="ctr">
              <a:lnSpc>
                <a:spcPct val="135000"/>
              </a:lnSpc>
            </a:pPr>
            <a:r>
              <a:rPr lang="en-US" sz="1700">
                <a:solidFill>
                  <a:srgbClr val="9DB4CD"/>
                </a:solidFill>
                <a:latin typeface="Arial"/>
                <a:cs typeface="Arial"/>
              </a:rPr>
              <a:t>SDK with escalation</a:t>
            </a:r>
            <a:endParaRPr lang="en-US"/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BSC integration start</a:t>
            </a:r>
            <a:endParaRPr lang="en-US">
              <a:solidFill>
                <a:srgbClr val="9DB4CD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ct val="135000"/>
              </a:lnSpc>
            </a:pPr>
            <a:endParaRPr lang="en-US" sz="1800">
              <a:solidFill>
                <a:srgbClr val="9DB4CD"/>
              </a:solidFill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24739" y="2784485"/>
            <a:ext cx="266700" cy="266700"/>
          </a:xfrm>
          <a:prstGeom prst="ellipse">
            <a:avLst/>
          </a:prstGeom>
          <a:solidFill>
            <a:srgbClr val="79A8D4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43503" y="3279785"/>
            <a:ext cx="1229097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15</a:t>
            </a:r>
            <a:endParaRPr lang="en-US" sz="2850"/>
          </a:p>
        </p:txBody>
      </p:sp>
      <p:sp>
        <p:nvSpPr>
          <p:cNvPr id="14" name="Text 12"/>
          <p:cNvSpPr/>
          <p:nvPr/>
        </p:nvSpPr>
        <p:spPr>
          <a:xfrm>
            <a:off x="8724415" y="3833392"/>
            <a:ext cx="3267347" cy="1304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Platform | Release</a:t>
            </a: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candidate</a:t>
            </a: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Continuous testing and adjustments </a:t>
            </a:r>
          </a:p>
          <a:p>
            <a:pPr algn="ctr">
              <a:lnSpc>
                <a:spcPct val="135000"/>
              </a:lnSpc>
            </a:pPr>
            <a:endParaRPr lang="en-US">
              <a:solidFill>
                <a:srgbClr val="9DB4CD"/>
              </a:solidFill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895601" y="2769039"/>
            <a:ext cx="266700" cy="266700"/>
          </a:xfrm>
          <a:prstGeom prst="ellipse">
            <a:avLst/>
          </a:prstGeom>
          <a:solidFill>
            <a:srgbClr val="F2C572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18205" y="3279785"/>
            <a:ext cx="9906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</a:t>
            </a:r>
            <a:endParaRPr lang="en-US" sz="2850"/>
          </a:p>
        </p:txBody>
      </p:sp>
      <p:sp>
        <p:nvSpPr>
          <p:cNvPr id="17" name="Text 15"/>
          <p:cNvSpPr/>
          <p:nvPr/>
        </p:nvSpPr>
        <p:spPr>
          <a:xfrm>
            <a:off x="12515369" y="3831803"/>
            <a:ext cx="914921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-2446" y="6664018"/>
            <a:ext cx="18282852" cy="1528763"/>
          </a:xfrm>
          <a:prstGeom prst="roundRect">
            <a:avLst>
              <a:gd name="adj" fmla="val 112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DAAC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4890" y="6948785"/>
            <a:ext cx="154813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| PARALLEL WORK WITH APPS AND DATA SCIENCE TEAM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74890" y="7329785"/>
            <a:ext cx="1153864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015" y="7482677"/>
            <a:ext cx="75381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SDK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1862104" y="7329785"/>
            <a:ext cx="2166714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54689" y="7453610"/>
            <a:ext cx="1457745" cy="45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Agent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4162169" y="7329785"/>
            <a:ext cx="2234282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00294" y="7453609"/>
            <a:ext cx="18342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Agent</a:t>
            </a:r>
            <a:endParaRPr lang="en-US" sz="1800"/>
          </a:p>
        </p:txBody>
      </p:sp>
      <p:sp>
        <p:nvSpPr>
          <p:cNvPr id="2" name="Shape 22">
            <a:extLst>
              <a:ext uri="{FF2B5EF4-FFF2-40B4-BE49-F238E27FC236}">
                <a16:creationId xmlns:a16="http://schemas.microsoft.com/office/drawing/2014/main" id="{4BCB4721-38D8-7A3B-3022-C9E0A09C6343}"/>
              </a:ext>
            </a:extLst>
          </p:cNvPr>
          <p:cNvSpPr/>
          <p:nvPr/>
        </p:nvSpPr>
        <p:spPr>
          <a:xfrm>
            <a:off x="6633520" y="7329785"/>
            <a:ext cx="1508323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276D2F1-AFC7-6E6C-66D1-BA73808AFE22}"/>
              </a:ext>
            </a:extLst>
          </p:cNvPr>
          <p:cNvSpPr/>
          <p:nvPr/>
        </p:nvSpPr>
        <p:spPr>
          <a:xfrm>
            <a:off x="7041550" y="7438162"/>
            <a:ext cx="922922" cy="37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CFE0F0"/>
                </a:solidFill>
                <a:latin typeface="Arial"/>
                <a:cs typeface="Arial"/>
              </a:rPr>
              <a:t>Voice</a:t>
            </a:r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F409EEF4-37B7-30C9-1F75-6F901EB9CB3F}"/>
              </a:ext>
            </a:extLst>
          </p:cNvPr>
          <p:cNvSpPr/>
          <p:nvPr/>
        </p:nvSpPr>
        <p:spPr>
          <a:xfrm>
            <a:off x="4263891" y="2799930"/>
            <a:ext cx="266700" cy="266700"/>
          </a:xfrm>
          <a:prstGeom prst="ellipse">
            <a:avLst/>
          </a:prstGeom>
          <a:solidFill>
            <a:srgbClr val="3C88BF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CA7FCD6-FFA6-71AC-698E-660728B29D8D}"/>
              </a:ext>
            </a:extLst>
          </p:cNvPr>
          <p:cNvSpPr/>
          <p:nvPr/>
        </p:nvSpPr>
        <p:spPr>
          <a:xfrm>
            <a:off x="3705873" y="3279784"/>
            <a:ext cx="1413626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July 15</a:t>
            </a:r>
            <a:endParaRPr lang="en-US" sz="26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895DCF03-91B8-D27C-AAB2-87902F9023B0}"/>
              </a:ext>
            </a:extLst>
          </p:cNvPr>
          <p:cNvSpPr/>
          <p:nvPr/>
        </p:nvSpPr>
        <p:spPr>
          <a:xfrm>
            <a:off x="3139663" y="3838224"/>
            <a:ext cx="2638719" cy="1936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Stellarus Platform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| Alpha</a:t>
            </a:r>
            <a:endParaRPr lang="en-US" sz="1800">
              <a:solidFill>
                <a:srgbClr val="9DB4CD"/>
              </a:solidFill>
              <a:latin typeface="Arial"/>
              <a:ea typeface="Arial" pitchFamily="34" charset="-122"/>
              <a:cs typeface="Arial"/>
            </a:endParaRP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Demo UI</a:t>
            </a: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SDK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ccc3e3a-98af-453f-8994-44e6a406a784}" enabled="0" method="" siteId="{dccc3e3a-98af-453f-8994-44e6a406a78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819</Words>
  <Application>Microsoft Macintosh PowerPoint</Application>
  <PresentationFormat>Custom</PresentationFormat>
  <Paragraphs>196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Manrope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Jackson, Jason</cp:lastModifiedBy>
  <cp:revision>2</cp:revision>
  <dcterms:created xsi:type="dcterms:W3CDTF">2026-06-10T04:52:20Z</dcterms:created>
  <dcterms:modified xsi:type="dcterms:W3CDTF">2026-06-19T00:03:18Z</dcterms:modified>
</cp:coreProperties>
</file>