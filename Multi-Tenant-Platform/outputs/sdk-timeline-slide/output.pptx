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3" name="Shape 4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0F172A"/>
          </a:solidFill>
          <a:ln w="9525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171450"/>
            <a:ext cx="7239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2500">
                <a:solidFill>
                  <a:srgbClr val="FFFFFF"/>
                </a:solidFill>
                <a:b/>
                <a:latin typeface="Poppins"/>
              </a:rPr>
              <a:t>Mem-Chat Platform Delivery Timeline</a:t>
            </a:r>
          </a:p>
        </p:txBody>
      </p:sp>
      <p:sp>
        <p:nvSpPr>
          <p:cNvPr id="5" name="date-range"/>
          <p:cNvSpPr txBox="1"/>
          <p:nvPr/>
        </p:nvSpPr>
        <p:spPr>
          <a:xfrm>
            <a:off x="8858250" y="266700"/>
            <a:ext cx="2857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r"/>
            <a:r>
              <a:rPr lang="en-US" sz="1500">
                <a:solidFill>
                  <a:srgbClr val="FFFFFF"/>
                </a:solidFill>
                <a:b/>
                <a:latin typeface="Poppins"/>
              </a:rPr>
              <a:t>June 4 - September 1, 2026</a:t>
            </a:r>
          </a:p>
        </p:txBody>
      </p:sp>
      <p:sp>
        <p:nvSpPr>
          <p:cNvPr id="6" name="Shape 7"/>
          <p:cNvSpPr/>
          <p:nvPr/>
        </p:nvSpPr>
        <p:spPr>
          <a:xfrm>
            <a:off x="457200" y="1028700"/>
            <a:ext cx="11277600" cy="5295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7" name="axis-label"/>
          <p:cNvSpPr txBox="1"/>
          <p:nvPr/>
        </p:nvSpPr>
        <p:spPr>
          <a:xfrm>
            <a:off x="2857500" y="1200150"/>
            <a:ext cx="857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"/>
            <a:r>
              <a:rPr lang="en-US" sz="1200">
                <a:solidFill>
                  <a:srgbClr val="475569"/>
                </a:solidFill>
                <a:latin typeface="Lato"/>
              </a:rPr>
              <a:t>Jun 4</a:t>
            </a:r>
          </a:p>
        </p:txBody>
      </p:sp>
      <p:sp>
        <p:nvSpPr>
          <p:cNvPr id="8" name="axis-label"/>
          <p:cNvSpPr txBox="1"/>
          <p:nvPr/>
        </p:nvSpPr>
        <p:spPr>
          <a:xfrm>
            <a:off x="10248900" y="1200150"/>
            <a:ext cx="9906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"/>
            <a:r>
              <a:rPr lang="en-US" sz="1200">
                <a:solidFill>
                  <a:srgbClr val="475569"/>
                </a:solidFill>
                <a:b/>
                <a:latin typeface="Poppins"/>
              </a:rPr>
              <a:t>Sep 1</a:t>
            </a:r>
          </a:p>
        </p:txBody>
      </p:sp>
      <p:cxnSp>
        <p:nvCxnSpPr>
          <p:cNvPr id="9" name="Line 10"/>
          <p:cNvCxnSpPr/>
          <p:nvPr/>
        </p:nvCxnSpPr>
        <p:spPr>
          <a:xfrm>
            <a:off x="3219450" y="1543050"/>
            <a:ext cx="7524750" cy="0"/>
          </a:xfrm>
          <a:prstGeom prst="line">
            <a:avLst/>
          </a:prstGeom>
          <a:ln w="25400">
            <a:solidFill>
              <a:srgbClr val="CBD5E1"/>
            </a:solidFill>
          </a:ln>
        </p:spPr>
      </p:cxnSp>
      <p:cxnSp>
        <p:nvCxnSpPr>
          <p:cNvPr id="10" name="Line 11"/>
          <p:cNvCxnSpPr/>
          <p:nvPr/>
        </p:nvCxnSpPr>
        <p:spPr>
          <a:xfrm>
            <a:off x="3219450" y="1428750"/>
            <a:ext cx="0" cy="390525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sp>
        <p:nvSpPr>
          <p:cNvPr id="11" name="tick-label"/>
          <p:cNvSpPr txBox="1"/>
          <p:nvPr/>
        </p:nvSpPr>
        <p:spPr>
          <a:xfrm>
            <a:off x="2886075" y="5372100"/>
            <a:ext cx="6667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"/>
            <a:r>
              <a:rPr lang="en-US" sz="1000">
                <a:solidFill>
                  <a:srgbClr val="64748B"/>
                </a:solidFill>
                <a:latin typeface="Lato"/>
              </a:rPr>
              <a:t>Jun 4</a:t>
            </a:r>
          </a:p>
        </p:txBody>
      </p:sp>
      <p:cxnSp>
        <p:nvCxnSpPr>
          <p:cNvPr id="12" name="Line 13"/>
          <p:cNvCxnSpPr/>
          <p:nvPr/>
        </p:nvCxnSpPr>
        <p:spPr>
          <a:xfrm>
            <a:off x="5502239" y="1428750"/>
            <a:ext cx="0" cy="390525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sp>
        <p:nvSpPr>
          <p:cNvPr id="13" name="tick-label"/>
          <p:cNvSpPr txBox="1"/>
          <p:nvPr/>
        </p:nvSpPr>
        <p:spPr>
          <a:xfrm>
            <a:off x="5168864" y="5372100"/>
            <a:ext cx="6667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"/>
            <a:r>
              <a:rPr lang="en-US" sz="1000">
                <a:solidFill>
                  <a:srgbClr val="64748B"/>
                </a:solidFill>
                <a:latin typeface="Lato"/>
              </a:rPr>
              <a:t>Jul 1</a:t>
            </a:r>
          </a:p>
        </p:txBody>
      </p:sp>
      <p:cxnSp>
        <p:nvCxnSpPr>
          <p:cNvPr id="14" name="Line 15"/>
          <p:cNvCxnSpPr/>
          <p:nvPr/>
        </p:nvCxnSpPr>
        <p:spPr>
          <a:xfrm>
            <a:off x="6685908" y="1428750"/>
            <a:ext cx="0" cy="390525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sp>
        <p:nvSpPr>
          <p:cNvPr id="15" name="tick-label"/>
          <p:cNvSpPr txBox="1"/>
          <p:nvPr/>
        </p:nvSpPr>
        <p:spPr>
          <a:xfrm>
            <a:off x="6352533" y="5372100"/>
            <a:ext cx="6667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"/>
            <a:r>
              <a:rPr lang="en-US" sz="1000">
                <a:solidFill>
                  <a:srgbClr val="64748B"/>
                </a:solidFill>
                <a:latin typeface="Lato"/>
              </a:rPr>
              <a:t>Jul 15</a:t>
            </a:r>
          </a:p>
        </p:txBody>
      </p:sp>
      <p:cxnSp>
        <p:nvCxnSpPr>
          <p:cNvPr id="16" name="Line 17"/>
          <p:cNvCxnSpPr/>
          <p:nvPr/>
        </p:nvCxnSpPr>
        <p:spPr>
          <a:xfrm>
            <a:off x="8123220" y="1428750"/>
            <a:ext cx="0" cy="390525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sp>
        <p:nvSpPr>
          <p:cNvPr id="17" name="tick-label"/>
          <p:cNvSpPr txBox="1"/>
          <p:nvPr/>
        </p:nvSpPr>
        <p:spPr>
          <a:xfrm>
            <a:off x="7789845" y="5372100"/>
            <a:ext cx="6667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"/>
            <a:r>
              <a:rPr lang="en-US" sz="1000">
                <a:solidFill>
                  <a:srgbClr val="64748B"/>
                </a:solidFill>
                <a:latin typeface="Lato"/>
              </a:rPr>
              <a:t>Aug 1</a:t>
            </a:r>
          </a:p>
        </p:txBody>
      </p:sp>
      <p:cxnSp>
        <p:nvCxnSpPr>
          <p:cNvPr id="18" name="Line 19"/>
          <p:cNvCxnSpPr/>
          <p:nvPr/>
        </p:nvCxnSpPr>
        <p:spPr>
          <a:xfrm>
            <a:off x="9306888" y="1428750"/>
            <a:ext cx="0" cy="390525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sp>
        <p:nvSpPr>
          <p:cNvPr id="19" name="tick-label"/>
          <p:cNvSpPr txBox="1"/>
          <p:nvPr/>
        </p:nvSpPr>
        <p:spPr>
          <a:xfrm>
            <a:off x="8973513" y="5372100"/>
            <a:ext cx="6667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"/>
            <a:r>
              <a:rPr lang="en-US" sz="1000">
                <a:solidFill>
                  <a:srgbClr val="64748B"/>
                </a:solidFill>
                <a:latin typeface="Lato"/>
              </a:rPr>
              <a:t>Aug 15</a:t>
            </a:r>
          </a:p>
        </p:txBody>
      </p:sp>
      <p:cxnSp>
        <p:nvCxnSpPr>
          <p:cNvPr id="20" name="Line 21"/>
          <p:cNvCxnSpPr/>
          <p:nvPr/>
        </p:nvCxnSpPr>
        <p:spPr>
          <a:xfrm>
            <a:off x="10744200" y="1428750"/>
            <a:ext cx="0" cy="3905250"/>
          </a:xfrm>
          <a:prstGeom prst="line">
            <a:avLst/>
          </a:prstGeom>
          <a:ln w="25400">
            <a:solidFill>
              <a:srgbClr val="86EFAC"/>
            </a:solidFill>
          </a:ln>
        </p:spPr>
      </p:cxnSp>
      <p:sp>
        <p:nvSpPr>
          <p:cNvPr id="21" name="tick-label"/>
          <p:cNvSpPr txBox="1"/>
          <p:nvPr/>
        </p:nvSpPr>
        <p:spPr>
          <a:xfrm>
            <a:off x="10410825" y="5372100"/>
            <a:ext cx="6667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"/>
            <a:r>
              <a:rPr lang="en-US" sz="1000">
                <a:solidFill>
                  <a:srgbClr val="64748B"/>
                </a:solidFill>
                <a:latin typeface="Lato"/>
              </a:rPr>
              <a:t>Sep 1</a:t>
            </a:r>
          </a:p>
        </p:txBody>
      </p:sp>
      <p:sp>
        <p:nvSpPr>
          <p:cNvPr id="22" name="section"/>
          <p:cNvSpPr txBox="1"/>
          <p:nvPr/>
        </p:nvSpPr>
        <p:spPr>
          <a:xfrm>
            <a:off x="685800" y="1943100"/>
            <a:ext cx="2057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>
                <a:solidFill>
                  <a:srgbClr val="0EA5A4"/>
                </a:solidFill>
                <a:b/>
                <a:latin typeface="Poppins"/>
              </a:rPr>
              <a:t>SDK Foundation</a:t>
            </a:r>
          </a:p>
        </p:txBody>
      </p:sp>
      <p:sp>
        <p:nvSpPr>
          <p:cNvPr id="23" name="Shape 24"/>
          <p:cNvSpPr/>
          <p:nvPr/>
        </p:nvSpPr>
        <p:spPr>
          <a:xfrm>
            <a:off x="3219450" y="1962150"/>
            <a:ext cx="2282789" cy="266700"/>
          </a:xfrm>
          <a:prstGeom prst="roundRect">
            <a:avLst/>
          </a:prstGeom>
          <a:solidFill>
            <a:srgbClr val="0EA5A4"/>
          </a:solidFill>
          <a:ln w="9525">
            <a:solidFill>
              <a:srgbClr val="0EA5A4"/>
            </a:solidFill>
          </a:ln>
        </p:spPr>
        <p:txBody>
          <a:bodyPr/>
          <a:lstStyle/>
          <a:p/>
        </p:txBody>
      </p:sp>
      <p:sp>
        <p:nvSpPr>
          <p:cNvPr id="24" name="task-label"/>
          <p:cNvSpPr txBox="1"/>
          <p:nvPr/>
        </p:nvSpPr>
        <p:spPr>
          <a:xfrm>
            <a:off x="685800" y="2200275"/>
            <a:ext cx="21907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000">
                <a:solidFill>
                  <a:srgbClr val="334155"/>
                </a:solidFill>
                <a:latin typeface="Lato"/>
              </a:rPr>
              <a:t>Complete MVP Mem-Chat Direct Genesis/Sierra.ai SDKs</a:t>
            </a:r>
          </a:p>
        </p:txBody>
      </p:sp>
      <p:sp>
        <p:nvSpPr>
          <p:cNvPr id="25" name="task-dates"/>
          <p:cNvSpPr txBox="1"/>
          <p:nvPr/>
        </p:nvSpPr>
        <p:spPr>
          <a:xfrm>
            <a:off x="3295650" y="1971675"/>
            <a:ext cx="2130389" cy="24765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"/>
            <a:r>
              <a:rPr lang="en-US" sz="1000">
                <a:solidFill>
                  <a:srgbClr val="FFFFFF"/>
                </a:solidFill>
                <a:b/>
                <a:latin typeface="Poppins"/>
              </a:rPr>
              <a:t>Jun 4 - Jul 1</a:t>
            </a:r>
          </a:p>
        </p:txBody>
      </p:sp>
      <p:sp>
        <p:nvSpPr>
          <p:cNvPr id="26" name="Shape 27"/>
          <p:cNvSpPr/>
          <p:nvPr/>
        </p:nvSpPr>
        <p:spPr>
          <a:xfrm>
            <a:off x="3219450" y="2647950"/>
            <a:ext cx="3466458" cy="266700"/>
          </a:xfrm>
          <a:prstGeom prst="roundRect">
            <a:avLst/>
          </a:prstGeom>
          <a:solidFill>
            <a:srgbClr val="0EA5A4"/>
          </a:solidFill>
          <a:ln w="9525">
            <a:solidFill>
              <a:srgbClr val="0EA5A4"/>
            </a:solidFill>
          </a:ln>
        </p:spPr>
        <p:txBody>
          <a:bodyPr/>
          <a:lstStyle/>
          <a:p/>
        </p:txBody>
      </p:sp>
      <p:sp>
        <p:nvSpPr>
          <p:cNvPr id="27" name="task-label"/>
          <p:cNvSpPr txBox="1"/>
          <p:nvPr/>
        </p:nvSpPr>
        <p:spPr>
          <a:xfrm>
            <a:off x="685800" y="2886075"/>
            <a:ext cx="21907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000">
                <a:solidFill>
                  <a:srgbClr val="334155"/>
                </a:solidFill>
                <a:latin typeface="Lato"/>
              </a:rPr>
              <a:t>Stellarus-MemChat SDK (With Genesis/Sierra.ai)</a:t>
            </a:r>
          </a:p>
        </p:txBody>
      </p:sp>
      <p:sp>
        <p:nvSpPr>
          <p:cNvPr id="28" name="task-dates"/>
          <p:cNvSpPr txBox="1"/>
          <p:nvPr/>
        </p:nvSpPr>
        <p:spPr>
          <a:xfrm>
            <a:off x="3295650" y="2657475"/>
            <a:ext cx="3314058" cy="24765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"/>
            <a:r>
              <a:rPr lang="en-US" sz="1000">
                <a:solidFill>
                  <a:srgbClr val="FFFFFF"/>
                </a:solidFill>
                <a:b/>
                <a:latin typeface="Poppins"/>
              </a:rPr>
              <a:t>Jun 4 - Jul 15</a:t>
            </a:r>
          </a:p>
        </p:txBody>
      </p:sp>
      <p:sp>
        <p:nvSpPr>
          <p:cNvPr id="29" name="section"/>
          <p:cNvSpPr txBox="1"/>
          <p:nvPr/>
        </p:nvSpPr>
        <p:spPr>
          <a:xfrm>
            <a:off x="685800" y="3314700"/>
            <a:ext cx="2057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>
                <a:solidFill>
                  <a:srgbClr val="D97706"/>
                </a:solidFill>
                <a:b/>
                <a:latin typeface="Poppins"/>
              </a:rPr>
              <a:t>Helm Platform &lt;dark prod&gt;</a:t>
            </a:r>
          </a:p>
        </p:txBody>
      </p:sp>
      <p:sp>
        <p:nvSpPr>
          <p:cNvPr id="30" name="Shape 31"/>
          <p:cNvSpPr/>
          <p:nvPr/>
        </p:nvSpPr>
        <p:spPr>
          <a:xfrm>
            <a:off x="3219450" y="3333750"/>
            <a:ext cx="6087438" cy="266700"/>
          </a:xfrm>
          <a:prstGeom prst="roundRect">
            <a:avLst/>
          </a:prstGeo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31" name="task-label"/>
          <p:cNvSpPr txBox="1"/>
          <p:nvPr/>
        </p:nvSpPr>
        <p:spPr>
          <a:xfrm>
            <a:off x="685800" y="3571875"/>
            <a:ext cx="21907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000">
                <a:solidFill>
                  <a:srgbClr val="334155"/>
                </a:solidFill>
                <a:latin typeface="Lato"/>
              </a:rPr>
              <a:t>Helm &lt;compass&gt; Platform (With Genesis/Sierra.ai)</a:t>
            </a:r>
          </a:p>
        </p:txBody>
      </p:sp>
      <p:sp>
        <p:nvSpPr>
          <p:cNvPr id="32" name="task-dates"/>
          <p:cNvSpPr txBox="1"/>
          <p:nvPr/>
        </p:nvSpPr>
        <p:spPr>
          <a:xfrm>
            <a:off x="3295650" y="3343275"/>
            <a:ext cx="5935038" cy="24765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"/>
            <a:r>
              <a:rPr lang="en-US" sz="1000">
                <a:solidFill>
                  <a:srgbClr val="FFFFFF"/>
                </a:solidFill>
                <a:b/>
                <a:latin typeface="Poppins"/>
              </a:rPr>
              <a:t>Jun 4 - Aug 15</a:t>
            </a:r>
          </a:p>
        </p:txBody>
      </p:sp>
      <p:sp>
        <p:nvSpPr>
          <p:cNvPr id="33" name="Shape 34"/>
          <p:cNvSpPr/>
          <p:nvPr/>
        </p:nvSpPr>
        <p:spPr>
          <a:xfrm>
            <a:off x="5502239" y="4019550"/>
            <a:ext cx="2620980" cy="266700"/>
          </a:xfrm>
          <a:prstGeom prst="roundRect">
            <a:avLst/>
          </a:prstGeo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34" name="task-label"/>
          <p:cNvSpPr txBox="1"/>
          <p:nvPr/>
        </p:nvSpPr>
        <p:spPr>
          <a:xfrm>
            <a:off x="685800" y="4257675"/>
            <a:ext cx="21907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000">
                <a:solidFill>
                  <a:srgbClr val="334155"/>
                </a:solidFill>
                <a:latin typeface="Lato"/>
              </a:rPr>
              <a:t>Help &lt;compass&gt; Platform Telemetry Dashboard</a:t>
            </a:r>
          </a:p>
        </p:txBody>
      </p:sp>
      <p:sp>
        <p:nvSpPr>
          <p:cNvPr id="35" name="task-dates"/>
          <p:cNvSpPr txBox="1"/>
          <p:nvPr/>
        </p:nvSpPr>
        <p:spPr>
          <a:xfrm>
            <a:off x="5578439" y="4029075"/>
            <a:ext cx="2468580" cy="24765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"/>
            <a:r>
              <a:rPr lang="en-US" sz="1000">
                <a:solidFill>
                  <a:srgbClr val="FFFFFF"/>
                </a:solidFill>
                <a:b/>
                <a:latin typeface="Poppins"/>
              </a:rPr>
              <a:t>Jul 1 - Aug 1</a:t>
            </a:r>
          </a:p>
        </p:txBody>
      </p:sp>
      <p:sp>
        <p:nvSpPr>
          <p:cNvPr id="36" name="section"/>
          <p:cNvSpPr txBox="1"/>
          <p:nvPr/>
        </p:nvSpPr>
        <p:spPr>
          <a:xfrm>
            <a:off x="685800" y="4686300"/>
            <a:ext cx="2057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>
                <a:solidFill>
                  <a:srgbClr val="16A34A"/>
                </a:solidFill>
                <a:b/>
                <a:latin typeface="Poppins"/>
              </a:rPr>
              <a:t>Help Platform &lt;live&gt;</a:t>
            </a:r>
          </a:p>
        </p:txBody>
      </p:sp>
      <p:sp>
        <p:nvSpPr>
          <p:cNvPr id="37" name="Shape 38"/>
          <p:cNvSpPr/>
          <p:nvPr/>
        </p:nvSpPr>
        <p:spPr>
          <a:xfrm>
            <a:off x="9306888" y="4705350"/>
            <a:ext cx="1437312" cy="266700"/>
          </a:xfrm>
          <a:prstGeom prst="roundRect">
            <a:avLst/>
          </a:prstGeom>
          <a:solidFill>
            <a:srgbClr val="16A34A"/>
          </a:solidFill>
          <a:ln w="9525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38" name="task-label"/>
          <p:cNvSpPr txBox="1"/>
          <p:nvPr/>
        </p:nvSpPr>
        <p:spPr>
          <a:xfrm>
            <a:off x="685800" y="4943475"/>
            <a:ext cx="21907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000">
                <a:solidFill>
                  <a:srgbClr val="334155"/>
                </a:solidFill>
                <a:latin typeface="Lato"/>
              </a:rPr>
              <a:t>Connect Stellarus Mem-Chat-SDK to Helm &lt;compass&gt; Platform</a:t>
            </a:r>
          </a:p>
        </p:txBody>
      </p:sp>
      <p:sp>
        <p:nvSpPr>
          <p:cNvPr id="39" name="task-dates"/>
          <p:cNvSpPr txBox="1"/>
          <p:nvPr/>
        </p:nvSpPr>
        <p:spPr>
          <a:xfrm>
            <a:off x="9383088" y="4714875"/>
            <a:ext cx="1284912" cy="24765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"/>
            <a:r>
              <a:rPr lang="en-US" sz="1000">
                <a:solidFill>
                  <a:srgbClr val="FFFFFF"/>
                </a:solidFill>
                <a:b/>
                <a:latin typeface="Poppins"/>
              </a:rPr>
              <a:t>Aug 15 - Sep 1</a:t>
            </a:r>
          </a:p>
        </p:txBody>
      </p:sp>
      <p:sp>
        <p:nvSpPr>
          <p:cNvPr id="40" name="Shape 41"/>
          <p:cNvSpPr/>
          <p:nvPr/>
        </p:nvSpPr>
        <p:spPr>
          <a:xfrm>
            <a:off x="876300" y="5791200"/>
            <a:ext cx="171450" cy="171450"/>
          </a:xfrm>
          <a:prstGeom prst="roundRect">
            <a:avLst/>
          </a:prstGeom>
          <a:solidFill>
            <a:srgbClr val="0EA5A4"/>
          </a:solidFill>
          <a:ln w="9525">
            <a:solidFill>
              <a:srgbClr val="0EA5A4"/>
            </a:solidFill>
          </a:ln>
        </p:spPr>
        <p:txBody>
          <a:bodyPr/>
          <a:lstStyle/>
          <a:p/>
        </p:txBody>
      </p:sp>
      <p:sp>
        <p:nvSpPr>
          <p:cNvPr id="41" name="legend"/>
          <p:cNvSpPr txBox="1"/>
          <p:nvPr/>
        </p:nvSpPr>
        <p:spPr>
          <a:xfrm>
            <a:off x="1143000" y="5762625"/>
            <a:ext cx="2571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100">
                <a:solidFill>
                  <a:srgbClr val="334155"/>
                </a:solidFill>
                <a:b/>
                <a:latin typeface="Poppins"/>
              </a:rPr>
              <a:t>SDK Foundation</a:t>
            </a:r>
          </a:p>
        </p:txBody>
      </p:sp>
      <p:sp>
        <p:nvSpPr>
          <p:cNvPr id="42" name="Shape 43"/>
          <p:cNvSpPr/>
          <p:nvPr/>
        </p:nvSpPr>
        <p:spPr>
          <a:xfrm>
            <a:off x="4019550" y="5791200"/>
            <a:ext cx="171450" cy="171450"/>
          </a:xfrm>
          <a:prstGeom prst="roundRect">
            <a:avLst/>
          </a:prstGeo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43" name="legend"/>
          <p:cNvSpPr txBox="1"/>
          <p:nvPr/>
        </p:nvSpPr>
        <p:spPr>
          <a:xfrm>
            <a:off x="4286250" y="5762625"/>
            <a:ext cx="2571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100">
                <a:solidFill>
                  <a:srgbClr val="334155"/>
                </a:solidFill>
                <a:b/>
                <a:latin typeface="Poppins"/>
              </a:rPr>
              <a:t>Helm Platform &lt;dark prod&gt;</a:t>
            </a:r>
          </a:p>
        </p:txBody>
      </p:sp>
      <p:sp>
        <p:nvSpPr>
          <p:cNvPr id="44" name="Shape 45"/>
          <p:cNvSpPr/>
          <p:nvPr/>
        </p:nvSpPr>
        <p:spPr>
          <a:xfrm>
            <a:off x="7162800" y="5791200"/>
            <a:ext cx="171450" cy="171450"/>
          </a:xfrm>
          <a:prstGeom prst="roundRect">
            <a:avLst/>
          </a:prstGeom>
          <a:solidFill>
            <a:srgbClr val="16A34A"/>
          </a:solidFill>
          <a:ln w="9525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45" name="legend"/>
          <p:cNvSpPr txBox="1"/>
          <p:nvPr/>
        </p:nvSpPr>
        <p:spPr>
          <a:xfrm>
            <a:off x="7429500" y="5762625"/>
            <a:ext cx="2571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100">
                <a:solidFill>
                  <a:srgbClr val="334155"/>
                </a:solidFill>
                <a:b/>
                <a:latin typeface="Poppins"/>
              </a:rPr>
              <a:t>Help Platform &lt;live&gt;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mChat">
  <a:themeElements>
    <a:clrScheme name="MemChat">
      <a:dk1>
        <a:srgbClr val="0F172A"/>
      </a:dk1>
      <a:lt1>
        <a:srgbClr val="FFFFFF"/>
      </a:lt1>
      <a:dk2>
        <a:srgbClr val="334155"/>
      </a:dk2>
      <a:lt2>
        <a:srgbClr val="F8FAFC"/>
      </a:lt2>
      <a:accent1>
        <a:srgbClr val="0EA5A4"/>
      </a:accent1>
      <a:accent2>
        <a:srgbClr val="2563EB"/>
      </a:accent2>
      <a:accent3>
        <a:srgbClr val="D97706"/>
      </a:accent3>
      <a:accent4>
        <a:srgbClr val="16A34A"/>
      </a:accent4>
      <a:accent5>
        <a:srgbClr val="64748B"/>
      </a:accent5>
      <a:accent6>
        <a:srgbClr val="CBD5E1"/>
      </a:accent6>
      <a:hlink>
        <a:srgbClr val="2563EB"/>
      </a:hlink>
      <a:folHlink>
        <a:srgbClr val="7C3AED"/>
      </a:folHlink>
    </a:clrScheme>
    <a:fontScheme name="MemChat">
      <a:majorFont>
        <a:latin typeface="Poppins"/>
      </a:majorFont>
      <a:minorFont>
        <a:latin typeface="Lato"/>
      </a:minorFont>
    </a:fontScheme>
    <a:fmtScheme name="MemCha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Mem-Chat Platform Delivery Timeline</dc:title>
  <dc:creator>Codex</dc:creator>
  <cp:lastModifiedBy>Codex</cp:lastModifiedBy>
  <dcterms:created xsi:type="dcterms:W3CDTF">2026-06-04T00:00:00Z</dcterms:created>
  <dcterms:modified xsi:type="dcterms:W3CDTF">2026-06-04T00:00:00Z</dcterms:modified>
</cp:coreProperties>
</file>