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4" r:id="rId4"/>
  </p:sldMasterIdLst>
  <p:notesMasterIdLst>
    <p:notesMasterId r:id="rId7"/>
  </p:notesMasterIdLst>
  <p:handoutMasterIdLst>
    <p:handoutMasterId r:id="rId8"/>
  </p:handoutMasterIdLst>
  <p:sldIdLst>
    <p:sldId id="2147474004" r:id="rId5"/>
    <p:sldId id="2147474006" r:id="rId6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7403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orient="horz" pos="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023806-2E22-7076-8E84-5C21FE331B06}" name="Phillips Husband, Vivian" initials="PV" userId="S::vphill01@blueshieldca.com::c8bd45b1-1912-428a-ac3e-77d96785ae52" providerId="AD"/>
  <p188:author id="{0F5E3572-9AC2-0E4C-7714-141805ECA3B1}" name="Zapata, Tammie" initials="ZT" userId="S::tzapat02@blueshieldca.com::5523cade-2128-48a9-b131-54696a7a4f7a" providerId="AD"/>
  <p188:author id="{C2CFC478-66D5-9B6D-1646-96DA1DAF6A30}" name="Cooper, Greg" initials="CG" userId="S::GCoope01@blueshieldca.com::eea76777-9537-46ea-b88d-9d6cec07615c" providerId="AD"/>
  <p188:author id="{9A355594-736E-0F45-F2D4-E2AE14E4DB9D}" name="Harris, Marc" initials="HM" userId="S::mharri01@blueshieldca.com::4d140530-51dd-4dd9-8232-e44cf3610bb4" providerId="AD"/>
  <p188:author id="{CF219398-ECF0-9EB8-A374-808ED8E7D0E4}" name="Brandt, Marie" initials="BM" userId="S::mbrand02@blueshieldca.com::5640583c-3243-4ec0-b716-f3c7f9f2f2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5DA"/>
    <a:srgbClr val="FFC000"/>
    <a:srgbClr val="0070C0"/>
    <a:srgbClr val="EBF6FF"/>
    <a:srgbClr val="D9E1F2"/>
    <a:srgbClr val="B2BDCE"/>
    <a:srgbClr val="D6DCE5"/>
    <a:srgbClr val="F2F2F2"/>
    <a:srgbClr val="70AD47"/>
    <a:srgbClr val="A9D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32"/>
      </p:cViewPr>
      <p:guideLst>
        <p:guide orient="horz" pos="1008"/>
        <p:guide orient="horz" pos="2160"/>
        <p:guide pos="7403"/>
        <p:guide pos="384"/>
        <p:guide pos="3840"/>
        <p:guide orient="horz" pos="8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per, Greg" userId="eea76777-9537-46ea-b88d-9d6cec07615c" providerId="ADAL" clId="{1A1CAA0A-EDD9-4821-A09D-F48B36AE4D13}"/>
    <pc:docChg chg="custSel delSld modSld delMainMaster">
      <pc:chgData name="Cooper, Greg" userId="eea76777-9537-46ea-b88d-9d6cec07615c" providerId="ADAL" clId="{1A1CAA0A-EDD9-4821-A09D-F48B36AE4D13}" dt="2025-02-04T20:34:05.877" v="2" actId="47"/>
      <pc:docMkLst>
        <pc:docMk/>
      </pc:docMkLst>
      <pc:sldChg chg="del">
        <pc:chgData name="Cooper, Greg" userId="eea76777-9537-46ea-b88d-9d6cec07615c" providerId="ADAL" clId="{1A1CAA0A-EDD9-4821-A09D-F48B36AE4D13}" dt="2025-02-04T20:33:47.873" v="0" actId="47"/>
        <pc:sldMkLst>
          <pc:docMk/>
          <pc:sldMk cId="3686519779" sldId="2147473516"/>
        </pc:sldMkLst>
      </pc:sldChg>
      <pc:sldChg chg="del">
        <pc:chgData name="Cooper, Greg" userId="eea76777-9537-46ea-b88d-9d6cec07615c" providerId="ADAL" clId="{1A1CAA0A-EDD9-4821-A09D-F48B36AE4D13}" dt="2025-02-04T20:33:47.873" v="0" actId="47"/>
        <pc:sldMkLst>
          <pc:docMk/>
          <pc:sldMk cId="1212799247" sldId="2147473578"/>
        </pc:sldMkLst>
      </pc:sldChg>
      <pc:sldChg chg="del">
        <pc:chgData name="Cooper, Greg" userId="eea76777-9537-46ea-b88d-9d6cec07615c" providerId="ADAL" clId="{1A1CAA0A-EDD9-4821-A09D-F48B36AE4D13}" dt="2025-02-04T20:33:47.873" v="0" actId="47"/>
        <pc:sldMkLst>
          <pc:docMk/>
          <pc:sldMk cId="4091274642" sldId="2147473862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957775257" sldId="2147473884"/>
        </pc:sldMkLst>
      </pc:sldChg>
      <pc:sldChg chg="del">
        <pc:chgData name="Cooper, Greg" userId="eea76777-9537-46ea-b88d-9d6cec07615c" providerId="ADAL" clId="{1A1CAA0A-EDD9-4821-A09D-F48B36AE4D13}" dt="2025-02-04T20:33:47.873" v="0" actId="47"/>
        <pc:sldMkLst>
          <pc:docMk/>
          <pc:sldMk cId="2728776352" sldId="2147473886"/>
        </pc:sldMkLst>
      </pc:sldChg>
      <pc:sldChg chg="del">
        <pc:chgData name="Cooper, Greg" userId="eea76777-9537-46ea-b88d-9d6cec07615c" providerId="ADAL" clId="{1A1CAA0A-EDD9-4821-A09D-F48B36AE4D13}" dt="2025-02-04T20:33:47.873" v="0" actId="47"/>
        <pc:sldMkLst>
          <pc:docMk/>
          <pc:sldMk cId="443566478" sldId="2147473902"/>
        </pc:sldMkLst>
      </pc:sldChg>
      <pc:sldChg chg="del">
        <pc:chgData name="Cooper, Greg" userId="eea76777-9537-46ea-b88d-9d6cec07615c" providerId="ADAL" clId="{1A1CAA0A-EDD9-4821-A09D-F48B36AE4D13}" dt="2025-02-04T20:33:47.873" v="0" actId="47"/>
        <pc:sldMkLst>
          <pc:docMk/>
          <pc:sldMk cId="468703008" sldId="2147473903"/>
        </pc:sldMkLst>
      </pc:sldChg>
      <pc:sldChg chg="del">
        <pc:chgData name="Cooper, Greg" userId="eea76777-9537-46ea-b88d-9d6cec07615c" providerId="ADAL" clId="{1A1CAA0A-EDD9-4821-A09D-F48B36AE4D13}" dt="2025-02-04T20:33:47.873" v="0" actId="47"/>
        <pc:sldMkLst>
          <pc:docMk/>
          <pc:sldMk cId="2908897408" sldId="2147473905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539070157" sldId="2147473906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807271543" sldId="2147473908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576142728" sldId="2147473909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932728549" sldId="2147473911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021233581" sldId="2147473912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235752552" sldId="2147473958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647746481" sldId="2147473971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1760218561" sldId="2147473972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759860306" sldId="2147473973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1802167135" sldId="2147473974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760534629" sldId="2147473975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080221124" sldId="2147473976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1594351572" sldId="2147473978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1518583044" sldId="2147473979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838604208" sldId="2147473980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090971969" sldId="2147473981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938667392" sldId="2147473982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49799548" sldId="2147473983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53868660" sldId="2147473984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146256916" sldId="2147473985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169858384" sldId="2147473986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826139704" sldId="2147473987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1688466931" sldId="2147473988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927191241" sldId="2147473989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153563014" sldId="2147473990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060871229" sldId="2147473991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81800408" sldId="2147473992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223550263" sldId="2147473993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944322866" sldId="2147473994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817638108" sldId="2147473995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654131887" sldId="2147473996"/>
        </pc:sldMkLst>
      </pc:sldChg>
      <pc:sldChg chg="del">
        <pc:chgData name="Cooper, Greg" userId="eea76777-9537-46ea-b88d-9d6cec07615c" providerId="ADAL" clId="{1A1CAA0A-EDD9-4821-A09D-F48B36AE4D13}" dt="2025-02-04T20:33:47.873" v="0" actId="47"/>
        <pc:sldMkLst>
          <pc:docMk/>
          <pc:sldMk cId="2606607627" sldId="2147473997"/>
        </pc:sldMkLst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3948809888" sldId="2147474002"/>
        </pc:sldMkLst>
      </pc:sldChg>
      <pc:sldChg chg="delSp mod">
        <pc:chgData name="Cooper, Greg" userId="eea76777-9537-46ea-b88d-9d6cec07615c" providerId="ADAL" clId="{1A1CAA0A-EDD9-4821-A09D-F48B36AE4D13}" dt="2025-02-04T20:33:53.537" v="1" actId="478"/>
        <pc:sldMkLst>
          <pc:docMk/>
          <pc:sldMk cId="3609301202" sldId="2147474004"/>
        </pc:sldMkLst>
        <pc:spChg chg="del">
          <ac:chgData name="Cooper, Greg" userId="eea76777-9537-46ea-b88d-9d6cec07615c" providerId="ADAL" clId="{1A1CAA0A-EDD9-4821-A09D-F48B36AE4D13}" dt="2025-02-04T20:33:53.537" v="1" actId="478"/>
          <ac:spMkLst>
            <pc:docMk/>
            <pc:sldMk cId="3609301202" sldId="2147474004"/>
            <ac:spMk id="7" creationId="{98E951ED-0CA0-2675-92AC-809F712AD34E}"/>
          </ac:spMkLst>
        </pc:spChg>
      </pc:sldChg>
      <pc:sldChg chg="del">
        <pc:chgData name="Cooper, Greg" userId="eea76777-9537-46ea-b88d-9d6cec07615c" providerId="ADAL" clId="{1A1CAA0A-EDD9-4821-A09D-F48B36AE4D13}" dt="2025-02-04T20:34:05.877" v="2" actId="47"/>
        <pc:sldMkLst>
          <pc:docMk/>
          <pc:sldMk cId="2868534778" sldId="2147474008"/>
        </pc:sldMkLst>
      </pc:sldChg>
      <pc:sldMasterChg chg="del delSldLayout">
        <pc:chgData name="Cooper, Greg" userId="eea76777-9537-46ea-b88d-9d6cec07615c" providerId="ADAL" clId="{1A1CAA0A-EDD9-4821-A09D-F48B36AE4D13}" dt="2025-02-04T20:34:05.877" v="2" actId="47"/>
        <pc:sldMasterMkLst>
          <pc:docMk/>
          <pc:sldMasterMk cId="3661075683" sldId="2147483785"/>
        </pc:sldMasterMkLst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270314891" sldId="2147483786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1081863922" sldId="2147483787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2379357969" sldId="2147483788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3542424668" sldId="2147483789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1020587304" sldId="2147483790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506901855" sldId="2147483791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2368210683" sldId="2147483792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303438918" sldId="2147483793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3934239662" sldId="2147483811"/>
          </pc:sldLayoutMkLst>
        </pc:sldLayoutChg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661075683" sldId="2147483785"/>
            <pc:sldLayoutMk cId="408180708" sldId="2147483813"/>
          </pc:sldLayoutMkLst>
        </pc:sldLayoutChg>
      </pc:sldMasterChg>
      <pc:sldMasterChg chg="delSldLayout">
        <pc:chgData name="Cooper, Greg" userId="eea76777-9537-46ea-b88d-9d6cec07615c" providerId="ADAL" clId="{1A1CAA0A-EDD9-4821-A09D-F48B36AE4D13}" dt="2025-02-04T20:34:05.877" v="2" actId="47"/>
        <pc:sldMasterMkLst>
          <pc:docMk/>
          <pc:sldMasterMk cId="3959098819" sldId="2147483794"/>
        </pc:sldMasterMkLst>
        <pc:sldLayoutChg chg="del">
          <pc:chgData name="Cooper, Greg" userId="eea76777-9537-46ea-b88d-9d6cec07615c" providerId="ADAL" clId="{1A1CAA0A-EDD9-4821-A09D-F48B36AE4D13}" dt="2025-02-04T20:34:05.877" v="2" actId="47"/>
          <pc:sldLayoutMkLst>
            <pc:docMk/>
            <pc:sldMasterMk cId="3959098819" sldId="2147483794"/>
            <pc:sldLayoutMk cId="3884667370" sldId="214748381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300"/>
            </a:lvl1pPr>
          </a:lstStyle>
          <a:p>
            <a:endParaRPr lang="en-US">
              <a:latin typeface="Fieldwork 03 Geo Light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300"/>
            </a:lvl1pPr>
          </a:lstStyle>
          <a:p>
            <a:fld id="{472FC39A-D65C-4045-B37A-0FCA47CC0BD3}" type="datetimeFigureOut">
              <a:rPr lang="en-US" smtClean="0">
                <a:latin typeface="Fieldwork 03 Geo Light" pitchFamily="50" charset="0"/>
              </a:rPr>
              <a:t>2/4/2025</a:t>
            </a:fld>
            <a:endParaRPr lang="en-US">
              <a:latin typeface="Fieldwork 03 Geo Light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300"/>
            </a:lvl1pPr>
          </a:lstStyle>
          <a:p>
            <a:endParaRPr lang="en-US">
              <a:latin typeface="Fieldwork 03 Geo Light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300"/>
            </a:lvl1pPr>
          </a:lstStyle>
          <a:p>
            <a:fld id="{65D00841-3737-784C-BF3C-26716C8A09F3}" type="slidenum">
              <a:rPr lang="en-US" smtClean="0">
                <a:latin typeface="Fieldwork 03 Geo Light" pitchFamily="50" charset="0"/>
              </a:rPr>
              <a:t>‹#›</a:t>
            </a:fld>
            <a:endParaRPr lang="en-US">
              <a:latin typeface="Fieldwork 03 Geo Ligh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1286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ieldwork 03 Geo Light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ieldwork 03 Geo Light" pitchFamily="50" charset="0"/>
              </a:defRPr>
            </a:lvl1pPr>
          </a:lstStyle>
          <a:p>
            <a:fld id="{CC859F45-DA92-4852-807C-D9E20058AA59}" type="datetimeFigureOut">
              <a:rPr lang="en-US" smtClean="0"/>
              <a:pPr/>
              <a:t>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ieldwork 03 Geo Light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ieldwork 03 Geo Light" pitchFamily="50" charset="0"/>
              </a:defRPr>
            </a:lvl1pPr>
          </a:lstStyle>
          <a:p>
            <a:fld id="{B3D36A58-7FEC-4232-8132-5FB78C9F1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752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Fieldwork 03 Geo Light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Fieldwork 03 Geo Light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Fieldwork 03 Geo Light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Fieldwork 03 Geo Light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Fieldwork 03 Geo Light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36A58-7FEC-4232-8132-5FB78C9F1C4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90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2566" y="3934690"/>
            <a:ext cx="5406693" cy="1470025"/>
          </a:xfrm>
        </p:spPr>
        <p:txBody>
          <a:bodyPr anchor="b" anchorCtr="0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2566" y="5404715"/>
            <a:ext cx="5406693" cy="41419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027483" y="1806641"/>
            <a:ext cx="0" cy="3869766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48883" y="4514775"/>
            <a:ext cx="908118" cy="115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389"/>
            <a:ext cx="10972800" cy="857223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Agenda title 40pt bold</a:t>
            </a:r>
          </a:p>
        </p:txBody>
      </p:sp>
    </p:spTree>
    <p:extLst>
      <p:ext uri="{BB962C8B-B14F-4D97-AF65-F5344CB8AC3E}">
        <p14:creationId xmlns:p14="http://schemas.microsoft.com/office/powerpoint/2010/main" val="968552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389"/>
            <a:ext cx="10972800" cy="857223"/>
          </a:xfrm>
        </p:spPr>
        <p:txBody>
          <a:bodyPr anchor="t" anchorCtr="0">
            <a:no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Long agenda title 40pt bold</a:t>
            </a:r>
          </a:p>
        </p:txBody>
      </p:sp>
    </p:spTree>
    <p:extLst>
      <p:ext uri="{BB962C8B-B14F-4D97-AF65-F5344CB8AC3E}">
        <p14:creationId xmlns:p14="http://schemas.microsoft.com/office/powerpoint/2010/main" val="729336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- extra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36389"/>
            <a:ext cx="10972800" cy="857223"/>
          </a:xfrm>
        </p:spPr>
        <p:txBody>
          <a:bodyPr anchor="t" anchorCtr="0">
            <a:noAutofit/>
          </a:bodyPr>
          <a:lstStyle>
            <a:lvl1pPr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Extra long agenda title 40pt bold</a:t>
            </a:r>
          </a:p>
        </p:txBody>
      </p:sp>
    </p:spTree>
    <p:extLst>
      <p:ext uri="{BB962C8B-B14F-4D97-AF65-F5344CB8AC3E}">
        <p14:creationId xmlns:p14="http://schemas.microsoft.com/office/powerpoint/2010/main" val="400147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ansition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038907" y="3924399"/>
            <a:ext cx="8916511" cy="1225695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40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Transition slide</a:t>
            </a:r>
            <a:br>
              <a:rPr lang="en-US"/>
            </a:br>
            <a:r>
              <a:rPr lang="en-US"/>
              <a:t>title goes here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1051593" y="5228719"/>
            <a:ext cx="959212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51593" y="5228719"/>
            <a:ext cx="9592121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1051593" y="5228719"/>
            <a:ext cx="9592121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29097" y="4495800"/>
            <a:ext cx="603785" cy="76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74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lang="en-US"/>
              <a:t>First level bullet, century gothic, 18pt, blue bullet</a:t>
            </a:r>
          </a:p>
          <a:p>
            <a:pPr lvl="1"/>
            <a:r>
              <a:rPr lang="en-US"/>
              <a:t>Second level bullet, century gothic, 16pt, green bullet</a:t>
            </a:r>
          </a:p>
          <a:p>
            <a:pPr lvl="2"/>
            <a:r>
              <a:rPr lang="en-US"/>
              <a:t>Third level bullet, century gothic, 14pt, grey bullet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591950"/>
          </a:xfrm>
        </p:spPr>
        <p:txBody>
          <a:bodyPr anchor="t" anchorCtr="0">
            <a:noAutofit/>
          </a:bodyPr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1-column layout title 28pt Century Gothic bold 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79893" y="6469552"/>
            <a:ext cx="1021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2F0BB2B-A04D-4CFE-A72F-29B51F99AA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235587"/>
            <a:ext cx="5326475" cy="3394075"/>
          </a:xfrm>
        </p:spPr>
        <p:txBody>
          <a:bodyPr>
            <a:normAutofit/>
          </a:bodyPr>
          <a:lstStyle>
            <a:lvl1pPr>
              <a:defRPr sz="1600"/>
            </a:lvl1pPr>
            <a:lvl2pPr marL="458788" indent="-169863">
              <a:defRPr sz="1400"/>
            </a:lvl2pPr>
            <a:lvl3pPr marL="684213" indent="-169863"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First level bullet, century gothic, 16pt, blue bullet</a:t>
            </a:r>
          </a:p>
          <a:p>
            <a:pPr lvl="1"/>
            <a:r>
              <a:rPr lang="en-US"/>
              <a:t>Second level bullet, century gothic, 14pt, green bullet</a:t>
            </a:r>
          </a:p>
          <a:p>
            <a:pPr lvl="2"/>
            <a:r>
              <a:rPr lang="en-US"/>
              <a:t>Third level bullet, century gothic, 12pt, grey bullet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35587"/>
            <a:ext cx="5319851" cy="3394075"/>
          </a:xfrm>
        </p:spPr>
        <p:txBody>
          <a:bodyPr>
            <a:normAutofit/>
          </a:bodyPr>
          <a:lstStyle>
            <a:lvl1pPr>
              <a:defRPr sz="1600"/>
            </a:lvl1pPr>
            <a:lvl2pPr marL="458788" indent="-169863">
              <a:defRPr sz="1400"/>
            </a:lvl2pPr>
            <a:lvl3pPr marL="684213" indent="-169863"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First level bullet, century gothic, 16pt, blue bullet</a:t>
            </a:r>
          </a:p>
          <a:p>
            <a:pPr lvl="1"/>
            <a:r>
              <a:rPr lang="en-US"/>
              <a:t>Second level bullet, century gothic, 14pt, green bullet</a:t>
            </a:r>
          </a:p>
          <a:p>
            <a:pPr lvl="2"/>
            <a:r>
              <a:rPr lang="en-US"/>
              <a:t>Third level bullet, century gothic, 12pt, grey bullet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591950"/>
          </a:xfrm>
        </p:spPr>
        <p:txBody>
          <a:bodyPr anchor="t" anchorCtr="0">
            <a:noAutofit/>
          </a:bodyPr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2-column layout title 28pt Century Gothic bold 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79893" y="6469552"/>
            <a:ext cx="1021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2F0BB2B-A04D-4CFE-A72F-29B51F99AA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62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/>
          <p:cNvSpPr>
            <a:spLocks noGrp="1"/>
          </p:cNvSpPr>
          <p:nvPr>
            <p:ph type="tbl" sz="quarter" idx="11"/>
          </p:nvPr>
        </p:nvSpPr>
        <p:spPr>
          <a:xfrm>
            <a:off x="609600" y="1460501"/>
            <a:ext cx="10972800" cy="3781425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591950"/>
          </a:xfrm>
        </p:spPr>
        <p:txBody>
          <a:bodyPr anchor="t" anchorCtr="0">
            <a:noAutofit/>
          </a:bodyPr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Table title 28pt Century Gothic bold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79893" y="6469552"/>
            <a:ext cx="1021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2F0BB2B-A04D-4CFE-A72F-29B51F99AA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591950"/>
          </a:xfrm>
        </p:spPr>
        <p:txBody>
          <a:bodyPr anchor="t" anchorCtr="0">
            <a:noAutofit/>
          </a:bodyPr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Chart title 28pt Century Gothic bold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79893" y="6469552"/>
            <a:ext cx="1021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2F0BB2B-A04D-4CFE-A72F-29B51F99AA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2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312079" y="1835151"/>
            <a:ext cx="5257800" cy="4276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312080" y="1302152"/>
            <a:ext cx="5270322" cy="38509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609601" y="1301529"/>
            <a:ext cx="5257799" cy="38509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609600" y="1835151"/>
            <a:ext cx="5257800" cy="4276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591950"/>
          </a:xfrm>
        </p:spPr>
        <p:txBody>
          <a:bodyPr anchor="t" anchorCtr="0">
            <a:noAutofit/>
          </a:bodyPr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28pt Century Gothic bold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1319214"/>
            <a:ext cx="5257799" cy="36671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1 18pt bold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312080" y="1319214"/>
            <a:ext cx="5270322" cy="36671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2 18pt bold</a:t>
            </a: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79893" y="6469552"/>
            <a:ext cx="1021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2F0BB2B-A04D-4CFE-A72F-29B51F99AA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56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umn text 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601" y="1302775"/>
            <a:ext cx="3487175" cy="38509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09601" y="1835151"/>
            <a:ext cx="3486151" cy="4276725"/>
          </a:xfr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4379384" y="1835151"/>
            <a:ext cx="3486149" cy="4276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8096251" y="1835151"/>
            <a:ext cx="3486149" cy="4276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384" y="1302152"/>
            <a:ext cx="3487175" cy="38509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8" name="Rectangle 17"/>
          <p:cNvSpPr/>
          <p:nvPr/>
        </p:nvSpPr>
        <p:spPr>
          <a:xfrm>
            <a:off x="8096251" y="1301529"/>
            <a:ext cx="3487175" cy="38509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591950"/>
          </a:xfrm>
        </p:spPr>
        <p:txBody>
          <a:bodyPr anchor="t" anchorCtr="0">
            <a:noAutofit/>
          </a:bodyPr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Title 28pt Century Gothic bold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9931" y="1302775"/>
            <a:ext cx="3487175" cy="385097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1" y="1319214"/>
            <a:ext cx="3487175" cy="36671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1 18pt bold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379931" y="1319214"/>
            <a:ext cx="3487175" cy="36671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2 18pt bold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8095226" y="1319214"/>
            <a:ext cx="3487175" cy="366712"/>
          </a:xfr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3 18pt bold</a:t>
            </a:r>
          </a:p>
        </p:txBody>
      </p:sp>
      <p:sp>
        <p:nvSpPr>
          <p:cNvPr id="2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79893" y="6469552"/>
            <a:ext cx="1021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2F0BB2B-A04D-4CFE-A72F-29B51F99AA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20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79893" y="6469552"/>
            <a:ext cx="1021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2F0BB2B-A04D-4CFE-A72F-29B51F99AA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591950"/>
          </a:xfrm>
        </p:spPr>
        <p:txBody>
          <a:bodyPr anchor="t" anchorCtr="0">
            <a:noAutofit/>
          </a:bodyPr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Blank slide Title 28pt Century Gothic bold</a:t>
            </a:r>
          </a:p>
        </p:txBody>
      </p:sp>
    </p:spTree>
    <p:extLst>
      <p:ext uri="{BB962C8B-B14F-4D97-AF65-F5344CB8AC3E}">
        <p14:creationId xmlns:p14="http://schemas.microsoft.com/office/powerpoint/2010/main" val="16952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es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856640" y="5228719"/>
            <a:ext cx="959212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43954" y="4265048"/>
            <a:ext cx="848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2"/>
                </a:solidFill>
              </a:rPr>
              <a:t>Questions?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856640" y="5228719"/>
            <a:ext cx="9592121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43954" y="4265048"/>
            <a:ext cx="848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2"/>
                </a:solidFill>
              </a:rPr>
              <a:t>Questions?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856640" y="5228719"/>
            <a:ext cx="9592121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1843954" y="4265048"/>
            <a:ext cx="848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2"/>
                </a:solidFill>
              </a:rPr>
              <a:t>Questions?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332" y="4495800"/>
            <a:ext cx="603785" cy="76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4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856640" y="5228719"/>
            <a:ext cx="959212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43954" y="4265048"/>
            <a:ext cx="848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2"/>
                </a:solidFill>
              </a:rPr>
              <a:t>Thank you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856640" y="5228719"/>
            <a:ext cx="9592121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43954" y="4265048"/>
            <a:ext cx="848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2"/>
                </a:solidFill>
              </a:rPr>
              <a:t>Thank you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856640" y="5228719"/>
            <a:ext cx="9592121" cy="0"/>
          </a:xfrm>
          <a:prstGeom prst="line">
            <a:avLst/>
          </a:prstGeom>
          <a:ln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1843954" y="4265048"/>
            <a:ext cx="84877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2"/>
                </a:solidFill>
              </a:rPr>
              <a:t>Thank you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1332" y="4495800"/>
            <a:ext cx="603785" cy="765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2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 userDrawn="1"/>
        </p:nvSpPr>
        <p:spPr>
          <a:xfrm>
            <a:off x="609600" y="5667389"/>
            <a:ext cx="10972800" cy="857223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00" b="0" kern="120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>
                <a:solidFill>
                  <a:schemeClr val="bg2">
                    <a:lumMod val="90000"/>
                  </a:schemeClr>
                </a:solidFill>
              </a:rPr>
              <a:t>Blue Shield of California is an independent member of the Blue Shield Association   </a:t>
            </a:r>
            <a:r>
              <a:rPr lang="en-US" sz="800">
                <a:solidFill>
                  <a:schemeClr val="bg2">
                    <a:lumMod val="90000"/>
                  </a:schemeClr>
                </a:solidFill>
              </a:rPr>
              <a:t> A52191-W (2/21)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F36A6-476F-4992-809C-BB3F3999E6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72086" y="2646060"/>
            <a:ext cx="2647827" cy="102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2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714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36389"/>
            <a:ext cx="10972800" cy="85722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4317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079893" y="6469552"/>
            <a:ext cx="1021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2F0BB2B-A04D-4CFE-A72F-29B51F99AAF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126146" y="6522826"/>
            <a:ext cx="2322469" cy="246221"/>
            <a:chOff x="126146" y="6522826"/>
            <a:chExt cx="2322469" cy="246221"/>
          </a:xfrm>
        </p:grpSpPr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18"/>
            <a:stretch>
              <a:fillRect/>
            </a:stretch>
          </p:blipFill>
          <p:spPr>
            <a:xfrm>
              <a:off x="126146" y="6524916"/>
              <a:ext cx="192508" cy="244131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 userDrawn="1"/>
          </p:nvCxnSpPr>
          <p:spPr>
            <a:xfrm>
              <a:off x="447258" y="6550210"/>
              <a:ext cx="0" cy="203107"/>
            </a:xfrm>
            <a:prstGeom prst="line">
              <a:avLst/>
            </a:prstGeom>
            <a:ln w="6350" cap="rnd">
              <a:solidFill>
                <a:schemeClr val="bg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 userDrawn="1"/>
          </p:nvSpPr>
          <p:spPr>
            <a:xfrm>
              <a:off x="488197" y="6522826"/>
              <a:ext cx="196041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>
                      <a:lumMod val="50000"/>
                    </a:schemeClr>
                  </a:solidFill>
                </a:rPr>
                <a:t>Blue Shield of </a:t>
              </a:r>
              <a:r>
                <a:rPr lang="en-US" sz="1000" spc="-50" baseline="0">
                  <a:solidFill>
                    <a:schemeClr val="bg1">
                      <a:lumMod val="50000"/>
                    </a:schemeClr>
                  </a:solidFill>
                </a:rPr>
                <a:t>Ca</a:t>
              </a:r>
              <a:r>
                <a:rPr lang="en-US" sz="1000">
                  <a:solidFill>
                    <a:schemeClr val="bg1">
                      <a:lumMod val="50000"/>
                    </a:schemeClr>
                  </a:solidFill>
                </a:rPr>
                <a:t>lifornia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09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</p:sldLayoutIdLst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2"/>
          </a:solidFill>
          <a:latin typeface="Century Gothic"/>
          <a:ea typeface="+mj-ea"/>
          <a:cs typeface="Century Gothic"/>
        </a:defRPr>
      </a:lvl1pPr>
    </p:titleStyle>
    <p:bodyStyle>
      <a:lvl1pPr marL="173038" indent="-173038" algn="l" defTabSz="457200" rtl="0" eaLnBrk="1" latinLnBrk="0" hangingPunct="1">
        <a:spcBef>
          <a:spcPts val="300"/>
        </a:spcBef>
        <a:spcAft>
          <a:spcPts val="300"/>
        </a:spcAft>
        <a:buClr>
          <a:schemeClr val="tx2"/>
        </a:buClr>
        <a:buFont typeface="Arial"/>
        <a:buChar char="•"/>
        <a:defRPr sz="1800" kern="1200">
          <a:solidFill>
            <a:schemeClr val="tx1"/>
          </a:solidFill>
          <a:latin typeface="Century Gothic"/>
          <a:ea typeface="+mn-ea"/>
          <a:cs typeface="Century Gothic"/>
        </a:defRPr>
      </a:lvl1pPr>
      <a:lvl2pPr marL="627063" indent="-169863" algn="l" defTabSz="457200" rtl="0" eaLnBrk="1" latinLnBrk="0" hangingPunct="1">
        <a:spcBef>
          <a:spcPts val="300"/>
        </a:spcBef>
        <a:spcAft>
          <a:spcPts val="300"/>
        </a:spcAft>
        <a:buClr>
          <a:schemeClr val="accent2"/>
        </a:buClr>
        <a:buFont typeface="Arial"/>
        <a:buChar char="•"/>
        <a:defRPr sz="1600" kern="1200">
          <a:solidFill>
            <a:schemeClr val="tx1"/>
          </a:solidFill>
          <a:latin typeface="Century Gothic"/>
          <a:ea typeface="+mn-ea"/>
          <a:cs typeface="Century Gothic"/>
        </a:defRPr>
      </a:lvl2pPr>
      <a:lvl3pPr marL="1143000" indent="-228600" algn="l" defTabSz="457200" rtl="0" eaLnBrk="1" latinLnBrk="0" hangingPunct="1">
        <a:spcBef>
          <a:spcPts val="300"/>
        </a:spcBef>
        <a:spcAft>
          <a:spcPts val="300"/>
        </a:spcAft>
        <a:buClr>
          <a:schemeClr val="bg1">
            <a:lumMod val="50000"/>
          </a:schemeClr>
        </a:buClr>
        <a:buFont typeface="Arial"/>
        <a:buChar char="•"/>
        <a:defRPr sz="1400" kern="1200">
          <a:solidFill>
            <a:schemeClr val="tx1"/>
          </a:solidFill>
          <a:latin typeface="Century Gothic"/>
          <a:ea typeface="+mn-ea"/>
          <a:cs typeface="Century Gothic"/>
        </a:defRPr>
      </a:lvl3pPr>
      <a:lvl4pPr marL="1600200" indent="-228600" algn="l" defTabSz="457200" rtl="0" eaLnBrk="1" latinLnBrk="0" hangingPunct="1">
        <a:spcBef>
          <a:spcPts val="500"/>
        </a:spcBef>
        <a:buFont typeface="Arial"/>
        <a:buChar char="–"/>
        <a:defRPr sz="1200" kern="1200">
          <a:solidFill>
            <a:schemeClr val="tx1"/>
          </a:solidFill>
          <a:latin typeface="Century Gothic"/>
          <a:ea typeface="+mn-ea"/>
          <a:cs typeface="Century Gothic"/>
        </a:defRPr>
      </a:lvl4pPr>
      <a:lvl5pPr marL="2057400" indent="-228600" algn="l" defTabSz="457200" rtl="0" eaLnBrk="1" latinLnBrk="0" hangingPunct="1">
        <a:spcBef>
          <a:spcPts val="500"/>
        </a:spcBef>
        <a:buFont typeface="Arial"/>
        <a:buChar char="»"/>
        <a:defRPr sz="1200" kern="1200">
          <a:solidFill>
            <a:schemeClr val="tx1"/>
          </a:solidFill>
          <a:latin typeface="Century Gothic"/>
          <a:ea typeface="+mn-ea"/>
          <a:cs typeface="Century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55B0-7A61-5CFD-B307-5F912408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775F3E-F78C-9D05-9092-C854C5EBA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F0BB2B-A04D-4CFE-A72F-29B51F99AA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29BE53-E83F-752B-C300-B8FC1CC7B599}"/>
              </a:ext>
            </a:extLst>
          </p:cNvPr>
          <p:cNvSpPr/>
          <p:nvPr/>
        </p:nvSpPr>
        <p:spPr>
          <a:xfrm>
            <a:off x="536333" y="108857"/>
            <a:ext cx="11074717" cy="35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eldwork 03 Geo Light" pitchFamily="50" charset="0"/>
                <a:ea typeface="+mn-ea"/>
                <a:cs typeface="+mn-cs"/>
              </a:rPr>
              <a:t>December 2024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ieldwork 03 Geo Light" pitchFamily="50" charset="0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DD4228-4DA0-9E25-700A-879D6D977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265411"/>
              </p:ext>
            </p:extLst>
          </p:nvPr>
        </p:nvGraphicFramePr>
        <p:xfrm>
          <a:off x="528264" y="494886"/>
          <a:ext cx="11062377" cy="5794241"/>
        </p:xfrm>
        <a:graphic>
          <a:graphicData uri="http://schemas.openxmlformats.org/drawingml/2006/table">
            <a:tbl>
              <a:tblPr/>
              <a:tblGrid>
                <a:gridCol w="3203826">
                  <a:extLst>
                    <a:ext uri="{9D8B030D-6E8A-4147-A177-3AD203B41FA5}">
                      <a16:colId xmlns:a16="http://schemas.microsoft.com/office/drawing/2014/main" val="1691370242"/>
                    </a:ext>
                  </a:extLst>
                </a:gridCol>
                <a:gridCol w="497243">
                  <a:extLst>
                    <a:ext uri="{9D8B030D-6E8A-4147-A177-3AD203B41FA5}">
                      <a16:colId xmlns:a16="http://schemas.microsoft.com/office/drawing/2014/main" val="357258772"/>
                    </a:ext>
                  </a:extLst>
                </a:gridCol>
                <a:gridCol w="497243">
                  <a:extLst>
                    <a:ext uri="{9D8B030D-6E8A-4147-A177-3AD203B41FA5}">
                      <a16:colId xmlns:a16="http://schemas.microsoft.com/office/drawing/2014/main" val="340816745"/>
                    </a:ext>
                  </a:extLst>
                </a:gridCol>
                <a:gridCol w="497243">
                  <a:extLst>
                    <a:ext uri="{9D8B030D-6E8A-4147-A177-3AD203B41FA5}">
                      <a16:colId xmlns:a16="http://schemas.microsoft.com/office/drawing/2014/main" val="2330351415"/>
                    </a:ext>
                  </a:extLst>
                </a:gridCol>
                <a:gridCol w="425543">
                  <a:extLst>
                    <a:ext uri="{9D8B030D-6E8A-4147-A177-3AD203B41FA5}">
                      <a16:colId xmlns:a16="http://schemas.microsoft.com/office/drawing/2014/main" val="3726800042"/>
                    </a:ext>
                  </a:extLst>
                </a:gridCol>
                <a:gridCol w="135802">
                  <a:extLst>
                    <a:ext uri="{9D8B030D-6E8A-4147-A177-3AD203B41FA5}">
                      <a16:colId xmlns:a16="http://schemas.microsoft.com/office/drawing/2014/main" val="233018257"/>
                    </a:ext>
                  </a:extLst>
                </a:gridCol>
                <a:gridCol w="606583">
                  <a:extLst>
                    <a:ext uri="{9D8B030D-6E8A-4147-A177-3AD203B41FA5}">
                      <a16:colId xmlns:a16="http://schemas.microsoft.com/office/drawing/2014/main" val="188324887"/>
                    </a:ext>
                  </a:extLst>
                </a:gridCol>
                <a:gridCol w="459412">
                  <a:extLst>
                    <a:ext uri="{9D8B030D-6E8A-4147-A177-3AD203B41FA5}">
                      <a16:colId xmlns:a16="http://schemas.microsoft.com/office/drawing/2014/main" val="3428791557"/>
                    </a:ext>
                  </a:extLst>
                </a:gridCol>
                <a:gridCol w="135611">
                  <a:extLst>
                    <a:ext uri="{9D8B030D-6E8A-4147-A177-3AD203B41FA5}">
                      <a16:colId xmlns:a16="http://schemas.microsoft.com/office/drawing/2014/main" val="3702525954"/>
                    </a:ext>
                  </a:extLst>
                </a:gridCol>
                <a:gridCol w="40162">
                  <a:extLst>
                    <a:ext uri="{9D8B030D-6E8A-4147-A177-3AD203B41FA5}">
                      <a16:colId xmlns:a16="http://schemas.microsoft.com/office/drawing/2014/main" val="2667025322"/>
                    </a:ext>
                  </a:extLst>
                </a:gridCol>
                <a:gridCol w="559398">
                  <a:extLst>
                    <a:ext uri="{9D8B030D-6E8A-4147-A177-3AD203B41FA5}">
                      <a16:colId xmlns:a16="http://schemas.microsoft.com/office/drawing/2014/main" val="53613804"/>
                    </a:ext>
                  </a:extLst>
                </a:gridCol>
                <a:gridCol w="514193">
                  <a:extLst>
                    <a:ext uri="{9D8B030D-6E8A-4147-A177-3AD203B41FA5}">
                      <a16:colId xmlns:a16="http://schemas.microsoft.com/office/drawing/2014/main" val="1218206300"/>
                    </a:ext>
                  </a:extLst>
                </a:gridCol>
                <a:gridCol w="514193">
                  <a:extLst>
                    <a:ext uri="{9D8B030D-6E8A-4147-A177-3AD203B41FA5}">
                      <a16:colId xmlns:a16="http://schemas.microsoft.com/office/drawing/2014/main" val="1671747919"/>
                    </a:ext>
                  </a:extLst>
                </a:gridCol>
                <a:gridCol w="421903">
                  <a:extLst>
                    <a:ext uri="{9D8B030D-6E8A-4147-A177-3AD203B41FA5}">
                      <a16:colId xmlns:a16="http://schemas.microsoft.com/office/drawing/2014/main" val="4278760406"/>
                    </a:ext>
                  </a:extLst>
                </a:gridCol>
                <a:gridCol w="685593">
                  <a:extLst>
                    <a:ext uri="{9D8B030D-6E8A-4147-A177-3AD203B41FA5}">
                      <a16:colId xmlns:a16="http://schemas.microsoft.com/office/drawing/2014/main" val="939209341"/>
                    </a:ext>
                  </a:extLst>
                </a:gridCol>
                <a:gridCol w="685593">
                  <a:extLst>
                    <a:ext uri="{9D8B030D-6E8A-4147-A177-3AD203B41FA5}">
                      <a16:colId xmlns:a16="http://schemas.microsoft.com/office/drawing/2014/main" val="922742872"/>
                    </a:ext>
                  </a:extLst>
                </a:gridCol>
                <a:gridCol w="384233">
                  <a:extLst>
                    <a:ext uri="{9D8B030D-6E8A-4147-A177-3AD203B41FA5}">
                      <a16:colId xmlns:a16="http://schemas.microsoft.com/office/drawing/2014/main" val="579443796"/>
                    </a:ext>
                  </a:extLst>
                </a:gridCol>
                <a:gridCol w="798603">
                  <a:extLst>
                    <a:ext uri="{9D8B030D-6E8A-4147-A177-3AD203B41FA5}">
                      <a16:colId xmlns:a16="http://schemas.microsoft.com/office/drawing/2014/main" val="3342910068"/>
                    </a:ext>
                  </a:extLst>
                </a:gridCol>
              </a:tblGrid>
              <a:tr h="290975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Key Performance Indicators</a:t>
                      </a:r>
                    </a:p>
                  </a:txBody>
                  <a:tcPr marL="5579" marR="5579" marT="5579" marB="267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Year-to-Date</a:t>
                      </a:r>
                    </a:p>
                  </a:txBody>
                  <a:tcPr marL="5579" marR="5579" marT="5579" marB="267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Full Year</a:t>
                      </a:r>
                    </a:p>
                  </a:txBody>
                  <a:tcPr marL="5579" marR="5579" marT="5579" marB="267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LOB YTD Actual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320544"/>
                  </a:ext>
                </a:extLst>
              </a:tr>
              <a:tr h="5098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2022 Actual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2023 Actual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2024 Actual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2024 Plan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Forecast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Plan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>
                      <a:noFill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Commercial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IFP 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SG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Core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Premier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Medicare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Medi-Cal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Closed by Other Dept</a:t>
                      </a:r>
                    </a:p>
                  </a:txBody>
                  <a:tcPr marL="5579" marR="5579" marT="5579" marB="26781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679798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Cost per Call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$29.20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$26.68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$25.81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$27.17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$27.17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$27.17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$31.17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$17.89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$22.64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$23.40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$23.40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$30.94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$24.34 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35350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Call Volume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4.53M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4.51M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4.65M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3.97M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4.4M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4.0M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1,899k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1,584k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231k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15k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97k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380k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340k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693342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Calls per 1,000 Members per Month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4.42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4.28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5.13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5.09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5.09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5.09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3.72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8.76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2.61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3.38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2.70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12.17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2.33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188990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Chat Volume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000" b="0" i="0" u="none" strike="noStrike">
                        <a:solidFill>
                          <a:srgbClr val="FFC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072838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Correspondence Volume (MTM Scope)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170k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198k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000" b="0" i="0" u="none" strike="noStrike">
                        <a:solidFill>
                          <a:srgbClr val="FFC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214501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Closed Inquiry Volume (MTM Scope)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3.57M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3.89M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000" b="0" i="0" u="none" strike="noStrike">
                        <a:solidFill>
                          <a:srgbClr val="FFC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000" b="0" i="0" u="none" strike="noStrike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732k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1,933k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16k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646k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302k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211k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942936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Service Level (% of calls answered within 30 seconds)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87%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74%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67%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84%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85685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Average Handle Time (seconds) (talk + after call work + hold time)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789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816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846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822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822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822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790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930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859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604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831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992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725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58374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Compliance with Performance Guarantees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555029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 Services Inquiry Timeliness (10 Days) (sum of call, chat corr)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97%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100%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100%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03362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Issue Resolution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92%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93%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94%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99175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Member Satisfaction with Agent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93%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86%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86%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87%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92%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345896"/>
                  </a:ext>
                </a:extLst>
              </a:tr>
              <a:tr h="49739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MTM: Inquiry Timeliness (MTM Scope includes Broker and Provider) *2H vs YTD*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3.8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2.9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3.8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5.0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5.0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5.0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603733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MTM: Inquiry Accuracy (Manual Inquiries - Points)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7.9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0.0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0.0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10.0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0.0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10.0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378559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Member: MTM: Inquiry Accuracy (Manual Inquiries - Percentage)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025769"/>
                  </a:ext>
                </a:extLst>
              </a:tr>
              <a:tr h="28102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Member Services: MTM Inquiry Accuracy Self Audits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74%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87%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92%</a:t>
                      </a: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579" marR="5579" marT="5579" marB="26781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512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9301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5EBC2-C599-E483-8AFB-E86D2096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03452-38D7-2663-B627-362D3341F7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F0BB2B-A04D-4CFE-A72F-29B51F99AA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7" name="Rectangle 6">
            <a:hlinkClick r:id="" action="ppaction://noaction"/>
            <a:extLst>
              <a:ext uri="{FF2B5EF4-FFF2-40B4-BE49-F238E27FC236}">
                <a16:creationId xmlns:a16="http://schemas.microsoft.com/office/drawing/2014/main" id="{D6A7AB0D-6330-9D60-9848-2788383AEC2A}"/>
              </a:ext>
            </a:extLst>
          </p:cNvPr>
          <p:cNvSpPr/>
          <p:nvPr/>
        </p:nvSpPr>
        <p:spPr>
          <a:xfrm>
            <a:off x="-181" y="0"/>
            <a:ext cx="487861" cy="217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eldwork 03 Geo Light" pitchFamily="50" charset="0"/>
                <a:ea typeface="+mn-ea"/>
                <a:cs typeface="+mn-cs"/>
                <a:hlinkClick r:id="" action="ppaction://noaction"/>
              </a:rPr>
              <a:t>Back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ieldwork 03 Geo Light" pitchFamily="50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14045-732A-6AEE-9525-EB2B9310E905}"/>
              </a:ext>
            </a:extLst>
          </p:cNvPr>
          <p:cNvSpPr/>
          <p:nvPr/>
        </p:nvSpPr>
        <p:spPr>
          <a:xfrm>
            <a:off x="536333" y="108857"/>
            <a:ext cx="11074717" cy="35796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eldwork 03 Geo Light" pitchFamily="50" charset="0"/>
                <a:ea typeface="+mn-ea"/>
                <a:cs typeface="+mn-cs"/>
              </a:rPr>
              <a:t>December 2024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ieldwork 03 Geo Light" pitchFamily="50" charset="0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DE18EC-F378-07FD-A993-54F738372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28631"/>
              </p:ext>
            </p:extLst>
          </p:nvPr>
        </p:nvGraphicFramePr>
        <p:xfrm>
          <a:off x="536331" y="466819"/>
          <a:ext cx="11074716" cy="6159528"/>
        </p:xfrm>
        <a:graphic>
          <a:graphicData uri="http://schemas.openxmlformats.org/drawingml/2006/table">
            <a:tbl>
              <a:tblPr/>
              <a:tblGrid>
                <a:gridCol w="3859695">
                  <a:extLst>
                    <a:ext uri="{9D8B030D-6E8A-4147-A177-3AD203B41FA5}">
                      <a16:colId xmlns:a16="http://schemas.microsoft.com/office/drawing/2014/main" val="1147826991"/>
                    </a:ext>
                  </a:extLst>
                </a:gridCol>
                <a:gridCol w="599035">
                  <a:extLst>
                    <a:ext uri="{9D8B030D-6E8A-4147-A177-3AD203B41FA5}">
                      <a16:colId xmlns:a16="http://schemas.microsoft.com/office/drawing/2014/main" val="1613700003"/>
                    </a:ext>
                  </a:extLst>
                </a:gridCol>
                <a:gridCol w="599035">
                  <a:extLst>
                    <a:ext uri="{9D8B030D-6E8A-4147-A177-3AD203B41FA5}">
                      <a16:colId xmlns:a16="http://schemas.microsoft.com/office/drawing/2014/main" val="307951284"/>
                    </a:ext>
                  </a:extLst>
                </a:gridCol>
                <a:gridCol w="599035">
                  <a:extLst>
                    <a:ext uri="{9D8B030D-6E8A-4147-A177-3AD203B41FA5}">
                      <a16:colId xmlns:a16="http://schemas.microsoft.com/office/drawing/2014/main" val="3855052099"/>
                    </a:ext>
                  </a:extLst>
                </a:gridCol>
                <a:gridCol w="599035">
                  <a:extLst>
                    <a:ext uri="{9D8B030D-6E8A-4147-A177-3AD203B41FA5}">
                      <a16:colId xmlns:a16="http://schemas.microsoft.com/office/drawing/2014/main" val="2514606188"/>
                    </a:ext>
                  </a:extLst>
                </a:gridCol>
                <a:gridCol w="163373">
                  <a:extLst>
                    <a:ext uri="{9D8B030D-6E8A-4147-A177-3AD203B41FA5}">
                      <a16:colId xmlns:a16="http://schemas.microsoft.com/office/drawing/2014/main" val="3708878323"/>
                    </a:ext>
                  </a:extLst>
                </a:gridCol>
                <a:gridCol w="599035">
                  <a:extLst>
                    <a:ext uri="{9D8B030D-6E8A-4147-A177-3AD203B41FA5}">
                      <a16:colId xmlns:a16="http://schemas.microsoft.com/office/drawing/2014/main" val="1251127630"/>
                    </a:ext>
                  </a:extLst>
                </a:gridCol>
                <a:gridCol w="599035">
                  <a:extLst>
                    <a:ext uri="{9D8B030D-6E8A-4147-A177-3AD203B41FA5}">
                      <a16:colId xmlns:a16="http://schemas.microsoft.com/office/drawing/2014/main" val="346171284"/>
                    </a:ext>
                  </a:extLst>
                </a:gridCol>
                <a:gridCol w="163373">
                  <a:extLst>
                    <a:ext uri="{9D8B030D-6E8A-4147-A177-3AD203B41FA5}">
                      <a16:colId xmlns:a16="http://schemas.microsoft.com/office/drawing/2014/main" val="2050276927"/>
                    </a:ext>
                  </a:extLst>
                </a:gridCol>
                <a:gridCol w="47023">
                  <a:extLst>
                    <a:ext uri="{9D8B030D-6E8A-4147-A177-3AD203B41FA5}">
                      <a16:colId xmlns:a16="http://schemas.microsoft.com/office/drawing/2014/main" val="1716489642"/>
                    </a:ext>
                  </a:extLst>
                </a:gridCol>
                <a:gridCol w="673914">
                  <a:extLst>
                    <a:ext uri="{9D8B030D-6E8A-4147-A177-3AD203B41FA5}">
                      <a16:colId xmlns:a16="http://schemas.microsoft.com/office/drawing/2014/main" val="2244060593"/>
                    </a:ext>
                  </a:extLst>
                </a:gridCol>
                <a:gridCol w="619456">
                  <a:extLst>
                    <a:ext uri="{9D8B030D-6E8A-4147-A177-3AD203B41FA5}">
                      <a16:colId xmlns:a16="http://schemas.microsoft.com/office/drawing/2014/main" val="3603611118"/>
                    </a:ext>
                  </a:extLst>
                </a:gridCol>
                <a:gridCol w="619456">
                  <a:extLst>
                    <a:ext uri="{9D8B030D-6E8A-4147-A177-3AD203B41FA5}">
                      <a16:colId xmlns:a16="http://schemas.microsoft.com/office/drawing/2014/main" val="3412011807"/>
                    </a:ext>
                  </a:extLst>
                </a:gridCol>
                <a:gridCol w="508274">
                  <a:extLst>
                    <a:ext uri="{9D8B030D-6E8A-4147-A177-3AD203B41FA5}">
                      <a16:colId xmlns:a16="http://schemas.microsoft.com/office/drawing/2014/main" val="56750919"/>
                    </a:ext>
                  </a:extLst>
                </a:gridCol>
                <a:gridCol w="825942">
                  <a:extLst>
                    <a:ext uri="{9D8B030D-6E8A-4147-A177-3AD203B41FA5}">
                      <a16:colId xmlns:a16="http://schemas.microsoft.com/office/drawing/2014/main" val="3990904123"/>
                    </a:ext>
                  </a:extLst>
                </a:gridCol>
              </a:tblGrid>
              <a:tr h="172680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Key Performance Indicators</a:t>
                      </a:r>
                    </a:p>
                  </a:txBody>
                  <a:tcPr marL="5943" marR="5943" marT="5943" marB="28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Year-to-Date</a:t>
                      </a:r>
                    </a:p>
                  </a:txBody>
                  <a:tcPr marL="5943" marR="5943" marT="5943" marB="285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Full Year</a:t>
                      </a:r>
                    </a:p>
                  </a:txBody>
                  <a:tcPr marL="5943" marR="5943" marT="5943" marB="285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LOB YTD Actual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001022"/>
                  </a:ext>
                </a:extLst>
              </a:tr>
              <a:tr h="303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2022 Actual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2023 Actual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2024 Actual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2024 Plan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Forecast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Plan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ctr">
                    <a:lnL>
                      <a:noFill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Commercial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ITS 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Medicare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Medi-Cal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Shared Advantage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590338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Cost per Call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$3.98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$4.38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$4.64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$4.80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$4.80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$4.80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$5.44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$3.48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$2.75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$2.37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548152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Call Volume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2,282k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2,196k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2,048k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1,972k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2.2M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2.0M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1,252k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264k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166k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218k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110150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Provider Calls per 1,000 Members per Month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2.35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2.15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2.29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2.23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2.23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2.23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793511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Chat Volume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292k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306k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336k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336k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336k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192k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41k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14k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33k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959368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Correspondence Volume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402k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573k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900" b="0" i="0" u="none" strike="noStrike">
                        <a:solidFill>
                          <a:srgbClr val="FFC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900" b="0" i="0" u="none" strike="noStrike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724574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Closed Inquiry Volume (MTM Scope)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2.60M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2.72M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900" b="0" i="0" u="none" strike="noStrike">
                        <a:solidFill>
                          <a:srgbClr val="FFC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900" b="0" i="0" u="none" strike="noStrike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433335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Service Level (% of Calls answered in 60 seconds)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82%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81%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362556"/>
                  </a:ext>
                </a:extLst>
              </a:tr>
              <a:tr h="30319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: Average Handle Time (seconds) (talk + after call work + hold time)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651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644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662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666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641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689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 dirty="0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693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787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566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510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548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488286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Provider: First Call Resolution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271594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Provider: Satisfaction with Agent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92%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433873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Chat Satisfaction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73%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510309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Inquiry Timeliness (10 Days) (sum of call, chat corr)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87%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954443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Chat Resolution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674230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Provider Services: MTM Inquiry Accuracy Self Audits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100%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611169"/>
                  </a:ext>
                </a:extLst>
              </a:tr>
              <a:tr h="172680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Key Performance Indicators</a:t>
                      </a:r>
                    </a:p>
                  </a:txBody>
                  <a:tcPr marL="5943" marR="5943" marT="5943" marB="28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Year-to-Date</a:t>
                      </a:r>
                    </a:p>
                  </a:txBody>
                  <a:tcPr marL="5943" marR="5943" marT="5943" marB="285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Full Year</a:t>
                      </a:r>
                    </a:p>
                  </a:txBody>
                  <a:tcPr marL="5943" marR="5943" marT="5943" marB="285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LOB YTD Actual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597509"/>
                  </a:ext>
                </a:extLst>
              </a:tr>
              <a:tr h="30319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2022 Actual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2023 Actual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2024 Actual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2024 Plan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Forecast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Plan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ctr">
                    <a:lnL>
                      <a:noFill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Core / Priority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Group Admin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IFP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SG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Medicare</a:t>
                      </a:r>
                    </a:p>
                  </a:txBody>
                  <a:tcPr marL="5943" marR="5943" marT="5943" marB="28525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072700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Cost per Call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$35.17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$36.32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$62.33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$50.35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$50.35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$50.35 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$79.49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$20.74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$69.68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$48.69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$42.32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7804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Call Volume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491k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406k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268k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244k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270k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244k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27k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58k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60k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63k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60k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936803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Calls per 1,000 Members per Month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1.30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1.15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0.85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0.80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0.80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0.80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307765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Chat Volume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6427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22.4k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42.4k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29.8k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42.4k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52162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Correspondence Volume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81k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55k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900" b="0" i="0" u="none" strike="noStrike">
                        <a:solidFill>
                          <a:srgbClr val="FFC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900" b="0" i="0" u="none" strike="noStrike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13k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12k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42322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Closed Inquiry Volume (MTM Scope)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470k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337k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900" b="0" i="0" u="none" strike="noStrike">
                        <a:solidFill>
                          <a:srgbClr val="FFC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900" b="0" i="0" u="none" strike="noStrike">
                        <a:solidFill>
                          <a:srgbClr val="00B05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34k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73k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75k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75k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454026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Service Level (% of Calls answered in 30 seconds)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87%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92%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822949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: Average Handle Time (seconds) (talk + after call work + hold time)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640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676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785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665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683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602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C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742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586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883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869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813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394071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Broker: First Call Resolution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81%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656574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Broker: Call Satisfaction with Agent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188200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Chat Satisfaction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89%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625498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Inquiry Timeliness (10 Days) (sum of call, chat, corr)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96%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91%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99%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296480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First Chat Resolution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82%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80%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00B05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82%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83%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912445"/>
                  </a:ext>
                </a:extLst>
              </a:tr>
              <a:tr h="17268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Broker Services: MTM Inquiry Accuracy Self Audits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n/a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TBD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Fieldwork 03 Geo Light" pitchFamily="50" charset="0"/>
                      </a:endParaRPr>
                    </a:p>
                  </a:txBody>
                  <a:tcPr marL="5943" marR="5943" marT="5943" marB="28525" anchor="b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88%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93%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95%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Fieldwork 03 Geo Light" pitchFamily="50" charset="0"/>
                        </a:rPr>
                        <a:t>94%</a:t>
                      </a:r>
                    </a:p>
                  </a:txBody>
                  <a:tcPr marL="5943" marR="5943" marT="5943" marB="28525" anchor="ctr">
                    <a:lnL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941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00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BSC_PowerpointTheme2017">
  <a:themeElements>
    <a:clrScheme name="BSC colors_2017">
      <a:dk1>
        <a:srgbClr val="000000"/>
      </a:dk1>
      <a:lt1>
        <a:sysClr val="window" lastClr="FFFFFF"/>
      </a:lt1>
      <a:dk2>
        <a:srgbClr val="0095DA"/>
      </a:dk2>
      <a:lt2>
        <a:srgbClr val="BEC0C2"/>
      </a:lt2>
      <a:accent1>
        <a:srgbClr val="0095DA"/>
      </a:accent1>
      <a:accent2>
        <a:srgbClr val="004A6D"/>
      </a:accent2>
      <a:accent3>
        <a:srgbClr val="5CA941"/>
      </a:accent3>
      <a:accent4>
        <a:srgbClr val="FF9F00"/>
      </a:accent4>
      <a:accent5>
        <a:srgbClr val="FFCE00"/>
      </a:accent5>
      <a:accent6>
        <a:srgbClr val="7E8082"/>
      </a:accent6>
      <a:hlink>
        <a:srgbClr val="0095DA"/>
      </a:hlink>
      <a:folHlink>
        <a:srgbClr val="0095DA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2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52191-W_2-21_BSC_Brand_PPTTemplate_16x9  -  Read-Only" id="{E6BBD5EC-69E5-4415-9A73-2CBFD9456827}" vid="{BC0DDFF5-6AFE-4DE6-A864-0BD193453B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0ACD34E1C07F4E8845A5E711B310F7" ma:contentTypeVersion="18" ma:contentTypeDescription="Create a new document." ma:contentTypeScope="" ma:versionID="3111e1427213ff3ea5942c0d09459268">
  <xsd:schema xmlns:xsd="http://www.w3.org/2001/XMLSchema" xmlns:xs="http://www.w3.org/2001/XMLSchema" xmlns:p="http://schemas.microsoft.com/office/2006/metadata/properties" xmlns:ns2="b6703f52-e0b4-4be3-9de9-712bf7f64f8e" xmlns:ns3="4b7e938c-c197-4822-ad8f-9066e64886e1" targetNamespace="http://schemas.microsoft.com/office/2006/metadata/properties" ma:root="true" ma:fieldsID="88bc885caa4e8d135a4ae116b4c8fdcf" ns2:_="" ns3:_="">
    <xsd:import namespace="b6703f52-e0b4-4be3-9de9-712bf7f64f8e"/>
    <xsd:import namespace="4b7e938c-c197-4822-ad8f-9066e64886e1"/>
    <xsd:element name="properties">
      <xsd:complexType>
        <xsd:sequence>
          <xsd:element name="documentManagement">
            <xsd:complexType>
              <xsd:all>
                <xsd:element ref="ns2:PublishingStartDate" minOccurs="0"/>
                <xsd:element ref="ns2:PublishingExpirationDate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703f52-e0b4-4be3-9de9-712bf7f64f8e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4" nillable="true" ma:displayName="Scheduling Start Date" ma:description="Scheduling Start Date is a site column created by the Publishing feature. It is used to specify the date and time on which this page will first appear to site visitors." ma:format="DateTime" ma:internalName="PublishingStartDate" ma:readOnly="false">
      <xsd:simpleType>
        <xsd:restriction base="dms:Unknown"/>
      </xsd:simpleType>
    </xsd:element>
    <xsd:element name="PublishingExpirationDate" ma:index="5" nillable="true" ma:displayName="Scheduling End Date" ma:description="Scheduling End Date is a site column created by the Publishing feature. It is used to specify the date and time on which this page will no longer appear to site visitors." ma:format="DateTime" ma:internalName="PublishingExpirationDate" ma:readOnly="fals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17d4224-802a-4f39-af5d-1b2d989a72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7e938c-c197-4822-ad8f-9066e64886e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c42d764-eafa-41d8-8fb6-afcd129b9cac}" ma:internalName="TaxCatchAll" ma:showField="CatchAllData" ma:web="4b7e938c-c197-4822-ad8f-9066e64886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4b7e938c-c197-4822-ad8f-9066e64886e1">
      <UserInfo>
        <DisplayName>Henslee, Mark</DisplayName>
        <AccountId>33</AccountId>
        <AccountType/>
      </UserInfo>
    </SharedWithUsers>
    <lcf76f155ced4ddcb4097134ff3c332f xmlns="b6703f52-e0b4-4be3-9de9-712bf7f64f8e">
      <Terms xmlns="http://schemas.microsoft.com/office/infopath/2007/PartnerControls"/>
    </lcf76f155ced4ddcb4097134ff3c332f>
    <TaxCatchAll xmlns="4b7e938c-c197-4822-ad8f-9066e64886e1" xsi:nil="true"/>
    <PublishingExpirationDate xmlns="b6703f52-e0b4-4be3-9de9-712bf7f64f8e" xsi:nil="true"/>
    <PublishingStartDate xmlns="b6703f52-e0b4-4be3-9de9-712bf7f64f8e" xsi:nil="true"/>
  </documentManagement>
</p:properties>
</file>

<file path=customXml/itemProps1.xml><?xml version="1.0" encoding="utf-8"?>
<ds:datastoreItem xmlns:ds="http://schemas.openxmlformats.org/officeDocument/2006/customXml" ds:itemID="{75330D48-905C-486B-BCD3-BE7621828787}"/>
</file>

<file path=customXml/itemProps2.xml><?xml version="1.0" encoding="utf-8"?>
<ds:datastoreItem xmlns:ds="http://schemas.openxmlformats.org/officeDocument/2006/customXml" ds:itemID="{BAA88FC9-16AE-4CB7-B555-231498D2EC9F}"/>
</file>

<file path=customXml/itemProps3.xml><?xml version="1.0" encoding="utf-8"?>
<ds:datastoreItem xmlns:ds="http://schemas.openxmlformats.org/officeDocument/2006/customXml" ds:itemID="{96BFDDB7-2786-4596-8BCA-C94226B697BB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de571ea4-71fe-47d5-bef9-a2a22dc4c7fe"/>
    <ds:schemaRef ds:uri="5858186b-a8a4-4f43-b9c8-a83fb475ef4c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BSC_PowerpointTheme2017</Template>
  <TotalTime>4042</TotalTime>
  <Words>1547</Words>
  <Application>Microsoft Office PowerPoint</Application>
  <PresentationFormat>Widescreen</PresentationFormat>
  <Paragraphs>685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Century Gothic</vt:lpstr>
      <vt:lpstr>Fieldwork 03 Geo Light</vt:lpstr>
      <vt:lpstr>Wingdings</vt:lpstr>
      <vt:lpstr>1_BSC_PowerpointTheme2017</vt:lpstr>
      <vt:lpstr>PowerPoint Presentation</vt:lpstr>
      <vt:lpstr>PowerPoint Presentation</vt:lpstr>
    </vt:vector>
  </TitlesOfParts>
  <Company>Blue Shield of California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Silvia.Illingworth@blueshieldca.com;Amanda.Jordan@blueshieldca.com</dc:creator>
  <cp:lastModifiedBy>Cooper, Greg</cp:lastModifiedBy>
  <cp:revision>7</cp:revision>
  <cp:lastPrinted>2015-12-07T23:47:42Z</cp:lastPrinted>
  <dcterms:created xsi:type="dcterms:W3CDTF">2015-06-24T00:55:27Z</dcterms:created>
  <dcterms:modified xsi:type="dcterms:W3CDTF">2025-02-04T20:34:06Z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0x0101008C0ACD34E1C07F4E8845A5E711B310F7</vt:lpwstr>
  </property>
  <property fmtid="{D5CDD505-2E9C-101B-9397-08002B2CF9AE}" pid="3" name="MediaServiceImageTags">
    <vt:lpwstr/>
  </property>
</Properties>
</file>